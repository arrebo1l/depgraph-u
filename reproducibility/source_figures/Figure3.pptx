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3154680" cy="18923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VocabBypass: skip unused text-vocabulary projection on image-only calls while retaining the diffusion output. Text generation and text-loss calls keep the projection. This local rewrite does not require a Head-A cache or dynamic layer skipping.</a:t>
            </a:r>
          </a:p>
          <a:p>
            <a:r>
              <a:t>Official Show-o2 source checked 2026-09-22: https://github.com/showlab/Show-o/blob/main/show-o2/models/modeling_showo2_qwen2_5.py . In forward(), lines 342-349 call the causal LM and retrieve both logits and final hidden states. Lines 350-361 consume hidden states in the diffusion head. The image inference branch returns logits and velocity at line 424, while t2i_generate uses '_, v' at lines 445 and 461, discarding the text logits. This supports the depicted native image-call output dependency. It is source inspection, not a new native-model timing experiment.</a:t>
            </a:r>
          </a:p>
          <a:p>
            <a:r>
              <a:t>Executed bypass implementation: paper_rewrite_20260908/evidence/executed_generation_patch.py:414; tmp/FlashU_tada_cadd_20260820/flashu/layer_skipping.py. An explicit image-only caller flag skips lm_head, returns logits=None, and rejects simultaneous text labels. The diffusion branch receives the same final hidden states.</a:t>
            </a:r>
          </a:p>
          <a:p>
            <a:r>
              <a:t>The inspected execution implementation is integrated with FlashU; its other acceleration policies are outside this local output-projection diagram. A paired full-system speedup against that integration is not a native Show-o2 speedup.</a:t>
            </a:r>
          </a:p>
          <a:p>
            <a:r>
              <a:t>Branches represent data dependencies, not a claim that GPU kernels execute simultaneously. Other consumers or required state/RNG effects require preserving the needed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27432" y="27432"/>
            <a:ext cx="3099816" cy="731520"/>
          </a:xfrm>
          <a:prstGeom prst="roundRect">
            <a:avLst>
              <a:gd name="adj" fmla="val 7500"/>
            </a:avLst>
          </a:prstGeom>
          <a:solidFill>
            <a:srgbClr val="FAFAFB"/>
          </a:solidFill>
          <a:ln w="10668">
            <a:solidFill>
              <a:srgbClr val="9AA1A9"/>
            </a:solidFill>
            <a:prstDash val="dash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27432" y="804672"/>
            <a:ext cx="3099816" cy="868680"/>
          </a:xfrm>
          <a:prstGeom prst="roundRect">
            <a:avLst>
              <a:gd name="adj" fmla="val 6316"/>
            </a:avLst>
          </a:prstGeom>
          <a:solidFill>
            <a:srgbClr val="F3FAF9"/>
          </a:solidFill>
          <a:ln w="10668">
            <a:solidFill>
              <a:srgbClr val="008F87"/>
            </a:solidFill>
            <a:prstDash val="dash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91440" y="64008"/>
            <a:ext cx="66751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850" b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 </a:t>
            </a:r>
            <a:r>
              <a:rPr sz="850" b="1" i="1">
                <a:solidFill>
                  <a:srgbClr val="3B6E9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8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8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sz="8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</a:t>
            </a:r>
            <a:r>
              <a:rPr sz="8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8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sz="8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85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0584" y="379476"/>
            <a:ext cx="420624" cy="155448"/>
          </a:xfrm>
          <a:prstGeom prst="roundRect">
            <a:avLst>
              <a:gd name="adj" fmla="val 29412"/>
            </a:avLst>
          </a:prstGeom>
          <a:solidFill>
            <a:srgbClr val="D9EAF6"/>
          </a:solidFill>
          <a:ln w="10001">
            <a:solidFill>
              <a:srgbClr val="2876A4"/>
            </a:solidFill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521208" y="45720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30936" y="397764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 w="6350">
            <a:solidFill>
              <a:srgbClr val="8A9199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612648" y="379476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F9FAFA"/>
          </a:solidFill>
          <a:ln w="6350">
            <a:solidFill>
              <a:srgbClr val="8A9199"/>
            </a:solidFill>
            <a:prstDash val="solid"/>
          </a:ln>
        </p:spPr>
      </p:sp>
      <p:sp>
        <p:nvSpPr>
          <p:cNvPr id="12" name="Shape 10"/>
          <p:cNvSpPr>
            <a:spLocks noGrp="1"/>
          </p:cNvSpPr>
          <p:nvPr/>
        </p:nvSpPr>
        <p:spPr>
          <a:xfrm>
            <a:off x="594360" y="319405"/>
            <a:ext cx="457200" cy="2336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1F2328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94360" y="350520"/>
            <a:ext cx="457200" cy="173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Qwen trunk</a:t>
            </a:r>
            <a:endParaRPr sz="70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51560" y="45720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1179576" y="370332"/>
            <a:ext cx="173736" cy="173736"/>
          </a:xfrm>
          <a:prstGeom prst="ellipse">
            <a:avLst/>
          </a:prstGeom>
          <a:solidFill>
            <a:srgbClr val="E8F0F7"/>
          </a:solidFill>
          <a:ln w="6350">
            <a:solidFill>
              <a:srgbClr val="A9C4DE"/>
            </a:solidFill>
            <a:prstDash val="solid"/>
          </a:ln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1152144" y="370332"/>
            <a:ext cx="173736" cy="173736"/>
          </a:xfrm>
          <a:prstGeom prst="ellipse">
            <a:avLst/>
          </a:prstGeom>
          <a:solidFill>
            <a:srgbClr val="F2F6FA"/>
          </a:solidFill>
          <a:ln w="6350">
            <a:solidFill>
              <a:srgbClr val="A9C4DE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1124712" y="370332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328"/>
            </a:solidFill>
            <a:prstDash val="solid"/>
          </a:ln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1124712" y="370332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endParaRPr sz="75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1353312" y="457200"/>
            <a:ext cx="45720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</a:ln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1399032" y="320040"/>
            <a:ext cx="0" cy="13716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</a:ln>
        </p:spPr>
      </p:sp>
      <p:sp>
        <p:nvSpPr>
          <p:cNvPr id="21" name="Shape 19"/>
          <p:cNvSpPr>
            <a:spLocks noGrp="1"/>
          </p:cNvSpPr>
          <p:nvPr/>
        </p:nvSpPr>
        <p:spPr>
          <a:xfrm>
            <a:off x="1399032" y="457200"/>
            <a:ext cx="0" cy="13716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1399032" y="320040"/>
            <a:ext cx="91440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1399032" y="594360"/>
            <a:ext cx="91440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1490472" y="237744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DCE8F3"/>
          </a:solidFill>
          <a:ln w="11430">
            <a:solidFill>
              <a:srgbClr val="3B6E9E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>
            <a:spLocks noGrp="1"/>
          </p:cNvSpPr>
          <p:nvPr/>
        </p:nvSpPr>
        <p:spPr>
          <a:xfrm>
            <a:off x="2240280" y="32004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1490472" y="512064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F6E7C8"/>
          </a:solidFill>
          <a:ln w="11430">
            <a:solidFill>
              <a:srgbClr val="B9832F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2240280" y="59436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2331720" y="518922"/>
            <a:ext cx="50292" cy="50292"/>
          </a:xfrm>
          <a:prstGeom prst="rect">
            <a:avLst/>
          </a:prstGeom>
          <a:solidFill>
            <a:srgbClr val="F6E7C8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3" name="Shape 30"/>
          <p:cNvSpPr>
            <a:spLocks noGrp="1"/>
          </p:cNvSpPr>
          <p:nvPr/>
        </p:nvSpPr>
        <p:spPr>
          <a:xfrm>
            <a:off x="2382012" y="518922"/>
            <a:ext cx="50292" cy="50292"/>
          </a:xfrm>
          <a:prstGeom prst="rect">
            <a:avLst/>
          </a:prstGeom>
          <a:solidFill>
            <a:srgbClr val="E9C98A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2432304" y="518922"/>
            <a:ext cx="50292" cy="50292"/>
          </a:xfrm>
          <a:prstGeom prst="rect">
            <a:avLst/>
          </a:prstGeom>
          <a:solidFill>
            <a:srgbClr val="F6E7C8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2331720" y="569214"/>
            <a:ext cx="50292" cy="50292"/>
          </a:xfrm>
          <a:prstGeom prst="rect">
            <a:avLst/>
          </a:prstGeom>
          <a:solidFill>
            <a:srgbClr val="E9C98A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2382012" y="569214"/>
            <a:ext cx="50292" cy="50292"/>
          </a:xfrm>
          <a:prstGeom prst="rect">
            <a:avLst/>
          </a:prstGeom>
          <a:solidFill>
            <a:srgbClr val="F6E7C8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7" name="Shape 34"/>
          <p:cNvSpPr>
            <a:spLocks noGrp="1"/>
          </p:cNvSpPr>
          <p:nvPr/>
        </p:nvSpPr>
        <p:spPr>
          <a:xfrm>
            <a:off x="2432304" y="569214"/>
            <a:ext cx="50292" cy="50292"/>
          </a:xfrm>
          <a:prstGeom prst="rect">
            <a:avLst/>
          </a:prstGeom>
          <a:solidFill>
            <a:srgbClr val="E9C98A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8" name="Shape 35"/>
          <p:cNvSpPr>
            <a:spLocks noGrp="1"/>
          </p:cNvSpPr>
          <p:nvPr/>
        </p:nvSpPr>
        <p:spPr>
          <a:xfrm>
            <a:off x="2331720" y="619506"/>
            <a:ext cx="50292" cy="50292"/>
          </a:xfrm>
          <a:prstGeom prst="rect">
            <a:avLst/>
          </a:prstGeom>
          <a:solidFill>
            <a:srgbClr val="F6E7C8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39" name="Shape 36"/>
          <p:cNvSpPr>
            <a:spLocks noGrp="1"/>
          </p:cNvSpPr>
          <p:nvPr/>
        </p:nvSpPr>
        <p:spPr>
          <a:xfrm>
            <a:off x="2382012" y="619506"/>
            <a:ext cx="50292" cy="50292"/>
          </a:xfrm>
          <a:prstGeom prst="rect">
            <a:avLst/>
          </a:prstGeom>
          <a:solidFill>
            <a:srgbClr val="E9C98A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40" name="Shape 37"/>
          <p:cNvSpPr>
            <a:spLocks noGrp="1"/>
          </p:cNvSpPr>
          <p:nvPr/>
        </p:nvSpPr>
        <p:spPr>
          <a:xfrm>
            <a:off x="2432304" y="619506"/>
            <a:ext cx="50292" cy="50292"/>
          </a:xfrm>
          <a:prstGeom prst="rect">
            <a:avLst/>
          </a:prstGeom>
          <a:solidFill>
            <a:srgbClr val="F6E7C8"/>
          </a:solidFill>
          <a:ln w="5080">
            <a:solidFill>
              <a:srgbClr val="B9832F"/>
            </a:solidFill>
            <a:prstDash val="solid"/>
          </a:ln>
        </p:spPr>
      </p:sp>
      <p:sp>
        <p:nvSpPr>
          <p:cNvPr id="81" name="Shape 76"/>
          <p:cNvSpPr>
            <a:spLocks noGrp="1"/>
          </p:cNvSpPr>
          <p:nvPr/>
        </p:nvSpPr>
        <p:spPr>
          <a:xfrm>
            <a:off x="243840" y="836676"/>
            <a:ext cx="658368" cy="182880"/>
          </a:xfrm>
          <a:custGeom>
            <a:avLst/>
            <a:gdLst/>
            <a:ahLst/>
            <a:cxnLst/>
            <a:rect l="l" t="t" r="r" b="b"/>
            <a:pathLst>
              <a:path w="658368" h="182880">
                <a:moveTo>
                  <a:pt x="0" y="15025"/>
                </a:moveTo>
                <a:lnTo>
                  <a:pt x="41148" y="12904"/>
                </a:lnTo>
                <a:lnTo>
                  <a:pt x="82296" y="13569"/>
                </a:lnTo>
                <a:lnTo>
                  <a:pt x="123444" y="16815"/>
                </a:lnTo>
                <a:lnTo>
                  <a:pt x="164592" y="21642"/>
                </a:lnTo>
                <a:lnTo>
                  <a:pt x="205740" y="26563"/>
                </a:lnTo>
                <a:lnTo>
                  <a:pt x="246888" y="30061"/>
                </a:lnTo>
                <a:lnTo>
                  <a:pt x="288036" y="31058"/>
                </a:lnTo>
                <a:lnTo>
                  <a:pt x="329184" y="29247"/>
                </a:lnTo>
                <a:lnTo>
                  <a:pt x="370332" y="25186"/>
                </a:lnTo>
                <a:lnTo>
                  <a:pt x="411480" y="20127"/>
                </a:lnTo>
                <a:lnTo>
                  <a:pt x="452628" y="15628"/>
                </a:lnTo>
                <a:lnTo>
                  <a:pt x="493776" y="13076"/>
                </a:lnTo>
                <a:lnTo>
                  <a:pt x="534924" y="13257"/>
                </a:lnTo>
                <a:lnTo>
                  <a:pt x="576072" y="16115"/>
                </a:lnTo>
                <a:lnTo>
                  <a:pt x="617220" y="20770"/>
                </a:lnTo>
                <a:lnTo>
                  <a:pt x="658368" y="25788"/>
                </a:lnTo>
                <a:lnTo>
                  <a:pt x="658368" y="171727"/>
                </a:lnTo>
                <a:lnTo>
                  <a:pt x="617220" y="174587"/>
                </a:lnTo>
                <a:lnTo>
                  <a:pt x="576072" y="175564"/>
                </a:lnTo>
                <a:lnTo>
                  <a:pt x="534924" y="174474"/>
                </a:lnTo>
                <a:lnTo>
                  <a:pt x="493776" y="171523"/>
                </a:lnTo>
                <a:lnTo>
                  <a:pt x="452628" y="167266"/>
                </a:lnTo>
                <a:lnTo>
                  <a:pt x="411480" y="162505"/>
                </a:lnTo>
                <a:lnTo>
                  <a:pt x="370332" y="158137"/>
                </a:lnTo>
                <a:lnTo>
                  <a:pt x="329184" y="154986"/>
                </a:lnTo>
                <a:lnTo>
                  <a:pt x="288036" y="153644"/>
                </a:lnTo>
                <a:lnTo>
                  <a:pt x="246888" y="154364"/>
                </a:lnTo>
                <a:lnTo>
                  <a:pt x="205740" y="157011"/>
                </a:lnTo>
                <a:lnTo>
                  <a:pt x="164592" y="161086"/>
                </a:lnTo>
                <a:lnTo>
                  <a:pt x="123444" y="165821"/>
                </a:lnTo>
                <a:lnTo>
                  <a:pt x="82296" y="170325"/>
                </a:lnTo>
                <a:lnTo>
                  <a:pt x="41148" y="173749"/>
                </a:lnTo>
                <a:lnTo>
                  <a:pt x="0" y="175448"/>
                </a:lnTo>
                <a:close/>
              </a:path>
            </a:pathLst>
          </a:custGeom>
          <a:solidFill>
            <a:srgbClr val="BFE3DD">
              <a:alpha val="50000"/>
            </a:srgbClr>
          </a:solidFill>
          <a:ln w="12700">
            <a:solidFill>
              <a:srgbClr val="BFE3DD">
                <a:alpha val="0"/>
              </a:srgbClr>
            </a:solidFill>
            <a:prstDash val="solid"/>
          </a:ln>
        </p:spPr>
      </p:sp>
      <p:sp>
        <p:nvSpPr>
          <p:cNvPr id="82" name="Text 77"/>
          <p:cNvSpPr>
            <a:spLocks noGrp="1"/>
          </p:cNvSpPr>
          <p:nvPr/>
        </p:nvSpPr>
        <p:spPr>
          <a:xfrm>
            <a:off x="91440" y="84124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850" b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 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850" b="1" i="1">
                <a:solidFill>
                  <a:srgbClr val="2A8C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endParaRPr sz="850"/>
          </a:p>
        </p:txBody>
      </p:sp>
      <p:sp>
        <p:nvSpPr>
          <p:cNvPr id="84" name="Shape 79"/>
          <p:cNvSpPr>
            <a:spLocks noGrp="1"/>
          </p:cNvSpPr>
          <p:nvPr/>
        </p:nvSpPr>
        <p:spPr>
          <a:xfrm>
            <a:off x="100584" y="1156716"/>
            <a:ext cx="420624" cy="155448"/>
          </a:xfrm>
          <a:prstGeom prst="roundRect">
            <a:avLst>
              <a:gd name="adj" fmla="val 29412"/>
            </a:avLst>
          </a:prstGeom>
          <a:solidFill>
            <a:srgbClr val="DCE8F3"/>
          </a:solidFill>
          <a:ln w="10160">
            <a:solidFill>
              <a:srgbClr val="3B6E9E"/>
            </a:solidFill>
            <a:prstDash val="solid"/>
          </a:ln>
        </p:spPr>
      </p:sp>
      <p:sp>
        <p:nvSpPr>
          <p:cNvPr id="86" name="Shape 81"/>
          <p:cNvSpPr>
            <a:spLocks noGrp="1"/>
          </p:cNvSpPr>
          <p:nvPr/>
        </p:nvSpPr>
        <p:spPr>
          <a:xfrm>
            <a:off x="521208" y="123444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87" name="Shape 82"/>
          <p:cNvSpPr>
            <a:spLocks noGrp="1"/>
          </p:cNvSpPr>
          <p:nvPr/>
        </p:nvSpPr>
        <p:spPr>
          <a:xfrm>
            <a:off x="630936" y="1175004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 w="6350">
            <a:solidFill>
              <a:srgbClr val="8A9199"/>
            </a:solidFill>
            <a:prstDash val="solid"/>
          </a:ln>
        </p:spPr>
      </p:sp>
      <p:sp>
        <p:nvSpPr>
          <p:cNvPr id="88" name="Shape 83"/>
          <p:cNvSpPr>
            <a:spLocks noGrp="1"/>
          </p:cNvSpPr>
          <p:nvPr/>
        </p:nvSpPr>
        <p:spPr>
          <a:xfrm>
            <a:off x="612648" y="1156716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F9FAFA"/>
          </a:solidFill>
          <a:ln w="6350">
            <a:solidFill>
              <a:srgbClr val="8A9199"/>
            </a:solidFill>
            <a:prstDash val="solid"/>
          </a:ln>
        </p:spPr>
      </p:sp>
      <p:sp>
        <p:nvSpPr>
          <p:cNvPr id="89" name="Shape 84"/>
          <p:cNvSpPr>
            <a:spLocks noGrp="1"/>
          </p:cNvSpPr>
          <p:nvPr/>
        </p:nvSpPr>
        <p:spPr>
          <a:xfrm>
            <a:off x="594360" y="1096645"/>
            <a:ext cx="457200" cy="2336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1F2328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0" name="Text 85"/>
          <p:cNvSpPr>
            <a:spLocks noGrp="1"/>
          </p:cNvSpPr>
          <p:nvPr/>
        </p:nvSpPr>
        <p:spPr>
          <a:xfrm>
            <a:off x="594360" y="1116203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Qwen trunk</a:t>
            </a:r>
            <a:endParaRPr sz="700"/>
          </a:p>
        </p:txBody>
      </p:sp>
      <p:sp>
        <p:nvSpPr>
          <p:cNvPr id="91" name="Shape 86"/>
          <p:cNvSpPr>
            <a:spLocks noGrp="1"/>
          </p:cNvSpPr>
          <p:nvPr/>
        </p:nvSpPr>
        <p:spPr>
          <a:xfrm>
            <a:off x="1051560" y="123444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92" name="Shape 87"/>
          <p:cNvSpPr>
            <a:spLocks noGrp="1"/>
          </p:cNvSpPr>
          <p:nvPr/>
        </p:nvSpPr>
        <p:spPr>
          <a:xfrm>
            <a:off x="1179576" y="1147572"/>
            <a:ext cx="173736" cy="173736"/>
          </a:xfrm>
          <a:prstGeom prst="ellipse">
            <a:avLst/>
          </a:prstGeom>
          <a:solidFill>
            <a:srgbClr val="E8F0F7"/>
          </a:solidFill>
          <a:ln w="6350">
            <a:solidFill>
              <a:srgbClr val="A9C4DE"/>
            </a:solidFill>
            <a:prstDash val="solid"/>
          </a:ln>
        </p:spPr>
      </p:sp>
      <p:sp>
        <p:nvSpPr>
          <p:cNvPr id="93" name="Shape 88"/>
          <p:cNvSpPr>
            <a:spLocks noGrp="1"/>
          </p:cNvSpPr>
          <p:nvPr/>
        </p:nvSpPr>
        <p:spPr>
          <a:xfrm>
            <a:off x="1152144" y="1147572"/>
            <a:ext cx="173736" cy="173736"/>
          </a:xfrm>
          <a:prstGeom prst="ellipse">
            <a:avLst/>
          </a:prstGeom>
          <a:solidFill>
            <a:srgbClr val="F2F6FA"/>
          </a:solidFill>
          <a:ln w="6350">
            <a:solidFill>
              <a:srgbClr val="A9C4DE"/>
            </a:solidFill>
            <a:prstDash val="solid"/>
          </a:ln>
        </p:spPr>
      </p:sp>
      <p:sp>
        <p:nvSpPr>
          <p:cNvPr id="94" name="Shape 89"/>
          <p:cNvSpPr>
            <a:spLocks noGrp="1"/>
          </p:cNvSpPr>
          <p:nvPr/>
        </p:nvSpPr>
        <p:spPr>
          <a:xfrm>
            <a:off x="1124712" y="1147572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2328"/>
            </a:solidFill>
            <a:prstDash val="solid"/>
          </a:ln>
        </p:spPr>
      </p:sp>
      <p:sp>
        <p:nvSpPr>
          <p:cNvPr id="95" name="Text 90"/>
          <p:cNvSpPr>
            <a:spLocks noGrp="1"/>
          </p:cNvSpPr>
          <p:nvPr/>
        </p:nvSpPr>
        <p:spPr>
          <a:xfrm>
            <a:off x="1124712" y="1147572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i="1">
                <a:solidFill>
                  <a:srgbClr val="1F232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endParaRPr sz="750"/>
          </a:p>
        </p:txBody>
      </p:sp>
      <p:sp>
        <p:nvSpPr>
          <p:cNvPr id="96" name="Shape 91"/>
          <p:cNvSpPr>
            <a:spLocks noGrp="1"/>
          </p:cNvSpPr>
          <p:nvPr/>
        </p:nvSpPr>
        <p:spPr>
          <a:xfrm>
            <a:off x="1353312" y="1234440"/>
            <a:ext cx="45720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</a:ln>
        </p:spPr>
      </p:sp>
      <p:sp>
        <p:nvSpPr>
          <p:cNvPr id="97" name="Shape 92"/>
          <p:cNvSpPr>
            <a:spLocks noGrp="1"/>
          </p:cNvSpPr>
          <p:nvPr/>
        </p:nvSpPr>
        <p:spPr>
          <a:xfrm>
            <a:off x="1399032" y="1097280"/>
            <a:ext cx="0" cy="13716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</a:ln>
        </p:spPr>
      </p:sp>
      <p:sp>
        <p:nvSpPr>
          <p:cNvPr id="99" name="Shape 94"/>
          <p:cNvSpPr>
            <a:spLocks noGrp="1"/>
          </p:cNvSpPr>
          <p:nvPr/>
        </p:nvSpPr>
        <p:spPr>
          <a:xfrm>
            <a:off x="1399032" y="1097280"/>
            <a:ext cx="91440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101" name="Shape 96"/>
          <p:cNvSpPr>
            <a:spLocks noGrp="1"/>
          </p:cNvSpPr>
          <p:nvPr/>
        </p:nvSpPr>
        <p:spPr>
          <a:xfrm>
            <a:off x="1490472" y="1014984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DCE8F3"/>
          </a:solidFill>
          <a:ln w="11430">
            <a:solidFill>
              <a:srgbClr val="3B6E9E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3" name="Shape 98"/>
          <p:cNvSpPr>
            <a:spLocks noGrp="1"/>
          </p:cNvSpPr>
          <p:nvPr/>
        </p:nvSpPr>
        <p:spPr>
          <a:xfrm>
            <a:off x="2240280" y="1097280"/>
            <a:ext cx="73152" cy="0"/>
          </a:xfrm>
          <a:prstGeom prst="line">
            <a:avLst/>
          </a:prstGeom>
          <a:noFill/>
          <a:ln w="11430">
            <a:solidFill>
              <a:srgbClr val="1F2328"/>
            </a:solidFill>
            <a:prstDash val="solid"/>
            <a:tailEnd type="triangle" w="sm" len="sm"/>
          </a:ln>
        </p:spPr>
      </p:sp>
      <p:sp>
        <p:nvSpPr>
          <p:cNvPr id="106" name="Shape 100"/>
          <p:cNvSpPr>
            <a:spLocks noGrp="1"/>
          </p:cNvSpPr>
          <p:nvPr/>
        </p:nvSpPr>
        <p:spPr>
          <a:xfrm>
            <a:off x="1490472" y="1289304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573">
            <a:solidFill>
              <a:srgbClr val="9AA1A9"/>
            </a:solidFill>
            <a:prstDash val="dash"/>
          </a:ln>
        </p:spPr>
      </p:sp>
      <p:sp>
        <p:nvSpPr>
          <p:cNvPr id="132" name="Text 4"/>
          <p:cNvSpPr>
            <a:spLocks noGrp="1"/>
          </p:cNvSpPr>
          <p:nvPr/>
        </p:nvSpPr>
        <p:spPr>
          <a:xfrm>
            <a:off x="711200" y="96838"/>
            <a:ext cx="22479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64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64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64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mage call: both heads execute</a:t>
            </a:r>
            <a:endParaRPr sz="640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4" name="Text 78"/>
          <p:cNvSpPr>
            <a:spLocks noGrp="1"/>
          </p:cNvSpPr>
          <p:nvPr/>
        </p:nvSpPr>
        <p:spPr>
          <a:xfrm>
            <a:off x="1104900" y="861060"/>
            <a:ext cx="1924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605" b="0" i="1">
                <a:solidFill>
                  <a:srgbClr val="008F8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605" b="0" i="1">
                <a:solidFill>
                  <a:srgbClr val="008F8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sz="605" b="0" i="1">
                <a:solidFill>
                  <a:srgbClr val="008F8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mit unneeded text logits</a:t>
            </a:r>
            <a:endParaRPr sz="605" b="0" i="1">
              <a:solidFill>
                <a:srgbClr val="008F8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5" name="Text 6"/>
          <p:cNvSpPr>
            <a:spLocks noGrp="1"/>
          </p:cNvSpPr>
          <p:nvPr/>
        </p:nvSpPr>
        <p:spPr>
          <a:xfrm>
            <a:off x="100584" y="379476"/>
            <a:ext cx="420624" cy="155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15" b="1" i="1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15" b="1" i="1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image gen.</a:t>
            </a:r>
            <a:endParaRPr sz="615" b="1" i="1">
              <a:solidFill>
                <a:srgbClr val="1D486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Text 80"/>
          <p:cNvSpPr>
            <a:spLocks noGrp="1"/>
          </p:cNvSpPr>
          <p:nvPr/>
        </p:nvSpPr>
        <p:spPr>
          <a:xfrm>
            <a:off x="100584" y="1156716"/>
            <a:ext cx="420624" cy="155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15" b="1" i="1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15" b="1" i="1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image gen.</a:t>
            </a:r>
            <a:endParaRPr sz="615" b="1" i="1">
              <a:solidFill>
                <a:srgbClr val="1D486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8" name="Text 23"/>
          <p:cNvSpPr>
            <a:spLocks noGrp="1"/>
          </p:cNvSpPr>
          <p:nvPr/>
        </p:nvSpPr>
        <p:spPr>
          <a:xfrm>
            <a:off x="1490472" y="237744"/>
            <a:ext cx="749808" cy="1645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55" b="1" i="0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55" b="1" i="0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Diffusion head</a:t>
            </a:r>
            <a:endParaRPr sz="655" b="1" i="0">
              <a:solidFill>
                <a:srgbClr val="1D486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0" name="Text 97"/>
          <p:cNvSpPr>
            <a:spLocks noGrp="1"/>
          </p:cNvSpPr>
          <p:nvPr/>
        </p:nvSpPr>
        <p:spPr>
          <a:xfrm>
            <a:off x="1490472" y="1014984"/>
            <a:ext cx="749808" cy="1645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55" b="1" i="0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55" b="1" i="0">
                <a:solidFill>
                  <a:srgbClr val="1D486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Diffusion head</a:t>
            </a:r>
            <a:endParaRPr sz="655" b="1" i="0">
              <a:solidFill>
                <a:srgbClr val="1D486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1" name="Text 27"/>
          <p:cNvSpPr>
            <a:spLocks noGrp="1"/>
          </p:cNvSpPr>
          <p:nvPr/>
        </p:nvSpPr>
        <p:spPr>
          <a:xfrm>
            <a:off x="1490472" y="512064"/>
            <a:ext cx="749808" cy="1645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40" b="1" i="0">
                <a:solidFill>
                  <a:srgbClr val="9865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40" b="1" i="0">
                <a:solidFill>
                  <a:srgbClr val="9865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Vocab projection</a:t>
            </a:r>
            <a:endParaRPr sz="640" b="1" i="0">
              <a:solidFill>
                <a:srgbClr val="98651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8" name="Text 38"/>
          <p:cNvSpPr>
            <a:spLocks noGrp="1"/>
          </p:cNvSpPr>
          <p:nvPr/>
        </p:nvSpPr>
        <p:spPr>
          <a:xfrm>
            <a:off x="2533650" y="523875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645" b="0" i="1">
                <a:solidFill>
                  <a:srgbClr val="9865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45" b="0" i="1">
                <a:solidFill>
                  <a:srgbClr val="9865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text logits</a:t>
            </a:r>
            <a:endParaRPr sz="645" b="0" i="1">
              <a:solidFill>
                <a:srgbClr val="98651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5" name="c-off-stem"/>
          <p:cNvSpPr>
            <a:spLocks noGrp="1"/>
          </p:cNvSpPr>
          <p:nvPr/>
        </p:nvSpPr>
        <p:spPr>
          <a:xfrm>
            <a:off x="1399032" y="1234440"/>
            <a:ext cx="0" cy="137160"/>
          </a:xfrm>
          <a:prstGeom prst="line">
            <a:avLst/>
          </a:prstGeom>
          <a:noFill/>
          <a:ln w="7620">
            <a:solidFill>
              <a:srgbClr val="9AA1A9"/>
            </a:solidFill>
            <a:prstDash val="dash"/>
          </a:ln>
        </p:spPr>
      </p:sp>
      <p:sp>
        <p:nvSpPr>
          <p:cNvPr id="196" name="c-off-in"/>
          <p:cNvSpPr>
            <a:spLocks noGrp="1"/>
          </p:cNvSpPr>
          <p:nvPr/>
        </p:nvSpPr>
        <p:spPr>
          <a:xfrm>
            <a:off x="1399032" y="1371600"/>
            <a:ext cx="91440" cy="0"/>
          </a:xfrm>
          <a:prstGeom prst="line">
            <a:avLst/>
          </a:prstGeom>
          <a:noFill/>
          <a:ln w="7620">
            <a:solidFill>
              <a:srgbClr val="9AA1A9"/>
            </a:solidFill>
            <a:prstDash val="dash"/>
          </a:ln>
        </p:spPr>
      </p:sp>
      <p:sp>
        <p:nvSpPr>
          <p:cNvPr id="200" name="c-none-box"/>
          <p:cNvSpPr>
            <a:spLocks noGrp="1"/>
          </p:cNvSpPr>
          <p:nvPr/>
        </p:nvSpPr>
        <p:spPr>
          <a:xfrm>
            <a:off x="2331720" y="1291590"/>
            <a:ext cx="704850" cy="180975"/>
          </a:xfrm>
          <a:prstGeom prst="roundRect">
            <a:avLst>
              <a:gd name="adj" fmla="val 14211"/>
            </a:avLst>
          </a:prstGeom>
          <a:solidFill>
            <a:srgbClr val="E1F4EF"/>
          </a:solidFill>
          <a:ln w="8096">
            <a:solidFill>
              <a:srgbClr val="008F87"/>
            </a:solidFill>
            <a:prstDash val="solid"/>
          </a:ln>
        </p:spPr>
      </p:sp>
      <p:sp>
        <p:nvSpPr>
          <p:cNvPr id="201" name="c-return"/>
          <p:cNvSpPr>
            <a:spLocks noGrp="1"/>
          </p:cNvSpPr>
          <p:nvPr/>
        </p:nvSpPr>
        <p:spPr>
          <a:xfrm>
            <a:off x="2352675" y="1296353"/>
            <a:ext cx="657225" cy="71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8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8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return field</a:t>
            </a:r>
            <a:endParaRPr sz="480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2" name="c-none"/>
          <p:cNvSpPr>
            <a:spLocks noGrp="1"/>
          </p:cNvSpPr>
          <p:nvPr/>
        </p:nvSpPr>
        <p:spPr>
          <a:xfrm>
            <a:off x="2352675" y="1366838"/>
            <a:ext cx="657225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55" b="1" i="1">
                <a:solidFill>
                  <a:srgbClr val="116D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55" b="1" i="1">
                <a:solidFill>
                  <a:srgbClr val="116D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logits = None</a:t>
            </a:r>
            <a:endParaRPr sz="655" b="1" i="1">
              <a:solidFill>
                <a:srgbClr val="116D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3" name="c-condition"/>
          <p:cNvSpPr>
            <a:spLocks noGrp="1"/>
          </p:cNvSpPr>
          <p:nvPr/>
        </p:nvSpPr>
        <p:spPr>
          <a:xfrm>
            <a:off x="100965" y="1416368"/>
            <a:ext cx="1109663" cy="148590"/>
          </a:xfrm>
          <a:prstGeom prst="roundRect">
            <a:avLst>
              <a:gd name="adj" fmla="val 17308"/>
            </a:avLst>
          </a:prstGeom>
          <a:solidFill>
            <a:srgbClr val="E1F4EF"/>
          </a:solidFill>
          <a:ln w="8573">
            <a:solidFill>
              <a:srgbClr val="008F87"/>
            </a:solidFill>
            <a:prstDash val="solid"/>
          </a:ln>
        </p:spPr>
      </p:sp>
      <p:sp>
        <p:nvSpPr>
          <p:cNvPr id="204" name="c-condition-text"/>
          <p:cNvSpPr>
            <a:spLocks noGrp="1"/>
          </p:cNvSpPr>
          <p:nvPr/>
        </p:nvSpPr>
        <p:spPr>
          <a:xfrm>
            <a:off x="133350" y="1424940"/>
            <a:ext cx="1044893" cy="1276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05" b="1" i="1">
                <a:solidFill>
                  <a:srgbClr val="116D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05" b="1" i="1">
                <a:solidFill>
                  <a:srgbClr val="116D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 text logits required</a:t>
            </a:r>
            <a:endParaRPr sz="605" b="1" i="1">
              <a:solidFill>
                <a:srgbClr val="116D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5" name="c-keep-projection"/>
          <p:cNvSpPr>
            <a:spLocks noGrp="1"/>
          </p:cNvSpPr>
          <p:nvPr/>
        </p:nvSpPr>
        <p:spPr>
          <a:xfrm>
            <a:off x="1304925" y="1537335"/>
            <a:ext cx="1757363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585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85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Text generation / text loss: keep projection</a:t>
            </a:r>
            <a:endParaRPr sz="585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6" name="legend-exec-a"/>
          <p:cNvSpPr>
            <a:spLocks noGrp="1"/>
          </p:cNvSpPr>
          <p:nvPr/>
        </p:nvSpPr>
        <p:spPr>
          <a:xfrm>
            <a:off x="76200" y="176784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7" name="legend-exec-b"/>
          <p:cNvSpPr>
            <a:spLocks noGrp="1"/>
          </p:cNvSpPr>
          <p:nvPr/>
        </p:nvSpPr>
        <p:spPr>
          <a:xfrm>
            <a:off x="219075" y="176784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03" name="legend-exec"/>
          <p:cNvCxnSpPr>
            <a:stCxn id="206" idx="3"/>
            <a:endCxn id="207" idx="1"/>
          </p:cNvCxnSpPr>
          <p:nvPr/>
        </p:nvCxnSpPr>
        <p:spPr>
          <a:xfrm>
            <a:off x="77153" y="1768316"/>
            <a:ext cx="141922" cy="0"/>
          </a:xfrm>
          <a:prstGeom prst="straightConnector1">
            <a:avLst/>
          </a:prstGeom>
          <a:ln w="9525">
            <a:solidFill>
              <a:srgbClr val="202428"/>
            </a:solidFill>
            <a:tailEnd type="triangle" w="sm" len="sm"/>
          </a:ln>
        </p:spPr>
      </p:cxnSp>
      <p:sp>
        <p:nvSpPr>
          <p:cNvPr id="209" name="legend-exec-text"/>
          <p:cNvSpPr>
            <a:spLocks noGrp="1"/>
          </p:cNvSpPr>
          <p:nvPr/>
        </p:nvSpPr>
        <p:spPr>
          <a:xfrm>
            <a:off x="247650" y="171069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600" b="0" i="0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00" b="0" i="0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executed</a:t>
            </a:r>
            <a:endParaRPr sz="600" b="0" i="0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0" name="legend-off-box"/>
          <p:cNvSpPr>
            <a:spLocks noGrp="1"/>
          </p:cNvSpPr>
          <p:nvPr/>
        </p:nvSpPr>
        <p:spPr>
          <a:xfrm>
            <a:off x="942975" y="1722120"/>
            <a:ext cx="161925" cy="95250"/>
          </a:xfrm>
          <a:prstGeom prst="roundRect">
            <a:avLst>
              <a:gd name="adj" fmla="val 27000"/>
            </a:avLst>
          </a:prstGeom>
          <a:noFill/>
          <a:ln w="7620">
            <a:solidFill>
              <a:srgbClr val="9AA1A9"/>
            </a:solidFill>
            <a:prstDash val="dash"/>
          </a:ln>
        </p:spPr>
      </p:sp>
      <p:sp>
        <p:nvSpPr>
          <p:cNvPr id="381" name="velocity-symbol-0"/>
          <p:cNvSpPr>
            <a:spLocks noGrp="1"/>
          </p:cNvSpPr>
          <p:nvPr/>
        </p:nvSpPr>
        <p:spPr>
          <a:xfrm>
            <a:off x="2343150" y="229553"/>
            <a:ext cx="1047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endParaRPr sz="1200" b="1" i="1">
              <a:solidFill>
                <a:srgbClr val="2876A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2" name="velocity-subscript-0"/>
          <p:cNvSpPr>
            <a:spLocks noGrp="1"/>
          </p:cNvSpPr>
          <p:nvPr/>
        </p:nvSpPr>
        <p:spPr>
          <a:xfrm>
            <a:off x="2438400" y="327660"/>
            <a:ext cx="47625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65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65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endParaRPr sz="565" b="0" i="1">
              <a:solidFill>
                <a:srgbClr val="2876A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3" name="Text 25"/>
          <p:cNvSpPr>
            <a:spLocks noGrp="1"/>
          </p:cNvSpPr>
          <p:nvPr/>
        </p:nvSpPr>
        <p:spPr>
          <a:xfrm>
            <a:off x="2508250" y="234315"/>
            <a:ext cx="5143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70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70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</a:t>
            </a:r>
            <a:endParaRPr sz="670" b="0" i="1">
              <a:solidFill>
                <a:srgbClr val="2876A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4" name="sampler-note-0"/>
          <p:cNvSpPr>
            <a:spLocks noGrp="1"/>
          </p:cNvSpPr>
          <p:nvPr/>
        </p:nvSpPr>
        <p:spPr>
          <a:xfrm>
            <a:off x="2517775" y="331470"/>
            <a:ext cx="5238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2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2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image sampler</a:t>
            </a:r>
            <a:endParaRPr sz="520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9" name="velocity-symbol-2"/>
          <p:cNvSpPr>
            <a:spLocks noGrp="1"/>
          </p:cNvSpPr>
          <p:nvPr/>
        </p:nvSpPr>
        <p:spPr>
          <a:xfrm>
            <a:off x="2343150" y="1006793"/>
            <a:ext cx="1047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endParaRPr sz="1200" b="1" i="1">
              <a:solidFill>
                <a:srgbClr val="2876A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0" name="velocity-subscript-2"/>
          <p:cNvSpPr>
            <a:spLocks noGrp="1"/>
          </p:cNvSpPr>
          <p:nvPr/>
        </p:nvSpPr>
        <p:spPr>
          <a:xfrm>
            <a:off x="2438400" y="1104900"/>
            <a:ext cx="47625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65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65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endParaRPr sz="565" b="0" i="1">
              <a:solidFill>
                <a:srgbClr val="2876A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1" name="Text 99"/>
          <p:cNvSpPr>
            <a:spLocks noGrp="1"/>
          </p:cNvSpPr>
          <p:nvPr/>
        </p:nvSpPr>
        <p:spPr>
          <a:xfrm>
            <a:off x="2511425" y="1011555"/>
            <a:ext cx="5143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70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70" b="0" i="1">
                <a:solidFill>
                  <a:srgbClr val="2876A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</a:t>
            </a:r>
            <a:endParaRPr sz="670" b="0" i="1">
              <a:solidFill>
                <a:srgbClr val="2876A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2" name="sampler-note-2"/>
          <p:cNvSpPr>
            <a:spLocks noGrp="1"/>
          </p:cNvSpPr>
          <p:nvPr/>
        </p:nvSpPr>
        <p:spPr>
          <a:xfrm>
            <a:off x="2511425" y="1108710"/>
            <a:ext cx="52387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2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2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image sampler</a:t>
            </a:r>
            <a:endParaRPr sz="520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5" name="c-off-projection"/>
          <p:cNvSpPr>
            <a:spLocks noGrp="1"/>
          </p:cNvSpPr>
          <p:nvPr/>
        </p:nvSpPr>
        <p:spPr>
          <a:xfrm>
            <a:off x="1504950" y="1294448"/>
            <a:ext cx="719138" cy="923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5" b="1" i="0">
                <a:solidFill>
                  <a:srgbClr val="9AA1A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05" b="1" i="0">
                <a:solidFill>
                  <a:srgbClr val="9AA1A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Vocab projection</a:t>
            </a:r>
            <a:endParaRPr sz="605" b="1" i="0">
              <a:solidFill>
                <a:srgbClr val="9AA1A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c-not-computed"/>
          <p:cNvSpPr>
            <a:spLocks noGrp="1"/>
          </p:cNvSpPr>
          <p:nvPr/>
        </p:nvSpPr>
        <p:spPr>
          <a:xfrm>
            <a:off x="1504950" y="1386840"/>
            <a:ext cx="719138" cy="619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95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95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not computed</a:t>
            </a:r>
            <a:endParaRPr sz="495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7" name="legend-off-text"/>
          <p:cNvSpPr>
            <a:spLocks noGrp="1"/>
          </p:cNvSpPr>
          <p:nvPr/>
        </p:nvSpPr>
        <p:spPr>
          <a:xfrm>
            <a:off x="1143000" y="1710690"/>
            <a:ext cx="7143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00" b="0" i="0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00" b="0" i="0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not computed</a:t>
            </a:r>
            <a:endParaRPr sz="600" b="0" i="0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8" name="legend-h"/>
          <p:cNvSpPr>
            <a:spLocks noGrp="1"/>
          </p:cNvSpPr>
          <p:nvPr/>
        </p:nvSpPr>
        <p:spPr>
          <a:xfrm>
            <a:off x="1590675" y="1710690"/>
            <a:ext cx="762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60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600" b="0" i="1">
                <a:solidFill>
                  <a:srgbClr val="606A7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H: hidden states</a:t>
            </a:r>
            <a:endParaRPr sz="600" b="0" i="1">
              <a:solidFill>
                <a:srgbClr val="606A7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WPS Spreadsheets</Application>
  <PresentationFormat>Converted Presentation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Times New Roman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anthony</cp:lastModifiedBy>
  <cp:revision>2</cp:revision>
  <dcterms:created xsi:type="dcterms:W3CDTF">2026-09-22T19:29:46Z</dcterms:created>
  <dcterms:modified xsi:type="dcterms:W3CDTF">2026-09-22T19:29:46Z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5D3AF2F55587261BCC05B26AB38EC2E9_42</vt:lpwstr>
  </property>
  <property fmtid="{D5CDD505-2E9C-101B-9397-08002B2CF9AE}" pid="3" name="KSOProductBuildVer">
    <vt:lpwstr>1033-6.14.0.8924</vt:lpwstr>
  </property>
</Properties>
</file>