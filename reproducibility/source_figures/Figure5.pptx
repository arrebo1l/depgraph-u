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5715000" cy="268605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5. Cache-interval sensitivity of the complete DepGraph-U system on Show-o2-1.5B. Native Show-o2 is the fixed reference in both panels. At intervals 1,2,3,5,8, speedups use native mean latency divided by complete-system latency, recalculated from unrounded per-image records. Both arms use exactly the same predeclared 120 rewritten GenEval prompts (20 per category), seed IDs 0,1,2,432×432 resolution,batch1 and A800 hardware. Native uses100denoisingtimepoints; DepGraph-U uses70 with its inheritedsampling/pruning/cachepolicy plus CADD and VocabBypass. These are historical separate runs with different prompt traversal/RNG consumption, not a synchronized paired timing study or identical-noise comparison. Native values are extracted from its complete run using the frozen outcome-independent subset. Errorbars show sample SD across three seed-level quality scores. Native has no cacheinterval parameter and its single measured baseline is repeated across the x-axis. Quality may change. This is a stratified subset, not the full GenEval score. Native images are freshly scored, not inherited from an older collection. Values: [{"interval":1,"native_mean_s":10.639586329460144,"ours_mean_s":6.028431006272634,"speedup_vs_native":1.764901401109105,"native_quality":0.7472222222222222,"native_sd":0.03849001794597504,"ours_quality":0.7166666666666667,"ours_sd":0.014433756729740658},{"interval":2,"native_mean_s":10.639586329460144,"ours_mean_s":4.293510910537508,"speedup_vs_native":2.4780620222362884,"native_quality":0.7472222222222222,"native_sd":0.03849001794597504,"ours_quality":0.7194444444444444,"ours_sd":0.017347216662217772},{"interval":3,"native_mean_s":10.639586329460144,"ours_mean_s":3.684978246026569,"speedup_vs_native":2.8872860622535765,"native_quality":0.7472222222222222,"native_sd":0.03849001794597504,"ours_quality":0.7138888888888889,"ours_sd":0.03469443332443553},{"interval":5,"native_mean_s":10.639586329460144,"ours_mean_s":3.322905633846919,"speedup_vs_native":3.2018924103910598,"native_quality":0.7472222222222222,"native_sd":0.03849001794597504,"ours_quality":0.7277777777777779,"ours_sd":0.017347216662217755},{"interval":8,"native_mean_s":10.639586329460144,"ours_mean_s":3.3351934399869707,"speedup_vs_native":3.190095723353818,"native_quality":0.7472222222222222,"native_sd":0.03849001794597504,"ours_quality":0.7166666666666667,"ours_sd":0.03004626062886658}]. Sources: native audit EVIDENCE_BUNDLE.tar.gz SHA2563ede67f2bda84f1f9df550f56655b6181cc2e2c42cadfc0df2f17bee7489135c; cache_schedule_sensitivity_20260908 frozen protocol and appendix_A2_20260911 raw timing/quality. Attribution and complete raw-source paths remain in local provenance records and manuscript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Panel b"/>
          <p:cNvSpPr>
            <a:spLocks noGrp="1"/>
          </p:cNvSpPr>
          <p:nvPr/>
        </p:nvSpPr>
        <p:spPr>
          <a:xfrm>
            <a:off x="473075" y="2857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(a)</a:t>
            </a:r>
            <a:endParaRPr sz="1800" b="0" i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anel b title"/>
          <p:cNvSpPr>
            <a:spLocks noGrp="1"/>
          </p:cNvSpPr>
          <p:nvPr/>
        </p:nvSpPr>
        <p:spPr>
          <a:xfrm>
            <a:off x="835025" y="28575"/>
            <a:ext cx="2000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GenEval Speedup</a:t>
            </a:r>
            <a:endParaRPr sz="1800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Panel c"/>
          <p:cNvSpPr>
            <a:spLocks noGrp="1"/>
          </p:cNvSpPr>
          <p:nvPr/>
        </p:nvSpPr>
        <p:spPr>
          <a:xfrm>
            <a:off x="3282950" y="2857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(b)</a:t>
            </a:r>
            <a:endParaRPr sz="1800" b="0" i="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Panel c title"/>
          <p:cNvSpPr>
            <a:spLocks noGrp="1"/>
          </p:cNvSpPr>
          <p:nvPr/>
        </p:nvSpPr>
        <p:spPr>
          <a:xfrm>
            <a:off x="3644900" y="28575"/>
            <a:ext cx="20002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GenEval Quality</a:t>
            </a:r>
            <a:endParaRPr sz="1800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B plot background"/>
          <p:cNvSpPr>
            <a:spLocks noGrp="1"/>
          </p:cNvSpPr>
          <p:nvPr/>
        </p:nvSpPr>
        <p:spPr>
          <a:xfrm>
            <a:off x="676275" y="409575"/>
            <a:ext cx="2076450" cy="1724025"/>
          </a:xfrm>
          <a:prstGeom prst="rect">
            <a:avLst/>
          </a:prstGeom>
          <a:solidFill>
            <a:srgbClr val="FCFCFC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51" name="B horizontal grid 1"/>
          <p:cNvSpPr>
            <a:spLocks noGrp="1"/>
          </p:cNvSpPr>
          <p:nvPr/>
        </p:nvSpPr>
        <p:spPr>
          <a:xfrm>
            <a:off x="676275" y="2063232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52" name="B horizontal grid 1.2"/>
          <p:cNvSpPr>
            <a:spLocks noGrp="1"/>
          </p:cNvSpPr>
          <p:nvPr/>
        </p:nvSpPr>
        <p:spPr>
          <a:xfrm>
            <a:off x="676275" y="1711390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53" name="B horizontal grid 1.4"/>
          <p:cNvSpPr>
            <a:spLocks noGrp="1"/>
          </p:cNvSpPr>
          <p:nvPr/>
        </p:nvSpPr>
        <p:spPr>
          <a:xfrm>
            <a:off x="676275" y="1359548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54" name="B horizontal grid 1.6"/>
          <p:cNvSpPr>
            <a:spLocks noGrp="1"/>
          </p:cNvSpPr>
          <p:nvPr/>
        </p:nvSpPr>
        <p:spPr>
          <a:xfrm>
            <a:off x="676275" y="1007706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55" name="B horizontal grid 1.8"/>
          <p:cNvSpPr>
            <a:spLocks noGrp="1"/>
          </p:cNvSpPr>
          <p:nvPr/>
        </p:nvSpPr>
        <p:spPr>
          <a:xfrm>
            <a:off x="676275" y="655864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56" name="B vertical grid 1"/>
          <p:cNvSpPr>
            <a:spLocks noGrp="1"/>
          </p:cNvSpPr>
          <p:nvPr/>
        </p:nvSpPr>
        <p:spPr>
          <a:xfrm>
            <a:off x="723900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57" name="B vertical grid 2"/>
          <p:cNvSpPr>
            <a:spLocks noGrp="1"/>
          </p:cNvSpPr>
          <p:nvPr/>
        </p:nvSpPr>
        <p:spPr>
          <a:xfrm>
            <a:off x="1006929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58" name="B vertical grid 3"/>
          <p:cNvSpPr>
            <a:spLocks noGrp="1"/>
          </p:cNvSpPr>
          <p:nvPr/>
        </p:nvSpPr>
        <p:spPr>
          <a:xfrm>
            <a:off x="1289957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59" name="B vertical grid 5"/>
          <p:cNvSpPr>
            <a:spLocks noGrp="1"/>
          </p:cNvSpPr>
          <p:nvPr/>
        </p:nvSpPr>
        <p:spPr>
          <a:xfrm>
            <a:off x="1856014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60" name="B vertical grid 8"/>
          <p:cNvSpPr>
            <a:spLocks noGrp="1"/>
          </p:cNvSpPr>
          <p:nvPr/>
        </p:nvSpPr>
        <p:spPr>
          <a:xfrm>
            <a:off x="2705100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61" name="B y tick 1"/>
          <p:cNvSpPr>
            <a:spLocks noGrp="1"/>
          </p:cNvSpPr>
          <p:nvPr/>
        </p:nvSpPr>
        <p:spPr>
          <a:xfrm>
            <a:off x="485775" y="1977507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1.0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2" name="B y tick 1.2"/>
          <p:cNvSpPr>
            <a:spLocks noGrp="1"/>
          </p:cNvSpPr>
          <p:nvPr/>
        </p:nvSpPr>
        <p:spPr>
          <a:xfrm>
            <a:off x="485775" y="1625665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1.5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3" name="B y tick 1.4"/>
          <p:cNvSpPr>
            <a:spLocks noGrp="1"/>
          </p:cNvSpPr>
          <p:nvPr/>
        </p:nvSpPr>
        <p:spPr>
          <a:xfrm>
            <a:off x="485775" y="1273823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2.0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" name="B y tick 1.6"/>
          <p:cNvSpPr>
            <a:spLocks noGrp="1"/>
          </p:cNvSpPr>
          <p:nvPr/>
        </p:nvSpPr>
        <p:spPr>
          <a:xfrm>
            <a:off x="485775" y="921981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5" name="B y tick 1.8"/>
          <p:cNvSpPr>
            <a:spLocks noGrp="1"/>
          </p:cNvSpPr>
          <p:nvPr/>
        </p:nvSpPr>
        <p:spPr>
          <a:xfrm>
            <a:off x="485775" y="570139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3.0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B x tick 1"/>
          <p:cNvSpPr>
            <a:spLocks noGrp="1"/>
          </p:cNvSpPr>
          <p:nvPr/>
        </p:nvSpPr>
        <p:spPr>
          <a:xfrm>
            <a:off x="619125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7" name="B x tick 2"/>
          <p:cNvSpPr>
            <a:spLocks noGrp="1"/>
          </p:cNvSpPr>
          <p:nvPr/>
        </p:nvSpPr>
        <p:spPr>
          <a:xfrm>
            <a:off x="902154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8" name="B x tick 3"/>
          <p:cNvSpPr>
            <a:spLocks noGrp="1"/>
          </p:cNvSpPr>
          <p:nvPr/>
        </p:nvSpPr>
        <p:spPr>
          <a:xfrm>
            <a:off x="1185182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9" name="B x tick 5"/>
          <p:cNvSpPr>
            <a:spLocks noGrp="1"/>
          </p:cNvSpPr>
          <p:nvPr/>
        </p:nvSpPr>
        <p:spPr>
          <a:xfrm>
            <a:off x="1751239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0" name="B x tick 8"/>
          <p:cNvSpPr>
            <a:spLocks noGrp="1"/>
          </p:cNvSpPr>
          <p:nvPr/>
        </p:nvSpPr>
        <p:spPr>
          <a:xfrm>
            <a:off x="2600325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1" name="B y label"/>
          <p:cNvSpPr>
            <a:spLocks noGrp="1"/>
          </p:cNvSpPr>
          <p:nvPr/>
        </p:nvSpPr>
        <p:spPr>
          <a:xfrm rot="16200000">
            <a:off x="47625" y="1114425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Speedup (×)</a:t>
            </a:r>
            <a:endParaRPr sz="127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2" name="B x label"/>
          <p:cNvSpPr>
            <a:spLocks noGrp="1"/>
          </p:cNvSpPr>
          <p:nvPr/>
        </p:nvSpPr>
        <p:spPr>
          <a:xfrm>
            <a:off x="981075" y="2428875"/>
            <a:ext cx="14668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3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Cache Interval</a:t>
            </a:r>
            <a:endParaRPr sz="131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3" name="B Show-o2 baseline segment 1"/>
          <p:cNvSpPr>
            <a:spLocks noGrp="1"/>
          </p:cNvSpPr>
          <p:nvPr/>
        </p:nvSpPr>
        <p:spPr>
          <a:xfrm>
            <a:off x="723900" y="2063232"/>
            <a:ext cx="283029" cy="95"/>
          </a:xfrm>
          <a:prstGeom prst="line">
            <a:avLst/>
          </a:prstGeom>
          <a:noFill/>
          <a:ln w="19050">
            <a:solidFill>
              <a:srgbClr val="EAD8AB"/>
            </a:solidFill>
            <a:prstDash val="solid"/>
          </a:ln>
        </p:spPr>
      </p:sp>
      <p:sp>
        <p:nvSpPr>
          <p:cNvPr id="74" name="B Show-o2 baseline segment 2"/>
          <p:cNvSpPr>
            <a:spLocks noGrp="1"/>
          </p:cNvSpPr>
          <p:nvPr/>
        </p:nvSpPr>
        <p:spPr>
          <a:xfrm>
            <a:off x="1006929" y="2063232"/>
            <a:ext cx="283029" cy="95"/>
          </a:xfrm>
          <a:prstGeom prst="line">
            <a:avLst/>
          </a:prstGeom>
          <a:noFill/>
          <a:ln w="19050">
            <a:solidFill>
              <a:srgbClr val="EAD8AB"/>
            </a:solidFill>
            <a:prstDash val="solid"/>
          </a:ln>
        </p:spPr>
      </p:sp>
      <p:sp>
        <p:nvSpPr>
          <p:cNvPr id="75" name="B Show-o2 baseline segment 3"/>
          <p:cNvSpPr>
            <a:spLocks noGrp="1"/>
          </p:cNvSpPr>
          <p:nvPr/>
        </p:nvSpPr>
        <p:spPr>
          <a:xfrm>
            <a:off x="1289957" y="2063232"/>
            <a:ext cx="566057" cy="95"/>
          </a:xfrm>
          <a:prstGeom prst="line">
            <a:avLst/>
          </a:prstGeom>
          <a:noFill/>
          <a:ln w="19050">
            <a:solidFill>
              <a:srgbClr val="EAD8AB"/>
            </a:solidFill>
            <a:prstDash val="solid"/>
          </a:ln>
        </p:spPr>
      </p:sp>
      <p:sp>
        <p:nvSpPr>
          <p:cNvPr id="76" name="B Show-o2 baseline segment 4"/>
          <p:cNvSpPr>
            <a:spLocks noGrp="1"/>
          </p:cNvSpPr>
          <p:nvPr/>
        </p:nvSpPr>
        <p:spPr>
          <a:xfrm>
            <a:off x="1856014" y="2063232"/>
            <a:ext cx="849086" cy="95"/>
          </a:xfrm>
          <a:prstGeom prst="line">
            <a:avLst/>
          </a:prstGeom>
          <a:noFill/>
          <a:ln w="19050">
            <a:solidFill>
              <a:srgbClr val="EAD8AB"/>
            </a:solidFill>
            <a:prstDash val="solid"/>
          </a:ln>
        </p:spPr>
      </p:sp>
      <p:sp>
        <p:nvSpPr>
          <p:cNvPr id="77" name="B DepGraph-U segment 1"/>
          <p:cNvSpPr>
            <a:spLocks noGrp="1"/>
          </p:cNvSpPr>
          <p:nvPr/>
        </p:nvSpPr>
        <p:spPr>
          <a:xfrm flipV="1">
            <a:off x="723900" y="1023144"/>
            <a:ext cx="283029" cy="501839"/>
          </a:xfrm>
          <a:prstGeom prst="line">
            <a:avLst/>
          </a:prstGeom>
          <a:noFill/>
          <a:ln w="30480">
            <a:solidFill>
              <a:srgbClr val="C49332"/>
            </a:solidFill>
            <a:prstDash val="solid"/>
          </a:ln>
        </p:spPr>
      </p:sp>
      <p:sp>
        <p:nvSpPr>
          <p:cNvPr id="78" name="B DepGraph-U segment 2"/>
          <p:cNvSpPr>
            <a:spLocks noGrp="1"/>
          </p:cNvSpPr>
          <p:nvPr/>
        </p:nvSpPr>
        <p:spPr>
          <a:xfrm flipV="1">
            <a:off x="1006929" y="735179"/>
            <a:ext cx="283029" cy="287964"/>
          </a:xfrm>
          <a:prstGeom prst="line">
            <a:avLst/>
          </a:prstGeom>
          <a:noFill/>
          <a:ln w="30480">
            <a:solidFill>
              <a:srgbClr val="C49332"/>
            </a:solidFill>
            <a:prstDash val="solid"/>
          </a:ln>
        </p:spPr>
      </p:sp>
      <p:sp>
        <p:nvSpPr>
          <p:cNvPr id="79" name="B DepGraph-U segment 3"/>
          <p:cNvSpPr>
            <a:spLocks noGrp="1"/>
          </p:cNvSpPr>
          <p:nvPr/>
        </p:nvSpPr>
        <p:spPr>
          <a:xfrm flipV="1">
            <a:off x="1289957" y="513796"/>
            <a:ext cx="566057" cy="221383"/>
          </a:xfrm>
          <a:prstGeom prst="line">
            <a:avLst/>
          </a:prstGeom>
          <a:noFill/>
          <a:ln w="30480">
            <a:solidFill>
              <a:srgbClr val="C49332"/>
            </a:solidFill>
            <a:prstDash val="solid"/>
          </a:ln>
        </p:spPr>
      </p:sp>
      <p:sp>
        <p:nvSpPr>
          <p:cNvPr id="80" name="B DepGraph-U segment 4"/>
          <p:cNvSpPr>
            <a:spLocks noGrp="1"/>
          </p:cNvSpPr>
          <p:nvPr/>
        </p:nvSpPr>
        <p:spPr>
          <a:xfrm>
            <a:off x="1856014" y="513796"/>
            <a:ext cx="849086" cy="8301"/>
          </a:xfrm>
          <a:prstGeom prst="line">
            <a:avLst/>
          </a:prstGeom>
          <a:noFill/>
          <a:ln w="30480">
            <a:solidFill>
              <a:srgbClr val="C49332"/>
            </a:solidFill>
            <a:prstDash val="solid"/>
          </a:ln>
        </p:spPr>
      </p:sp>
      <p:sp>
        <p:nvSpPr>
          <p:cNvPr id="81" name="B Show-o2 marker 0"/>
          <p:cNvSpPr>
            <a:spLocks noGrp="1"/>
          </p:cNvSpPr>
          <p:nvPr/>
        </p:nvSpPr>
        <p:spPr>
          <a:xfrm>
            <a:off x="671512" y="2010844"/>
            <a:ext cx="104775" cy="104775"/>
          </a:xfrm>
          <a:prstGeom prst="rect">
            <a:avLst/>
          </a:prstGeom>
          <a:solidFill>
            <a:srgbClr val="FFFFFF"/>
          </a:solidFill>
          <a:ln w="20955">
            <a:solidFill>
              <a:srgbClr val="EAD8AB"/>
            </a:solidFill>
            <a:prstDash val="solid"/>
          </a:ln>
        </p:spPr>
      </p:sp>
      <p:sp>
        <p:nvSpPr>
          <p:cNvPr id="82" name="B DepGraph-U marker 0"/>
          <p:cNvSpPr>
            <a:spLocks noGrp="1"/>
          </p:cNvSpPr>
          <p:nvPr/>
        </p:nvSpPr>
        <p:spPr>
          <a:xfrm>
            <a:off x="661988" y="1463071"/>
            <a:ext cx="123825" cy="123825"/>
          </a:xfrm>
          <a:prstGeom prst="ellipse">
            <a:avLst/>
          </a:prstGeom>
          <a:solidFill>
            <a:srgbClr val="FFFFFF"/>
          </a:solidFill>
          <a:ln w="24765">
            <a:solidFill>
              <a:srgbClr val="C49332"/>
            </a:solidFill>
            <a:prstDash val="solid"/>
          </a:ln>
        </p:spPr>
      </p:sp>
      <p:sp>
        <p:nvSpPr>
          <p:cNvPr id="83" name="B Show-o2 marker 1"/>
          <p:cNvSpPr>
            <a:spLocks noGrp="1"/>
          </p:cNvSpPr>
          <p:nvPr/>
        </p:nvSpPr>
        <p:spPr>
          <a:xfrm>
            <a:off x="954541" y="2010844"/>
            <a:ext cx="104775" cy="104775"/>
          </a:xfrm>
          <a:prstGeom prst="rect">
            <a:avLst/>
          </a:prstGeom>
          <a:solidFill>
            <a:srgbClr val="FFFFFF"/>
          </a:solidFill>
          <a:ln w="20955">
            <a:solidFill>
              <a:srgbClr val="EAD8AB"/>
            </a:solidFill>
            <a:prstDash val="solid"/>
          </a:ln>
        </p:spPr>
      </p:sp>
      <p:sp>
        <p:nvSpPr>
          <p:cNvPr id="84" name="B DepGraph-U marker 1"/>
          <p:cNvSpPr>
            <a:spLocks noGrp="1"/>
          </p:cNvSpPr>
          <p:nvPr/>
        </p:nvSpPr>
        <p:spPr>
          <a:xfrm>
            <a:off x="945016" y="961231"/>
            <a:ext cx="123825" cy="123825"/>
          </a:xfrm>
          <a:prstGeom prst="ellipse">
            <a:avLst/>
          </a:prstGeom>
          <a:solidFill>
            <a:srgbClr val="FFFFFF"/>
          </a:solidFill>
          <a:ln w="24765">
            <a:solidFill>
              <a:srgbClr val="C49332"/>
            </a:solidFill>
            <a:prstDash val="solid"/>
          </a:ln>
        </p:spPr>
      </p:sp>
      <p:sp>
        <p:nvSpPr>
          <p:cNvPr id="85" name="B Show-o2 marker 2"/>
          <p:cNvSpPr>
            <a:spLocks noGrp="1"/>
          </p:cNvSpPr>
          <p:nvPr/>
        </p:nvSpPr>
        <p:spPr>
          <a:xfrm>
            <a:off x="1237570" y="2010844"/>
            <a:ext cx="104775" cy="104775"/>
          </a:xfrm>
          <a:prstGeom prst="rect">
            <a:avLst/>
          </a:prstGeom>
          <a:solidFill>
            <a:srgbClr val="FFFFFF"/>
          </a:solidFill>
          <a:ln w="20955">
            <a:solidFill>
              <a:srgbClr val="EAD8AB"/>
            </a:solidFill>
            <a:prstDash val="solid"/>
          </a:ln>
        </p:spPr>
      </p:sp>
      <p:sp>
        <p:nvSpPr>
          <p:cNvPr id="86" name="B DepGraph-U marker 2"/>
          <p:cNvSpPr>
            <a:spLocks noGrp="1"/>
          </p:cNvSpPr>
          <p:nvPr/>
        </p:nvSpPr>
        <p:spPr>
          <a:xfrm>
            <a:off x="1228045" y="673267"/>
            <a:ext cx="123825" cy="123825"/>
          </a:xfrm>
          <a:prstGeom prst="ellipse">
            <a:avLst/>
          </a:prstGeom>
          <a:solidFill>
            <a:srgbClr val="FFFFFF"/>
          </a:solidFill>
          <a:ln w="24765">
            <a:solidFill>
              <a:srgbClr val="C49332"/>
            </a:solidFill>
            <a:prstDash val="solid"/>
          </a:ln>
        </p:spPr>
      </p:sp>
      <p:sp>
        <p:nvSpPr>
          <p:cNvPr id="87" name="B Show-o2 marker 3"/>
          <p:cNvSpPr>
            <a:spLocks noGrp="1"/>
          </p:cNvSpPr>
          <p:nvPr/>
        </p:nvSpPr>
        <p:spPr>
          <a:xfrm>
            <a:off x="1803627" y="2010844"/>
            <a:ext cx="104775" cy="104775"/>
          </a:xfrm>
          <a:prstGeom prst="rect">
            <a:avLst/>
          </a:prstGeom>
          <a:solidFill>
            <a:srgbClr val="FFFFFF"/>
          </a:solidFill>
          <a:ln w="20955">
            <a:solidFill>
              <a:srgbClr val="EAD8AB"/>
            </a:solidFill>
            <a:prstDash val="solid"/>
          </a:ln>
        </p:spPr>
      </p:sp>
      <p:sp>
        <p:nvSpPr>
          <p:cNvPr id="88" name="B DepGraph-U marker 3"/>
          <p:cNvSpPr>
            <a:spLocks noGrp="1"/>
          </p:cNvSpPr>
          <p:nvPr/>
        </p:nvSpPr>
        <p:spPr>
          <a:xfrm>
            <a:off x="1794102" y="451883"/>
            <a:ext cx="123825" cy="123825"/>
          </a:xfrm>
          <a:prstGeom prst="ellipse">
            <a:avLst/>
          </a:prstGeom>
          <a:solidFill>
            <a:srgbClr val="FFFFFF"/>
          </a:solidFill>
          <a:ln w="24765">
            <a:solidFill>
              <a:srgbClr val="C49332"/>
            </a:solidFill>
            <a:prstDash val="solid"/>
          </a:ln>
        </p:spPr>
      </p:sp>
      <p:sp>
        <p:nvSpPr>
          <p:cNvPr id="89" name="B Show-o2 marker 4"/>
          <p:cNvSpPr>
            <a:spLocks noGrp="1"/>
          </p:cNvSpPr>
          <p:nvPr/>
        </p:nvSpPr>
        <p:spPr>
          <a:xfrm>
            <a:off x="2652712" y="2010844"/>
            <a:ext cx="104775" cy="104775"/>
          </a:xfrm>
          <a:prstGeom prst="rect">
            <a:avLst/>
          </a:prstGeom>
          <a:solidFill>
            <a:srgbClr val="FFFFFF"/>
          </a:solidFill>
          <a:ln w="20955">
            <a:solidFill>
              <a:srgbClr val="EAD8AB"/>
            </a:solidFill>
            <a:prstDash val="solid"/>
          </a:ln>
        </p:spPr>
      </p:sp>
      <p:sp>
        <p:nvSpPr>
          <p:cNvPr id="90" name="B DepGraph-U marker 4"/>
          <p:cNvSpPr>
            <a:spLocks noGrp="1"/>
          </p:cNvSpPr>
          <p:nvPr/>
        </p:nvSpPr>
        <p:spPr>
          <a:xfrm>
            <a:off x="2643188" y="460185"/>
            <a:ext cx="123825" cy="123825"/>
          </a:xfrm>
          <a:prstGeom prst="ellipse">
            <a:avLst/>
          </a:prstGeom>
          <a:solidFill>
            <a:srgbClr val="FFFFFF"/>
          </a:solidFill>
          <a:ln w="24765">
            <a:solidFill>
              <a:srgbClr val="C49332"/>
            </a:solidFill>
            <a:prstDash val="solid"/>
          </a:ln>
        </p:spPr>
      </p:sp>
      <p:sp>
        <p:nvSpPr>
          <p:cNvPr id="91" name="B legend shadow"/>
          <p:cNvSpPr>
            <a:spLocks noGrp="1"/>
          </p:cNvSpPr>
          <p:nvPr/>
        </p:nvSpPr>
        <p:spPr>
          <a:xfrm>
            <a:off x="1304925" y="1304925"/>
            <a:ext cx="1381125" cy="552450"/>
          </a:xfrm>
          <a:prstGeom prst="roundRect">
            <a:avLst>
              <a:gd name="adj" fmla="val 13793"/>
            </a:avLst>
          </a:prstGeom>
          <a:solidFill>
            <a:srgbClr val="C5C5C5"/>
          </a:solidFill>
          <a:ln w="0">
            <a:noFill/>
          </a:ln>
        </p:spPr>
      </p:sp>
      <p:sp>
        <p:nvSpPr>
          <p:cNvPr id="92" name="B legend box"/>
          <p:cNvSpPr>
            <a:spLocks noGrp="1"/>
          </p:cNvSpPr>
          <p:nvPr/>
        </p:nvSpPr>
        <p:spPr>
          <a:xfrm>
            <a:off x="1276350" y="1276350"/>
            <a:ext cx="1381125" cy="552450"/>
          </a:xfrm>
          <a:prstGeom prst="roundRect">
            <a:avLst>
              <a:gd name="adj" fmla="val 13793"/>
            </a:avLst>
          </a:prstGeom>
          <a:solidFill>
            <a:srgbClr val="F3F3F3"/>
          </a:solidFill>
          <a:ln w="8573">
            <a:solidFill>
              <a:srgbClr val="8A8A8A"/>
            </a:solidFill>
            <a:prstDash val="solid"/>
          </a:ln>
        </p:spPr>
      </p:sp>
      <p:sp>
        <p:nvSpPr>
          <p:cNvPr id="93" name="B legend Show-o2 sample"/>
          <p:cNvSpPr>
            <a:spLocks noGrp="1"/>
          </p:cNvSpPr>
          <p:nvPr/>
        </p:nvSpPr>
        <p:spPr>
          <a:xfrm>
            <a:off x="1381125" y="1428750"/>
            <a:ext cx="342900" cy="95"/>
          </a:xfrm>
          <a:prstGeom prst="line">
            <a:avLst/>
          </a:prstGeom>
          <a:noFill/>
          <a:ln w="28575">
            <a:solidFill>
              <a:srgbClr val="EAD8AB"/>
            </a:solidFill>
            <a:prstDash val="solid"/>
          </a:ln>
        </p:spPr>
      </p:sp>
      <p:sp>
        <p:nvSpPr>
          <p:cNvPr id="94" name="B legend Show-o2 marker"/>
          <p:cNvSpPr>
            <a:spLocks noGrp="1"/>
          </p:cNvSpPr>
          <p:nvPr/>
        </p:nvSpPr>
        <p:spPr>
          <a:xfrm>
            <a:off x="1500188" y="1376363"/>
            <a:ext cx="104775" cy="104775"/>
          </a:xfrm>
          <a:prstGeom prst="rect">
            <a:avLst/>
          </a:prstGeom>
          <a:solidFill>
            <a:srgbClr val="FFFFFF"/>
          </a:solidFill>
          <a:ln w="20955">
            <a:solidFill>
              <a:srgbClr val="EAD8AB"/>
            </a:solidFill>
            <a:prstDash val="solid"/>
          </a:ln>
        </p:spPr>
      </p:sp>
      <p:sp>
        <p:nvSpPr>
          <p:cNvPr id="95" name="B legend Show-o2 label"/>
          <p:cNvSpPr>
            <a:spLocks noGrp="1"/>
          </p:cNvSpPr>
          <p:nvPr/>
        </p:nvSpPr>
        <p:spPr>
          <a:xfrm>
            <a:off x="1781175" y="132397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Show-o2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6" name="B legend DepGraph-U sample"/>
          <p:cNvSpPr>
            <a:spLocks noGrp="1"/>
          </p:cNvSpPr>
          <p:nvPr/>
        </p:nvSpPr>
        <p:spPr>
          <a:xfrm>
            <a:off x="1381125" y="1638300"/>
            <a:ext cx="342900" cy="95"/>
          </a:xfrm>
          <a:prstGeom prst="line">
            <a:avLst/>
          </a:prstGeom>
          <a:noFill/>
          <a:ln w="28575">
            <a:solidFill>
              <a:srgbClr val="C49332"/>
            </a:solidFill>
            <a:prstDash val="solid"/>
          </a:ln>
        </p:spPr>
      </p:sp>
      <p:sp>
        <p:nvSpPr>
          <p:cNvPr id="97" name="B legend DepGraph-U marker"/>
          <p:cNvSpPr>
            <a:spLocks noGrp="1"/>
          </p:cNvSpPr>
          <p:nvPr/>
        </p:nvSpPr>
        <p:spPr>
          <a:xfrm>
            <a:off x="1500188" y="1585913"/>
            <a:ext cx="104775" cy="104775"/>
          </a:xfrm>
          <a:prstGeom prst="ellipse">
            <a:avLst/>
          </a:prstGeom>
          <a:solidFill>
            <a:srgbClr val="FFFFFF"/>
          </a:solidFill>
          <a:ln w="20955">
            <a:solidFill>
              <a:srgbClr val="C49332"/>
            </a:solidFill>
            <a:prstDash val="solid"/>
          </a:ln>
        </p:spPr>
      </p:sp>
      <p:sp>
        <p:nvSpPr>
          <p:cNvPr id="98" name="B legend DepGraph-U label"/>
          <p:cNvSpPr>
            <a:spLocks noGrp="1"/>
          </p:cNvSpPr>
          <p:nvPr/>
        </p:nvSpPr>
        <p:spPr>
          <a:xfrm>
            <a:off x="1781175" y="1533525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DepGraph-U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9" name="C plot background"/>
          <p:cNvSpPr>
            <a:spLocks noGrp="1"/>
          </p:cNvSpPr>
          <p:nvPr/>
        </p:nvSpPr>
        <p:spPr>
          <a:xfrm>
            <a:off x="3486150" y="409575"/>
            <a:ext cx="2076450" cy="1724025"/>
          </a:xfrm>
          <a:prstGeom prst="rect">
            <a:avLst/>
          </a:prstGeom>
          <a:solidFill>
            <a:srgbClr val="FCFCFC"/>
          </a:solidFill>
          <a:ln w="11906">
            <a:solidFill>
              <a:srgbClr val="000000"/>
            </a:solidFill>
            <a:prstDash val="solid"/>
          </a:ln>
        </p:spPr>
      </p:sp>
      <p:sp>
        <p:nvSpPr>
          <p:cNvPr id="100" name="C horizontal grid 0.68"/>
          <p:cNvSpPr>
            <a:spLocks noGrp="1"/>
          </p:cNvSpPr>
          <p:nvPr/>
        </p:nvSpPr>
        <p:spPr>
          <a:xfrm>
            <a:off x="3486150" y="2133600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01" name="C horizontal grid 0.7"/>
          <p:cNvSpPr>
            <a:spLocks noGrp="1"/>
          </p:cNvSpPr>
          <p:nvPr/>
        </p:nvSpPr>
        <p:spPr>
          <a:xfrm>
            <a:off x="3486150" y="1702594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02" name="C horizontal grid 0.72"/>
          <p:cNvSpPr>
            <a:spLocks noGrp="1"/>
          </p:cNvSpPr>
          <p:nvPr/>
        </p:nvSpPr>
        <p:spPr>
          <a:xfrm>
            <a:off x="3486150" y="1271588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03" name="C horizontal grid 0.74"/>
          <p:cNvSpPr>
            <a:spLocks noGrp="1"/>
          </p:cNvSpPr>
          <p:nvPr/>
        </p:nvSpPr>
        <p:spPr>
          <a:xfrm>
            <a:off x="3486150" y="840581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04" name="C horizontal grid 0.76"/>
          <p:cNvSpPr>
            <a:spLocks noGrp="1"/>
          </p:cNvSpPr>
          <p:nvPr/>
        </p:nvSpPr>
        <p:spPr>
          <a:xfrm>
            <a:off x="3486150" y="409575"/>
            <a:ext cx="2076450" cy="9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05" name="C vertical grid 1"/>
          <p:cNvSpPr>
            <a:spLocks noGrp="1"/>
          </p:cNvSpPr>
          <p:nvPr/>
        </p:nvSpPr>
        <p:spPr>
          <a:xfrm>
            <a:off x="3533775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06" name="C vertical grid 2"/>
          <p:cNvSpPr>
            <a:spLocks noGrp="1"/>
          </p:cNvSpPr>
          <p:nvPr/>
        </p:nvSpPr>
        <p:spPr>
          <a:xfrm>
            <a:off x="3816804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07" name="C vertical grid 3"/>
          <p:cNvSpPr>
            <a:spLocks noGrp="1"/>
          </p:cNvSpPr>
          <p:nvPr/>
        </p:nvSpPr>
        <p:spPr>
          <a:xfrm>
            <a:off x="4099832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08" name="C vertical grid 5"/>
          <p:cNvSpPr>
            <a:spLocks noGrp="1"/>
          </p:cNvSpPr>
          <p:nvPr/>
        </p:nvSpPr>
        <p:spPr>
          <a:xfrm>
            <a:off x="4665889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09" name="C vertical grid 8"/>
          <p:cNvSpPr>
            <a:spLocks noGrp="1"/>
          </p:cNvSpPr>
          <p:nvPr/>
        </p:nvSpPr>
        <p:spPr>
          <a:xfrm>
            <a:off x="5514975" y="409575"/>
            <a:ext cx="95" cy="1724025"/>
          </a:xfrm>
          <a:prstGeom prst="line">
            <a:avLst/>
          </a:prstGeom>
          <a:noFill/>
          <a:ln w="9049">
            <a:solidFill>
              <a:srgbClr val="D3D3D3"/>
            </a:solidFill>
            <a:prstDash val="dash"/>
          </a:ln>
        </p:spPr>
      </p:sp>
      <p:sp>
        <p:nvSpPr>
          <p:cNvPr id="110" name="C y tick 0.68"/>
          <p:cNvSpPr>
            <a:spLocks noGrp="1"/>
          </p:cNvSpPr>
          <p:nvPr/>
        </p:nvSpPr>
        <p:spPr>
          <a:xfrm>
            <a:off x="3295650" y="2047875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0.60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1" name="C y tick 0.7"/>
          <p:cNvSpPr>
            <a:spLocks noGrp="1"/>
          </p:cNvSpPr>
          <p:nvPr/>
        </p:nvSpPr>
        <p:spPr>
          <a:xfrm>
            <a:off x="3295650" y="1616869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0.65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2" name="C y tick 0.72"/>
          <p:cNvSpPr>
            <a:spLocks noGrp="1"/>
          </p:cNvSpPr>
          <p:nvPr/>
        </p:nvSpPr>
        <p:spPr>
          <a:xfrm>
            <a:off x="3295650" y="1185862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0.70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3" name="C y tick 0.74"/>
          <p:cNvSpPr>
            <a:spLocks noGrp="1"/>
          </p:cNvSpPr>
          <p:nvPr/>
        </p:nvSpPr>
        <p:spPr>
          <a:xfrm>
            <a:off x="3295650" y="754856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0.75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4" name="C y tick 0.76"/>
          <p:cNvSpPr>
            <a:spLocks noGrp="1"/>
          </p:cNvSpPr>
          <p:nvPr/>
        </p:nvSpPr>
        <p:spPr>
          <a:xfrm>
            <a:off x="3295650" y="323850"/>
            <a:ext cx="171450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0.80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5" name="C x tick 1"/>
          <p:cNvSpPr>
            <a:spLocks noGrp="1"/>
          </p:cNvSpPr>
          <p:nvPr/>
        </p:nvSpPr>
        <p:spPr>
          <a:xfrm>
            <a:off x="3429000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6" name="C x tick 2"/>
          <p:cNvSpPr>
            <a:spLocks noGrp="1"/>
          </p:cNvSpPr>
          <p:nvPr/>
        </p:nvSpPr>
        <p:spPr>
          <a:xfrm>
            <a:off x="3712029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7" name="C x tick 3"/>
          <p:cNvSpPr>
            <a:spLocks noGrp="1"/>
          </p:cNvSpPr>
          <p:nvPr/>
        </p:nvSpPr>
        <p:spPr>
          <a:xfrm>
            <a:off x="3995057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8" name="C x tick 5"/>
          <p:cNvSpPr>
            <a:spLocks noGrp="1"/>
          </p:cNvSpPr>
          <p:nvPr/>
        </p:nvSpPr>
        <p:spPr>
          <a:xfrm>
            <a:off x="4561114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9" name="C x tick 8"/>
          <p:cNvSpPr>
            <a:spLocks noGrp="1"/>
          </p:cNvSpPr>
          <p:nvPr/>
        </p:nvSpPr>
        <p:spPr>
          <a:xfrm>
            <a:off x="5410200" y="2152650"/>
            <a:ext cx="209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0" name="C y label"/>
          <p:cNvSpPr>
            <a:spLocks noGrp="1"/>
          </p:cNvSpPr>
          <p:nvPr/>
        </p:nvSpPr>
        <p:spPr>
          <a:xfrm rot="16200000">
            <a:off x="2857500" y="1114425"/>
            <a:ext cx="428625" cy="171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2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Subset score</a:t>
            </a:r>
            <a:endParaRPr sz="127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1" name="C x label"/>
          <p:cNvSpPr>
            <a:spLocks noGrp="1"/>
          </p:cNvSpPr>
          <p:nvPr/>
        </p:nvSpPr>
        <p:spPr>
          <a:xfrm>
            <a:off x="3790950" y="2428875"/>
            <a:ext cx="146685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  <a:defRPr sz="13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Cache Interval</a:t>
            </a:r>
            <a:endParaRPr sz="131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3" name="C native error 0"/>
          <p:cNvSpPr>
            <a:spLocks noGrp="1"/>
          </p:cNvSpPr>
          <p:nvPr/>
        </p:nvSpPr>
        <p:spPr>
          <a:xfrm>
            <a:off x="3533775" y="532737"/>
            <a:ext cx="95" cy="663578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64" name="C native error top 0"/>
          <p:cNvSpPr>
            <a:spLocks noGrp="1"/>
          </p:cNvSpPr>
          <p:nvPr/>
        </p:nvSpPr>
        <p:spPr>
          <a:xfrm>
            <a:off x="3486150" y="532737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65" name="C native error bottom 0"/>
          <p:cNvSpPr>
            <a:spLocks noGrp="1"/>
          </p:cNvSpPr>
          <p:nvPr/>
        </p:nvSpPr>
        <p:spPr>
          <a:xfrm>
            <a:off x="3486150" y="1196315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66" name="C native error 1"/>
          <p:cNvSpPr>
            <a:spLocks noGrp="1"/>
          </p:cNvSpPr>
          <p:nvPr/>
        </p:nvSpPr>
        <p:spPr>
          <a:xfrm>
            <a:off x="3816804" y="532737"/>
            <a:ext cx="95" cy="663578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67" name="C native error top 1"/>
          <p:cNvSpPr>
            <a:spLocks noGrp="1"/>
          </p:cNvSpPr>
          <p:nvPr/>
        </p:nvSpPr>
        <p:spPr>
          <a:xfrm>
            <a:off x="3769179" y="532737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68" name="C native error bottom 1"/>
          <p:cNvSpPr>
            <a:spLocks noGrp="1"/>
          </p:cNvSpPr>
          <p:nvPr/>
        </p:nvSpPr>
        <p:spPr>
          <a:xfrm>
            <a:off x="3769179" y="1196315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69" name="C native error 2"/>
          <p:cNvSpPr>
            <a:spLocks noGrp="1"/>
          </p:cNvSpPr>
          <p:nvPr/>
        </p:nvSpPr>
        <p:spPr>
          <a:xfrm>
            <a:off x="4099832" y="532737"/>
            <a:ext cx="95" cy="663578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70" name="C native error top 2"/>
          <p:cNvSpPr>
            <a:spLocks noGrp="1"/>
          </p:cNvSpPr>
          <p:nvPr/>
        </p:nvSpPr>
        <p:spPr>
          <a:xfrm>
            <a:off x="4052207" y="532737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71" name="C native error bottom 2"/>
          <p:cNvSpPr>
            <a:spLocks noGrp="1"/>
          </p:cNvSpPr>
          <p:nvPr/>
        </p:nvSpPr>
        <p:spPr>
          <a:xfrm>
            <a:off x="4052207" y="1196315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72" name="C native error 3"/>
          <p:cNvSpPr>
            <a:spLocks noGrp="1"/>
          </p:cNvSpPr>
          <p:nvPr/>
        </p:nvSpPr>
        <p:spPr>
          <a:xfrm>
            <a:off x="4665889" y="532737"/>
            <a:ext cx="95" cy="663578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73" name="C native error top 3"/>
          <p:cNvSpPr>
            <a:spLocks noGrp="1"/>
          </p:cNvSpPr>
          <p:nvPr/>
        </p:nvSpPr>
        <p:spPr>
          <a:xfrm>
            <a:off x="4618264" y="532737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74" name="C native error bottom 3"/>
          <p:cNvSpPr>
            <a:spLocks noGrp="1"/>
          </p:cNvSpPr>
          <p:nvPr/>
        </p:nvSpPr>
        <p:spPr>
          <a:xfrm>
            <a:off x="4618264" y="1196315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75" name="C native error 4"/>
          <p:cNvSpPr>
            <a:spLocks noGrp="1"/>
          </p:cNvSpPr>
          <p:nvPr/>
        </p:nvSpPr>
        <p:spPr>
          <a:xfrm>
            <a:off x="5514975" y="532737"/>
            <a:ext cx="95" cy="663578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76" name="C native error top 4"/>
          <p:cNvSpPr>
            <a:spLocks noGrp="1"/>
          </p:cNvSpPr>
          <p:nvPr/>
        </p:nvSpPr>
        <p:spPr>
          <a:xfrm>
            <a:off x="5467350" y="532737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77" name="C native error bottom 4"/>
          <p:cNvSpPr>
            <a:spLocks noGrp="1"/>
          </p:cNvSpPr>
          <p:nvPr/>
        </p:nvSpPr>
        <p:spPr>
          <a:xfrm>
            <a:off x="5467350" y="1196315"/>
            <a:ext cx="95250" cy="95"/>
          </a:xfrm>
          <a:prstGeom prst="line">
            <a:avLst/>
          </a:prstGeom>
          <a:noFill/>
          <a:ln w="11906">
            <a:solidFill>
              <a:srgbClr val="8BD2CC"/>
            </a:solidFill>
            <a:prstDash val="solid"/>
          </a:ln>
        </p:spPr>
      </p:sp>
      <p:sp>
        <p:nvSpPr>
          <p:cNvPr id="122" name="C error 0"/>
          <p:cNvSpPr>
            <a:spLocks noGrp="1"/>
          </p:cNvSpPr>
          <p:nvPr/>
        </p:nvSpPr>
        <p:spPr>
          <a:xfrm>
            <a:off x="3533775" y="1003498"/>
            <a:ext cx="95" cy="248842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23" name="C error top 0"/>
          <p:cNvSpPr>
            <a:spLocks noGrp="1"/>
          </p:cNvSpPr>
          <p:nvPr/>
        </p:nvSpPr>
        <p:spPr>
          <a:xfrm>
            <a:off x="3486150" y="1003498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24" name="C error bottom 0"/>
          <p:cNvSpPr>
            <a:spLocks noGrp="1"/>
          </p:cNvSpPr>
          <p:nvPr/>
        </p:nvSpPr>
        <p:spPr>
          <a:xfrm>
            <a:off x="3486150" y="1252340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25" name="C error 1"/>
          <p:cNvSpPr>
            <a:spLocks noGrp="1"/>
          </p:cNvSpPr>
          <p:nvPr/>
        </p:nvSpPr>
        <p:spPr>
          <a:xfrm>
            <a:off x="3816804" y="954439"/>
            <a:ext cx="95" cy="299070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26" name="C error top 1"/>
          <p:cNvSpPr>
            <a:spLocks noGrp="1"/>
          </p:cNvSpPr>
          <p:nvPr/>
        </p:nvSpPr>
        <p:spPr>
          <a:xfrm>
            <a:off x="3769179" y="954439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27" name="C error bottom 1"/>
          <p:cNvSpPr>
            <a:spLocks noGrp="1"/>
          </p:cNvSpPr>
          <p:nvPr/>
        </p:nvSpPr>
        <p:spPr>
          <a:xfrm>
            <a:off x="3769179" y="1253509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28" name="C error 2"/>
          <p:cNvSpPr>
            <a:spLocks noGrp="1"/>
          </p:cNvSpPr>
          <p:nvPr/>
        </p:nvSpPr>
        <p:spPr>
          <a:xfrm>
            <a:off x="4099832" y="852793"/>
            <a:ext cx="95" cy="598141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29" name="C error top 2"/>
          <p:cNvSpPr>
            <a:spLocks noGrp="1"/>
          </p:cNvSpPr>
          <p:nvPr/>
        </p:nvSpPr>
        <p:spPr>
          <a:xfrm>
            <a:off x="4052207" y="852793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30" name="C error bottom 2"/>
          <p:cNvSpPr>
            <a:spLocks noGrp="1"/>
          </p:cNvSpPr>
          <p:nvPr/>
        </p:nvSpPr>
        <p:spPr>
          <a:xfrm>
            <a:off x="4052207" y="1450934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31" name="C error 3"/>
          <p:cNvSpPr>
            <a:spLocks noGrp="1"/>
          </p:cNvSpPr>
          <p:nvPr/>
        </p:nvSpPr>
        <p:spPr>
          <a:xfrm>
            <a:off x="4665889" y="882604"/>
            <a:ext cx="95" cy="299070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32" name="C error top 3"/>
          <p:cNvSpPr>
            <a:spLocks noGrp="1"/>
          </p:cNvSpPr>
          <p:nvPr/>
        </p:nvSpPr>
        <p:spPr>
          <a:xfrm>
            <a:off x="4618264" y="882604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33" name="C error bottom 3"/>
          <p:cNvSpPr>
            <a:spLocks noGrp="1"/>
          </p:cNvSpPr>
          <p:nvPr/>
        </p:nvSpPr>
        <p:spPr>
          <a:xfrm>
            <a:off x="4618264" y="1181675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34" name="C error 4"/>
          <p:cNvSpPr>
            <a:spLocks noGrp="1"/>
          </p:cNvSpPr>
          <p:nvPr/>
        </p:nvSpPr>
        <p:spPr>
          <a:xfrm>
            <a:off x="5514975" y="868916"/>
            <a:ext cx="95" cy="51800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35" name="C error top 4"/>
          <p:cNvSpPr>
            <a:spLocks noGrp="1"/>
          </p:cNvSpPr>
          <p:nvPr/>
        </p:nvSpPr>
        <p:spPr>
          <a:xfrm>
            <a:off x="5467350" y="868916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36" name="C error bottom 4"/>
          <p:cNvSpPr>
            <a:spLocks noGrp="1"/>
          </p:cNvSpPr>
          <p:nvPr/>
        </p:nvSpPr>
        <p:spPr>
          <a:xfrm>
            <a:off x="5467350" y="1386921"/>
            <a:ext cx="95250" cy="95"/>
          </a:xfrm>
          <a:prstGeom prst="line">
            <a:avLst/>
          </a:prstGeom>
          <a:noFill/>
          <a:ln w="11906">
            <a:solidFill>
              <a:srgbClr val="009F98"/>
            </a:solidFill>
            <a:prstDash val="solid"/>
          </a:ln>
        </p:spPr>
      </p:sp>
      <p:sp>
        <p:nvSpPr>
          <p:cNvPr id="137" name="C Show-o2 segment 1"/>
          <p:cNvSpPr>
            <a:spLocks noGrp="1"/>
          </p:cNvSpPr>
          <p:nvPr/>
        </p:nvSpPr>
        <p:spPr>
          <a:xfrm>
            <a:off x="3533775" y="864526"/>
            <a:ext cx="283029" cy="95"/>
          </a:xfrm>
          <a:prstGeom prst="line">
            <a:avLst/>
          </a:prstGeom>
          <a:noFill/>
          <a:ln w="45720">
            <a:solidFill>
              <a:srgbClr val="8BD2CC"/>
            </a:solidFill>
            <a:prstDash val="solid"/>
          </a:ln>
        </p:spPr>
      </p:sp>
      <p:sp>
        <p:nvSpPr>
          <p:cNvPr id="138" name="C Show-o2 segment 2"/>
          <p:cNvSpPr>
            <a:spLocks noGrp="1"/>
          </p:cNvSpPr>
          <p:nvPr/>
        </p:nvSpPr>
        <p:spPr>
          <a:xfrm>
            <a:off x="3816804" y="864526"/>
            <a:ext cx="283029" cy="95"/>
          </a:xfrm>
          <a:prstGeom prst="line">
            <a:avLst/>
          </a:prstGeom>
          <a:noFill/>
          <a:ln w="45720">
            <a:solidFill>
              <a:srgbClr val="8BD2CC"/>
            </a:solidFill>
            <a:prstDash val="solid"/>
          </a:ln>
        </p:spPr>
      </p:sp>
      <p:sp>
        <p:nvSpPr>
          <p:cNvPr id="139" name="C Show-o2 segment 3"/>
          <p:cNvSpPr>
            <a:spLocks noGrp="1"/>
          </p:cNvSpPr>
          <p:nvPr/>
        </p:nvSpPr>
        <p:spPr>
          <a:xfrm>
            <a:off x="4099832" y="864526"/>
            <a:ext cx="566057" cy="95"/>
          </a:xfrm>
          <a:prstGeom prst="line">
            <a:avLst/>
          </a:prstGeom>
          <a:noFill/>
          <a:ln w="45720">
            <a:solidFill>
              <a:srgbClr val="8BD2CC"/>
            </a:solidFill>
            <a:prstDash val="solid"/>
          </a:ln>
        </p:spPr>
      </p:sp>
      <p:sp>
        <p:nvSpPr>
          <p:cNvPr id="140" name="C Show-o2 segment 4"/>
          <p:cNvSpPr>
            <a:spLocks noGrp="1"/>
          </p:cNvSpPr>
          <p:nvPr/>
        </p:nvSpPr>
        <p:spPr>
          <a:xfrm>
            <a:off x="4665889" y="864526"/>
            <a:ext cx="849086" cy="95"/>
          </a:xfrm>
          <a:prstGeom prst="line">
            <a:avLst/>
          </a:prstGeom>
          <a:noFill/>
          <a:ln w="45720">
            <a:solidFill>
              <a:srgbClr val="8BD2CC"/>
            </a:solidFill>
            <a:prstDash val="solid"/>
          </a:ln>
        </p:spPr>
      </p:sp>
      <p:sp>
        <p:nvSpPr>
          <p:cNvPr id="141" name="C DepGraph-U segment 1"/>
          <p:cNvSpPr>
            <a:spLocks noGrp="1"/>
          </p:cNvSpPr>
          <p:nvPr/>
        </p:nvSpPr>
        <p:spPr>
          <a:xfrm flipV="1">
            <a:off x="3533775" y="1103974"/>
            <a:ext cx="283029" cy="23945"/>
          </a:xfrm>
          <a:prstGeom prst="line">
            <a:avLst/>
          </a:prstGeom>
          <a:noFill/>
          <a:ln w="26670">
            <a:solidFill>
              <a:srgbClr val="05A096"/>
            </a:solidFill>
            <a:prstDash val="solid"/>
          </a:ln>
        </p:spPr>
      </p:sp>
      <p:sp>
        <p:nvSpPr>
          <p:cNvPr id="142" name="C DepGraph-U segment 2"/>
          <p:cNvSpPr>
            <a:spLocks noGrp="1"/>
          </p:cNvSpPr>
          <p:nvPr/>
        </p:nvSpPr>
        <p:spPr>
          <a:xfrm>
            <a:off x="3816804" y="1103974"/>
            <a:ext cx="283029" cy="47890"/>
          </a:xfrm>
          <a:prstGeom prst="line">
            <a:avLst/>
          </a:prstGeom>
          <a:noFill/>
          <a:ln w="26670">
            <a:solidFill>
              <a:srgbClr val="05A096"/>
            </a:solidFill>
            <a:prstDash val="solid"/>
          </a:ln>
        </p:spPr>
      </p:sp>
      <p:sp>
        <p:nvSpPr>
          <p:cNvPr id="143" name="C DepGraph-U segment 3"/>
          <p:cNvSpPr>
            <a:spLocks noGrp="1"/>
          </p:cNvSpPr>
          <p:nvPr/>
        </p:nvSpPr>
        <p:spPr>
          <a:xfrm flipV="1">
            <a:off x="4099832" y="1032140"/>
            <a:ext cx="566057" cy="119724"/>
          </a:xfrm>
          <a:prstGeom prst="line">
            <a:avLst/>
          </a:prstGeom>
          <a:noFill/>
          <a:ln w="26670">
            <a:solidFill>
              <a:srgbClr val="05A096"/>
            </a:solidFill>
            <a:prstDash val="solid"/>
          </a:ln>
        </p:spPr>
      </p:sp>
      <p:sp>
        <p:nvSpPr>
          <p:cNvPr id="144" name="C DepGraph-U segment 4"/>
          <p:cNvSpPr>
            <a:spLocks noGrp="1"/>
          </p:cNvSpPr>
          <p:nvPr/>
        </p:nvSpPr>
        <p:spPr>
          <a:xfrm>
            <a:off x="4665889" y="1032140"/>
            <a:ext cx="849086" cy="95779"/>
          </a:xfrm>
          <a:prstGeom prst="line">
            <a:avLst/>
          </a:prstGeom>
          <a:noFill/>
          <a:ln w="26670">
            <a:solidFill>
              <a:srgbClr val="05A096"/>
            </a:solidFill>
            <a:prstDash val="solid"/>
          </a:ln>
        </p:spPr>
      </p:sp>
      <p:sp>
        <p:nvSpPr>
          <p:cNvPr id="145" name="C Show-o2 marker 0"/>
          <p:cNvSpPr>
            <a:spLocks noGrp="1"/>
          </p:cNvSpPr>
          <p:nvPr/>
        </p:nvSpPr>
        <p:spPr>
          <a:xfrm>
            <a:off x="3462338" y="793089"/>
            <a:ext cx="142875" cy="142875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BD2CC"/>
            </a:solidFill>
            <a:prstDash val="solid"/>
          </a:ln>
        </p:spPr>
      </p:sp>
      <p:sp>
        <p:nvSpPr>
          <p:cNvPr id="146" name="C DepGraph-U marker 0"/>
          <p:cNvSpPr>
            <a:spLocks noGrp="1"/>
          </p:cNvSpPr>
          <p:nvPr/>
        </p:nvSpPr>
        <p:spPr>
          <a:xfrm>
            <a:off x="3490912" y="1085056"/>
            <a:ext cx="85725" cy="85725"/>
          </a:xfrm>
          <a:prstGeom prst="diamond">
            <a:avLst/>
          </a:prstGeom>
          <a:solidFill>
            <a:srgbClr val="FFFFFF"/>
          </a:solidFill>
          <a:ln w="20955">
            <a:solidFill>
              <a:srgbClr val="05A096"/>
            </a:solidFill>
            <a:prstDash val="solid"/>
          </a:ln>
        </p:spPr>
      </p:sp>
      <p:sp>
        <p:nvSpPr>
          <p:cNvPr id="147" name="C Show-o2 marker 1"/>
          <p:cNvSpPr>
            <a:spLocks noGrp="1"/>
          </p:cNvSpPr>
          <p:nvPr/>
        </p:nvSpPr>
        <p:spPr>
          <a:xfrm>
            <a:off x="3745366" y="793089"/>
            <a:ext cx="142875" cy="142875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BD2CC"/>
            </a:solidFill>
            <a:prstDash val="solid"/>
          </a:ln>
        </p:spPr>
      </p:sp>
      <p:sp>
        <p:nvSpPr>
          <p:cNvPr id="148" name="C DepGraph-U marker 1"/>
          <p:cNvSpPr>
            <a:spLocks noGrp="1"/>
          </p:cNvSpPr>
          <p:nvPr/>
        </p:nvSpPr>
        <p:spPr>
          <a:xfrm>
            <a:off x="3773941" y="1061111"/>
            <a:ext cx="85725" cy="85725"/>
          </a:xfrm>
          <a:prstGeom prst="diamond">
            <a:avLst/>
          </a:prstGeom>
          <a:solidFill>
            <a:srgbClr val="FFFFFF"/>
          </a:solidFill>
          <a:ln w="20955">
            <a:solidFill>
              <a:srgbClr val="05A096"/>
            </a:solidFill>
            <a:prstDash val="solid"/>
          </a:ln>
        </p:spPr>
      </p:sp>
      <p:sp>
        <p:nvSpPr>
          <p:cNvPr id="149" name="C Show-o2 marker 2"/>
          <p:cNvSpPr>
            <a:spLocks noGrp="1"/>
          </p:cNvSpPr>
          <p:nvPr/>
        </p:nvSpPr>
        <p:spPr>
          <a:xfrm>
            <a:off x="4028395" y="793089"/>
            <a:ext cx="142875" cy="142875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BD2CC"/>
            </a:solidFill>
            <a:prstDash val="solid"/>
          </a:ln>
        </p:spPr>
      </p:sp>
      <p:sp>
        <p:nvSpPr>
          <p:cNvPr id="150" name="C DepGraph-U marker 2"/>
          <p:cNvSpPr>
            <a:spLocks noGrp="1"/>
          </p:cNvSpPr>
          <p:nvPr/>
        </p:nvSpPr>
        <p:spPr>
          <a:xfrm>
            <a:off x="4056970" y="1109001"/>
            <a:ext cx="85725" cy="85725"/>
          </a:xfrm>
          <a:prstGeom prst="diamond">
            <a:avLst/>
          </a:prstGeom>
          <a:solidFill>
            <a:srgbClr val="FFFFFF"/>
          </a:solidFill>
          <a:ln w="20955">
            <a:solidFill>
              <a:srgbClr val="05A096"/>
            </a:solidFill>
            <a:prstDash val="solid"/>
          </a:ln>
        </p:spPr>
      </p:sp>
      <p:sp>
        <p:nvSpPr>
          <p:cNvPr id="151" name="C Show-o2 marker 3"/>
          <p:cNvSpPr>
            <a:spLocks noGrp="1"/>
          </p:cNvSpPr>
          <p:nvPr/>
        </p:nvSpPr>
        <p:spPr>
          <a:xfrm>
            <a:off x="4594452" y="793089"/>
            <a:ext cx="142875" cy="142875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BD2CC"/>
            </a:solidFill>
            <a:prstDash val="solid"/>
          </a:ln>
        </p:spPr>
      </p:sp>
      <p:sp>
        <p:nvSpPr>
          <p:cNvPr id="152" name="C DepGraph-U marker 3"/>
          <p:cNvSpPr>
            <a:spLocks noGrp="1"/>
          </p:cNvSpPr>
          <p:nvPr/>
        </p:nvSpPr>
        <p:spPr>
          <a:xfrm>
            <a:off x="4623027" y="989277"/>
            <a:ext cx="85725" cy="85725"/>
          </a:xfrm>
          <a:prstGeom prst="diamond">
            <a:avLst/>
          </a:prstGeom>
          <a:solidFill>
            <a:srgbClr val="FFFFFF"/>
          </a:solidFill>
          <a:ln w="20955">
            <a:solidFill>
              <a:srgbClr val="05A096"/>
            </a:solidFill>
            <a:prstDash val="solid"/>
          </a:ln>
        </p:spPr>
      </p:sp>
      <p:sp>
        <p:nvSpPr>
          <p:cNvPr id="153" name="C Show-o2 marker 4"/>
          <p:cNvSpPr>
            <a:spLocks noGrp="1"/>
          </p:cNvSpPr>
          <p:nvPr/>
        </p:nvSpPr>
        <p:spPr>
          <a:xfrm>
            <a:off x="5443538" y="793089"/>
            <a:ext cx="142875" cy="142875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BD2CC"/>
            </a:solidFill>
            <a:prstDash val="solid"/>
          </a:ln>
        </p:spPr>
      </p:sp>
      <p:sp>
        <p:nvSpPr>
          <p:cNvPr id="154" name="C DepGraph-U marker 4"/>
          <p:cNvSpPr>
            <a:spLocks noGrp="1"/>
          </p:cNvSpPr>
          <p:nvPr/>
        </p:nvSpPr>
        <p:spPr>
          <a:xfrm>
            <a:off x="5472112" y="1085056"/>
            <a:ext cx="85725" cy="85725"/>
          </a:xfrm>
          <a:prstGeom prst="diamond">
            <a:avLst/>
          </a:prstGeom>
          <a:solidFill>
            <a:srgbClr val="FFFFFF"/>
          </a:solidFill>
          <a:ln w="20955">
            <a:solidFill>
              <a:srgbClr val="05A096"/>
            </a:solidFill>
            <a:prstDash val="solid"/>
          </a:ln>
        </p:spPr>
      </p:sp>
      <p:sp>
        <p:nvSpPr>
          <p:cNvPr id="155" name="C legend shadow"/>
          <p:cNvSpPr>
            <a:spLocks noGrp="1"/>
          </p:cNvSpPr>
          <p:nvPr/>
        </p:nvSpPr>
        <p:spPr>
          <a:xfrm>
            <a:off x="4114800" y="1524000"/>
            <a:ext cx="1381125" cy="552450"/>
          </a:xfrm>
          <a:prstGeom prst="roundRect">
            <a:avLst>
              <a:gd name="adj" fmla="val 13793"/>
            </a:avLst>
          </a:prstGeom>
          <a:solidFill>
            <a:srgbClr val="C5C5C5"/>
          </a:solidFill>
          <a:ln w="0">
            <a:noFill/>
          </a:ln>
        </p:spPr>
      </p:sp>
      <p:sp>
        <p:nvSpPr>
          <p:cNvPr id="156" name="C legend box"/>
          <p:cNvSpPr>
            <a:spLocks noGrp="1"/>
          </p:cNvSpPr>
          <p:nvPr/>
        </p:nvSpPr>
        <p:spPr>
          <a:xfrm>
            <a:off x="4086225" y="1495425"/>
            <a:ext cx="1381125" cy="552450"/>
          </a:xfrm>
          <a:prstGeom prst="roundRect">
            <a:avLst>
              <a:gd name="adj" fmla="val 13793"/>
            </a:avLst>
          </a:prstGeom>
          <a:solidFill>
            <a:srgbClr val="F3F3F3"/>
          </a:solidFill>
          <a:ln w="8573">
            <a:solidFill>
              <a:srgbClr val="8A8A8A"/>
            </a:solidFill>
            <a:prstDash val="solid"/>
          </a:ln>
        </p:spPr>
      </p:sp>
      <p:sp>
        <p:nvSpPr>
          <p:cNvPr id="157" name="C legend Show-o2 sample"/>
          <p:cNvSpPr>
            <a:spLocks noGrp="1"/>
          </p:cNvSpPr>
          <p:nvPr/>
        </p:nvSpPr>
        <p:spPr>
          <a:xfrm>
            <a:off x="4191000" y="1647825"/>
            <a:ext cx="342900" cy="95"/>
          </a:xfrm>
          <a:prstGeom prst="line">
            <a:avLst/>
          </a:prstGeom>
          <a:noFill/>
          <a:ln w="34290">
            <a:solidFill>
              <a:srgbClr val="8BD2CC"/>
            </a:solidFill>
            <a:prstDash val="solid"/>
          </a:ln>
        </p:spPr>
      </p:sp>
      <p:sp>
        <p:nvSpPr>
          <p:cNvPr id="158" name="C legend Show-o2 marker"/>
          <p:cNvSpPr>
            <a:spLocks noGrp="1"/>
          </p:cNvSpPr>
          <p:nvPr/>
        </p:nvSpPr>
        <p:spPr>
          <a:xfrm>
            <a:off x="4310063" y="1595438"/>
            <a:ext cx="104775" cy="104775"/>
          </a:xfrm>
          <a:prstGeom prst="ellipse">
            <a:avLst/>
          </a:prstGeom>
          <a:solidFill>
            <a:srgbClr val="FFFFFF"/>
          </a:solidFill>
          <a:ln w="20955">
            <a:solidFill>
              <a:srgbClr val="8BD2CC"/>
            </a:solidFill>
            <a:prstDash val="solid"/>
          </a:ln>
        </p:spPr>
      </p:sp>
      <p:sp>
        <p:nvSpPr>
          <p:cNvPr id="159" name="C legend Show-o2 label"/>
          <p:cNvSpPr>
            <a:spLocks noGrp="1"/>
          </p:cNvSpPr>
          <p:nvPr/>
        </p:nvSpPr>
        <p:spPr>
          <a:xfrm>
            <a:off x="4591050" y="1543050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Show-o2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0" name="C legend DepGraph-U sample"/>
          <p:cNvSpPr>
            <a:spLocks noGrp="1"/>
          </p:cNvSpPr>
          <p:nvPr/>
        </p:nvSpPr>
        <p:spPr>
          <a:xfrm>
            <a:off x="4191000" y="1857375"/>
            <a:ext cx="342900" cy="95"/>
          </a:xfrm>
          <a:prstGeom prst="line">
            <a:avLst/>
          </a:prstGeom>
          <a:noFill/>
          <a:ln w="28575">
            <a:solidFill>
              <a:srgbClr val="05A096"/>
            </a:solidFill>
            <a:prstDash val="solid"/>
          </a:ln>
        </p:spPr>
      </p:sp>
      <p:sp>
        <p:nvSpPr>
          <p:cNvPr id="161" name="C legend DepGraph-U marker"/>
          <p:cNvSpPr>
            <a:spLocks noGrp="1"/>
          </p:cNvSpPr>
          <p:nvPr/>
        </p:nvSpPr>
        <p:spPr>
          <a:xfrm>
            <a:off x="4319588" y="1814513"/>
            <a:ext cx="85725" cy="85725"/>
          </a:xfrm>
          <a:prstGeom prst="diamond">
            <a:avLst/>
          </a:prstGeom>
          <a:solidFill>
            <a:srgbClr val="FFFFFF"/>
          </a:solidFill>
          <a:ln w="20955">
            <a:solidFill>
              <a:srgbClr val="05A096"/>
            </a:solidFill>
            <a:prstDash val="solid"/>
          </a:ln>
        </p:spPr>
      </p:sp>
      <p:sp>
        <p:nvSpPr>
          <p:cNvPr id="162" name="C legend DepGraph-U label"/>
          <p:cNvSpPr>
            <a:spLocks noGrp="1"/>
          </p:cNvSpPr>
          <p:nvPr/>
        </p:nvSpPr>
        <p:spPr>
          <a:xfrm>
            <a:off x="4591050" y="1752600"/>
            <a:ext cx="819150" cy="209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buNone/>
              <a:def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DepGraph-U</a:t>
            </a:r>
            <a:endParaRPr sz="1165" b="0" i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</Words>
  <Application>WPS Spreadsheets</Application>
  <PresentationFormat>Converted Presentation</PresentationFormat>
  <Paragraphs>98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anthony</cp:lastModifiedBy>
  <cp:revision>2</cp:revision>
  <dcterms:created xsi:type="dcterms:W3CDTF">2026-09-21T22:52:17Z</dcterms:created>
  <dcterms:modified xsi:type="dcterms:W3CDTF">2026-09-21T22:52:17Z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CF84A322F4B1B1CC0BB5B16AF38BD35B_42</vt:lpwstr>
  </property>
  <property fmtid="{D5CDD505-2E9C-101B-9397-08002B2CF9AE}" pid="3" name="KSOProductBuildVer">
    <vt:lpwstr>1033-6.14.0.8924</vt:lpwstr>
  </property>
</Properties>
</file>