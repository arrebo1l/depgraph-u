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8177149" cy="3749040"/>
  <p:notesSz cx="374904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CADD on a selected Head-A cache policy. Panel (a) depicts the full Show-o2 image path. Panel (b) depicts the CADD dispatch applied with an explicitly selected cache policy.</a:t>
            </a:r>
          </a:p>
          <a:p>
            <a:r>
              <a:t>The cache policy builds and refreshes Head-A state on its designated steps. The amber return path labelled 'on refresh' is a state write for later calls, not immediate re-entry into the accepted-hit branch. Other fallback calls can still use Head-A reuse according to the selected policy after executing its required producers. Fallback also computes the current output and preserves policy updates.</a:t>
            </a:r>
          </a:p>
          <a:p>
            <a:r>
              <a:t>CADD moves the guard before otherwise unused producers. Its output-preservation reference is the selected cache policy, not the uncached full-model trajectory in panel (a). Cache approximation and CADD execution equivalence are separate statements.</a:t>
            </a:r>
          </a:p>
          <a:p>
            <a:r>
              <a:t>The evaluated policy is instantiated from FlashU. Its provenance belongs in the accompanying method text/reference. Removing the separate branded panel does not reassign that policy as a new contribution.</a:t>
            </a:r>
          </a:p>
          <a:p>
            <a:r>
              <a:t>Guard: q_k is the policy's eligible Head-A cache hit. a_k is the implemented enablement/configuration predicate (including positive FFN pruning in the evaluated integration). d_k marks DLS recalibration, g_k conditional-only guidance. b_k=q_k a_k(1-d_k)(1-g_k). The implementation does not compare arbitrary graph signatures at runtime.</a:t>
            </a:r>
          </a:p>
          <a:p>
            <a:r>
              <a:t>Head B uses the selected cached state, current timestep e_k, modality spans m_k, and output transformation rho_k. v_k is latent velocity, not the final rendered image. Required state and RNG effects must remain live.</a:t>
            </a:r>
          </a:p>
          <a:p>
            <a:r>
              <a:t>Sources: paper_rewrite_20260908/evidence/executed_generation_patch.py:253-328,660-678; paper_rewrite_20260908/appendix_sync_v6_20260922/source/sec/3_method.tex:15-43.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475488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AFAFB"/>
          </a:solidFill>
          <a:ln w="20320">
            <a:solidFill>
              <a:srgbClr val="9AA1A9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123944" y="475488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3FAF9"/>
          </a:solidFill>
          <a:ln w="20320">
            <a:solidFill>
              <a:srgbClr val="2A8C8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55448" y="5486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(a) </a:t>
            </a:r>
            <a:r>
              <a:rPr lang="en-US" sz="2000" b="1" i="1" dirty="0">
                <a:solidFill>
                  <a:srgbClr val="3B6E9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</a:t>
            </a:r>
            <a:r>
              <a:rPr lang="en-US" sz="2000" b="1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</a:t>
            </a:r>
            <a:r>
              <a:rPr lang="en-US" sz="2000" b="1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</a:t>
            </a:r>
            <a:r>
              <a:rPr lang="en-US" sz="2000" b="1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</a:t>
            </a:r>
            <a:r>
              <a:rPr lang="en-US" sz="2000" b="1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-</a:t>
            </a:r>
            <a:r>
              <a:rPr lang="en-US" sz="2000" b="1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</a:t>
            </a:r>
            <a:r>
              <a:rPr lang="en-US" sz="2000" b="1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63370" y="16421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Full generation path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" y="86868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5FAFA5"/>
          </a:solidFill>
          <a:ln w="10160">
            <a:solidFill>
              <a:srgbClr val="3F7F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86868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5FAFA5"/>
          </a:solidFill>
          <a:ln w="10160">
            <a:solidFill>
              <a:srgbClr val="3F7F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133856"/>
            <a:ext cx="132588" cy="132588"/>
          </a:xfrm>
          <a:prstGeom prst="rect">
            <a:avLst/>
          </a:prstGeom>
          <a:solidFill>
            <a:srgbClr val="C9DAEA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" y="1133856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1133856"/>
            <a:ext cx="132588" cy="132588"/>
          </a:xfrm>
          <a:prstGeom prst="rect">
            <a:avLst/>
          </a:prstGeom>
          <a:solidFill>
            <a:srgbClr val="DCE8F3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266444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" y="1266444"/>
            <a:ext cx="132588" cy="132588"/>
          </a:xfrm>
          <a:prstGeom prst="rect">
            <a:avLst/>
          </a:prstGeom>
          <a:solidFill>
            <a:srgbClr val="7FA6CC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" y="1266444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399032"/>
            <a:ext cx="132588" cy="132588"/>
          </a:xfrm>
          <a:prstGeom prst="rect">
            <a:avLst/>
          </a:prstGeom>
          <a:solidFill>
            <a:srgbClr val="DCE8F3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" y="1399032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" y="1399032"/>
            <a:ext cx="132588" cy="132588"/>
          </a:xfrm>
          <a:prstGeom prst="rect">
            <a:avLst/>
          </a:prstGeom>
          <a:solidFill>
            <a:srgbClr val="C9DAEA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1638" y="1566672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text + latent</a:t>
            </a:r>
            <a:endParaRPr lang="en-US" sz="1000" i="1" dirty="0">
              <a:solidFill>
                <a:srgbClr val="5F677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1325880"/>
            <a:ext cx="182880" cy="0"/>
          </a:xfrm>
          <a:prstGeom prst="line">
            <a:avLst/>
          </a:prstGeom>
          <a:noFill/>
          <a:ln w="1778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2688" y="731520"/>
            <a:ext cx="1261872" cy="1298448"/>
          </a:xfrm>
          <a:prstGeom prst="roundRect">
            <a:avLst>
              <a:gd name="adj" fmla="val 5797"/>
            </a:avLst>
          </a:prstGeom>
          <a:solidFill>
            <a:srgbClr val="EEF0F2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" y="75895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producer stack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24128" y="1005840"/>
            <a:ext cx="107899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1F2328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056132"/>
            <a:ext cx="146304" cy="14630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07008" y="1005840"/>
            <a:ext cx="89611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563624" y="1252728"/>
            <a:ext cx="0" cy="73152"/>
          </a:xfrm>
          <a:prstGeom prst="line">
            <a:avLst/>
          </a:prstGeom>
          <a:noFill/>
          <a:ln w="1270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24128" y="1325880"/>
            <a:ext cx="107899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1F2328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376172"/>
            <a:ext cx="146304" cy="14630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207008" y="1325880"/>
            <a:ext cx="89611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Qwen trunk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1563624" y="1572768"/>
            <a:ext cx="0" cy="73152"/>
          </a:xfrm>
          <a:prstGeom prst="line">
            <a:avLst/>
          </a:prstGeom>
          <a:noFill/>
          <a:ln w="1270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1024128" y="1645920"/>
            <a:ext cx="107899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1F2328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696212"/>
            <a:ext cx="146304" cy="14630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207008" y="1645920"/>
            <a:ext cx="89611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2194560" y="932688"/>
            <a:ext cx="155448" cy="0"/>
          </a:xfrm>
          <a:prstGeom prst="line">
            <a:avLst/>
          </a:prstGeom>
          <a:noFill/>
          <a:ln w="1778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2350008" y="731520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DCE8F3"/>
          </a:solidFill>
          <a:ln w="19050">
            <a:solidFill>
              <a:srgbClr val="3B6E9E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2350008" y="73152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3A5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Head A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2738628" y="1133856"/>
            <a:ext cx="0" cy="329184"/>
          </a:xfrm>
          <a:prstGeom prst="line">
            <a:avLst/>
          </a:prstGeom>
          <a:noFill/>
          <a:ln w="1778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2350008" y="1463040"/>
            <a:ext cx="777240" cy="402336"/>
          </a:xfrm>
          <a:prstGeom prst="roundRect">
            <a:avLst>
              <a:gd name="adj" fmla="val 13636"/>
            </a:avLst>
          </a:prstGeom>
          <a:solidFill>
            <a:srgbClr val="DCE8F3"/>
          </a:solidFill>
          <a:ln w="19050">
            <a:solidFill>
              <a:srgbClr val="3B6E9E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2350008" y="146304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3A5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Head B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3127248" y="1664208"/>
            <a:ext cx="292608" cy="0"/>
          </a:xfrm>
          <a:prstGeom prst="line">
            <a:avLst/>
          </a:prstGeom>
          <a:noFill/>
          <a:ln w="1778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40" name="Text 35"/>
          <p:cNvSpPr txBox="1"/>
          <p:nvPr/>
        </p:nvSpPr>
        <p:spPr>
          <a:xfrm>
            <a:off x="3127248" y="1426464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ρ</a:t>
            </a:r>
            <a:r>
              <a:rPr lang="en-US" sz="110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3438144" y="1463040"/>
            <a:ext cx="134417" cy="134417"/>
          </a:xfrm>
          <a:prstGeom prst="rect">
            <a:avLst/>
          </a:prstGeom>
          <a:solidFill>
            <a:srgbClr val="F2C77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3572561" y="1463040"/>
            <a:ext cx="134417" cy="134417"/>
          </a:xfrm>
          <a:prstGeom prst="rect">
            <a:avLst/>
          </a:prstGeom>
          <a:solidFill>
            <a:srgbClr val="E9A24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706978" y="1463040"/>
            <a:ext cx="134417" cy="134417"/>
          </a:xfrm>
          <a:prstGeom prst="rect">
            <a:avLst/>
          </a:prstGeom>
          <a:solidFill>
            <a:srgbClr val="F6DDA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3438144" y="1597457"/>
            <a:ext cx="134417" cy="134417"/>
          </a:xfrm>
          <a:prstGeom prst="rect">
            <a:avLst/>
          </a:prstGeom>
          <a:solidFill>
            <a:srgbClr val="7FA6CC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572561" y="1597457"/>
            <a:ext cx="134417" cy="134417"/>
          </a:xfrm>
          <a:prstGeom prst="rect">
            <a:avLst/>
          </a:prstGeom>
          <a:solidFill>
            <a:srgbClr val="F2C77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3706978" y="1597457"/>
            <a:ext cx="134417" cy="134417"/>
          </a:xfrm>
          <a:prstGeom prst="rect">
            <a:avLst/>
          </a:prstGeom>
          <a:solidFill>
            <a:srgbClr val="E9A24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438144" y="1731874"/>
            <a:ext cx="134417" cy="134417"/>
          </a:xfrm>
          <a:prstGeom prst="rect">
            <a:avLst/>
          </a:prstGeom>
          <a:solidFill>
            <a:srgbClr val="F6DDA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572561" y="1731874"/>
            <a:ext cx="134417" cy="134417"/>
          </a:xfrm>
          <a:prstGeom prst="rect">
            <a:avLst/>
          </a:prstGeom>
          <a:solidFill>
            <a:srgbClr val="7FA6CC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706978" y="1731874"/>
            <a:ext cx="134417" cy="134417"/>
          </a:xfrm>
          <a:prstGeom prst="rect">
            <a:avLst/>
          </a:prstGeom>
          <a:solidFill>
            <a:srgbClr val="F2C77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3438144" y="1892808"/>
            <a:ext cx="4023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</a:t>
            </a:r>
            <a:r>
              <a:rPr lang="en-US" sz="110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2450592" y="22311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C4DE"/>
          </a:solidFill>
          <a:ln w="10160">
            <a:solidFill>
              <a:srgbClr val="3B6E9E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2843784" y="22311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C4DE"/>
          </a:solidFill>
          <a:ln w="10160">
            <a:solidFill>
              <a:srgbClr val="3B6E9E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 flipV="1">
            <a:off x="2738628" y="1874520"/>
            <a:ext cx="0" cy="347472"/>
          </a:xfrm>
          <a:prstGeom prst="line">
            <a:avLst/>
          </a:prstGeom>
          <a:noFill/>
          <a:ln w="1524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54" name="Text 49"/>
          <p:cNvSpPr txBox="1"/>
          <p:nvPr/>
        </p:nvSpPr>
        <p:spPr>
          <a:xfrm>
            <a:off x="2032000" y="2451100"/>
            <a:ext cx="1440180" cy="260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timestep e</a:t>
            </a:r>
            <a:r>
              <a:rPr lang="en-US" sz="1200" i="1" baseline="-4000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r>
              <a:rPr lang="en-US" sz="12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· spans m</a:t>
            </a:r>
            <a:r>
              <a:rPr lang="en-US" sz="1200" i="1" baseline="-4000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endParaRPr lang="en-US" sz="1200" i="1" baseline="-40000" dirty="0">
              <a:solidFill>
                <a:srgbClr val="5F677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55" name="Text 50"/>
          <p:cNvSpPr txBox="1"/>
          <p:nvPr/>
        </p:nvSpPr>
        <p:spPr>
          <a:xfrm>
            <a:off x="201168" y="2743200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All states are freshly computed.</a:t>
            </a:r>
            <a:endParaRPr lang="en-US" sz="1200" dirty="0"/>
          </a:p>
        </p:txBody>
      </p:sp>
      <p:sp>
        <p:nvSpPr>
          <p:cNvPr id="56" name="Text 51"/>
          <p:cNvSpPr txBox="1"/>
          <p:nvPr/>
        </p:nvSpPr>
        <p:spPr>
          <a:xfrm>
            <a:off x="201168" y="295529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features → trunk → projection → Head A → Head B</a:t>
            </a:r>
            <a:endParaRPr lang="en-US" sz="950" dirty="0"/>
          </a:p>
        </p:txBody>
      </p:sp>
      <p:sp>
        <p:nvSpPr>
          <p:cNvPr id="116" name="Shape 107"/>
          <p:cNvSpPr/>
          <p:nvPr/>
        </p:nvSpPr>
        <p:spPr>
          <a:xfrm>
            <a:off x="4599432" y="100584"/>
            <a:ext cx="896112" cy="310896"/>
          </a:xfrm>
          <a:custGeom>
            <a:avLst/>
            <a:gdLst/>
            <a:ahLst/>
            <a:cxnLst/>
            <a:rect l="l" t="t" r="r" b="b"/>
            <a:pathLst>
              <a:path w="896112" h="310896">
                <a:moveTo>
                  <a:pt x="0" y="25543"/>
                </a:moveTo>
                <a:lnTo>
                  <a:pt x="49784" y="22112"/>
                </a:lnTo>
                <a:lnTo>
                  <a:pt x="99568" y="22401"/>
                </a:lnTo>
                <a:lnTo>
                  <a:pt x="149352" y="26340"/>
                </a:lnTo>
                <a:lnTo>
                  <a:pt x="199136" y="32964"/>
                </a:lnTo>
                <a:lnTo>
                  <a:pt x="248920" y="40652"/>
                </a:lnTo>
                <a:lnTo>
                  <a:pt x="298704" y="47520"/>
                </a:lnTo>
                <a:lnTo>
                  <a:pt x="348488" y="51889"/>
                </a:lnTo>
                <a:lnTo>
                  <a:pt x="398272" y="52687"/>
                </a:lnTo>
                <a:lnTo>
                  <a:pt x="448056" y="49720"/>
                </a:lnTo>
                <a:lnTo>
                  <a:pt x="497840" y="43714"/>
                </a:lnTo>
                <a:lnTo>
                  <a:pt x="547624" y="36139"/>
                </a:lnTo>
                <a:lnTo>
                  <a:pt x="597408" y="28851"/>
                </a:lnTo>
                <a:lnTo>
                  <a:pt x="647192" y="23633"/>
                </a:lnTo>
                <a:lnTo>
                  <a:pt x="696976" y="21763"/>
                </a:lnTo>
                <a:lnTo>
                  <a:pt x="746760" y="23699"/>
                </a:lnTo>
                <a:lnTo>
                  <a:pt x="796544" y="28967"/>
                </a:lnTo>
                <a:lnTo>
                  <a:pt x="846328" y="36277"/>
                </a:lnTo>
                <a:lnTo>
                  <a:pt x="896112" y="43839"/>
                </a:lnTo>
                <a:lnTo>
                  <a:pt x="896112" y="291937"/>
                </a:lnTo>
                <a:lnTo>
                  <a:pt x="846328" y="296404"/>
                </a:lnTo>
                <a:lnTo>
                  <a:pt x="796544" y="298393"/>
                </a:lnTo>
                <a:lnTo>
                  <a:pt x="746760" y="297606"/>
                </a:lnTo>
                <a:lnTo>
                  <a:pt x="696976" y="294161"/>
                </a:lnTo>
                <a:lnTo>
                  <a:pt x="647192" y="288572"/>
                </a:lnTo>
                <a:lnTo>
                  <a:pt x="597408" y="281674"/>
                </a:lnTo>
                <a:lnTo>
                  <a:pt x="547624" y="274497"/>
                </a:lnTo>
                <a:lnTo>
                  <a:pt x="497840" y="268114"/>
                </a:lnTo>
                <a:lnTo>
                  <a:pt x="448056" y="263476"/>
                </a:lnTo>
                <a:lnTo>
                  <a:pt x="398272" y="261277"/>
                </a:lnTo>
                <a:lnTo>
                  <a:pt x="348488" y="261845"/>
                </a:lnTo>
                <a:lnTo>
                  <a:pt x="298704" y="265096"/>
                </a:lnTo>
                <a:lnTo>
                  <a:pt x="248920" y="270543"/>
                </a:lnTo>
                <a:lnTo>
                  <a:pt x="199136" y="277374"/>
                </a:lnTo>
                <a:lnTo>
                  <a:pt x="149352" y="284568"/>
                </a:lnTo>
                <a:lnTo>
                  <a:pt x="99568" y="291051"/>
                </a:lnTo>
                <a:lnTo>
                  <a:pt x="49784" y="295855"/>
                </a:lnTo>
                <a:lnTo>
                  <a:pt x="0" y="298262"/>
                </a:lnTo>
                <a:close/>
              </a:path>
            </a:pathLst>
          </a:custGeom>
          <a:solidFill>
            <a:srgbClr val="BFE3DD">
              <a:alpha val="45000"/>
            </a:srgbClr>
          </a:solidFill>
          <a:ln w="12700">
            <a:solidFill>
              <a:srgbClr val="BFE3DD">
                <a:alpha val="0"/>
              </a:srgbClr>
            </a:solidFill>
            <a:prstDash val="solid"/>
          </a:ln>
        </p:spPr>
      </p:sp>
      <p:sp>
        <p:nvSpPr>
          <p:cNvPr id="117" name="Text 108"/>
          <p:cNvSpPr txBox="1"/>
          <p:nvPr/>
        </p:nvSpPr>
        <p:spPr>
          <a:xfrm>
            <a:off x="4169664" y="5486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(b) </a:t>
            </a:r>
            <a:r>
              <a:rPr lang="en-US" sz="2000" b="1" i="1" dirty="0">
                <a:solidFill>
                  <a:srgbClr val="2A8C8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</a:t>
            </a:r>
            <a:r>
              <a:rPr lang="en-US" sz="2000" b="1" i="1" dirty="0">
                <a:solidFill>
                  <a:srgbClr val="2A8C8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r>
              <a:rPr lang="en-US" sz="2000" b="1" i="1" dirty="0">
                <a:solidFill>
                  <a:srgbClr val="2A8C8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r>
              <a:rPr lang="en-US" sz="2000" b="1" i="1" dirty="0">
                <a:solidFill>
                  <a:srgbClr val="2A8C8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endParaRPr lang="en-US" sz="2000" dirty="0"/>
          </a:p>
        </p:txBody>
      </p:sp>
      <p:sp>
        <p:nvSpPr>
          <p:cNvPr id="118" name="Text 109"/>
          <p:cNvSpPr txBox="1"/>
          <p:nvPr/>
        </p:nvSpPr>
        <p:spPr>
          <a:xfrm>
            <a:off x="5532374" y="16421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Under a selected cache policy</a:t>
            </a:r>
            <a:endParaRPr lang="en-US" sz="1150" dirty="0"/>
          </a:p>
        </p:txBody>
      </p:sp>
      <p:sp>
        <p:nvSpPr>
          <p:cNvPr id="119" name="Text 110"/>
          <p:cNvSpPr txBox="1"/>
          <p:nvPr/>
        </p:nvSpPr>
        <p:spPr>
          <a:xfrm>
            <a:off x="4855464" y="5486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</a:t>
            </a:r>
            <a:r>
              <a:rPr lang="en-US" sz="130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r>
              <a:rPr lang="en-US" sz="13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= </a:t>
            </a:r>
            <a:r>
              <a:rPr lang="en-US" sz="130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</a:t>
            </a:r>
            <a:r>
              <a:rPr lang="en-US" sz="130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r>
              <a:rPr lang="en-US" sz="13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· </a:t>
            </a:r>
            <a:r>
              <a:rPr lang="en-US" sz="130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</a:t>
            </a:r>
            <a:r>
              <a:rPr lang="en-US" sz="130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r>
              <a:rPr lang="en-US" sz="13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 · (1 − </a:t>
            </a:r>
            <a:r>
              <a:rPr lang="en-US" sz="130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</a:t>
            </a:r>
            <a:r>
              <a:rPr lang="en-US" sz="130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r>
              <a:rPr lang="en-US" sz="13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) · (1 − </a:t>
            </a:r>
            <a:r>
              <a:rPr lang="en-US" sz="130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</a:t>
            </a:r>
            <a:r>
              <a:rPr lang="en-US" sz="130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r>
              <a:rPr lang="en-US" sz="13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)</a:t>
            </a:r>
            <a:endParaRPr lang="en-US" sz="1300" dirty="0"/>
          </a:p>
        </p:txBody>
      </p:sp>
      <p:sp>
        <p:nvSpPr>
          <p:cNvPr id="120" name="Shape 111"/>
          <p:cNvSpPr/>
          <p:nvPr/>
        </p:nvSpPr>
        <p:spPr>
          <a:xfrm>
            <a:off x="4306824" y="9601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5FAFA5"/>
          </a:solidFill>
          <a:ln w="10160">
            <a:solidFill>
              <a:srgbClr val="3F7F78"/>
            </a:solidFill>
            <a:prstDash val="solid"/>
          </a:ln>
        </p:spPr>
      </p:sp>
      <p:sp>
        <p:nvSpPr>
          <p:cNvPr id="121" name="Shape 112"/>
          <p:cNvSpPr/>
          <p:nvPr/>
        </p:nvSpPr>
        <p:spPr>
          <a:xfrm>
            <a:off x="4544568" y="9601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5FAFA5"/>
          </a:solidFill>
          <a:ln w="10160">
            <a:solidFill>
              <a:srgbClr val="3F7F78"/>
            </a:solidFill>
            <a:prstDash val="solid"/>
          </a:ln>
        </p:spPr>
      </p:sp>
      <p:sp>
        <p:nvSpPr>
          <p:cNvPr id="122" name="Shape 113"/>
          <p:cNvSpPr/>
          <p:nvPr/>
        </p:nvSpPr>
        <p:spPr>
          <a:xfrm>
            <a:off x="4306824" y="1216152"/>
            <a:ext cx="132588" cy="132588"/>
          </a:xfrm>
          <a:prstGeom prst="rect">
            <a:avLst/>
          </a:prstGeom>
          <a:solidFill>
            <a:srgbClr val="C9DAEA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3" name="Shape 114"/>
          <p:cNvSpPr/>
          <p:nvPr/>
        </p:nvSpPr>
        <p:spPr>
          <a:xfrm>
            <a:off x="4439412" y="1216152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4" name="Shape 115"/>
          <p:cNvSpPr/>
          <p:nvPr/>
        </p:nvSpPr>
        <p:spPr>
          <a:xfrm>
            <a:off x="4572000" y="1216152"/>
            <a:ext cx="132588" cy="132588"/>
          </a:xfrm>
          <a:prstGeom prst="rect">
            <a:avLst/>
          </a:prstGeom>
          <a:solidFill>
            <a:srgbClr val="DCE8F3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5" name="Shape 116"/>
          <p:cNvSpPr/>
          <p:nvPr/>
        </p:nvSpPr>
        <p:spPr>
          <a:xfrm>
            <a:off x="4306824" y="1348740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6" name="Shape 117"/>
          <p:cNvSpPr/>
          <p:nvPr/>
        </p:nvSpPr>
        <p:spPr>
          <a:xfrm>
            <a:off x="4439412" y="1348740"/>
            <a:ext cx="132588" cy="132588"/>
          </a:xfrm>
          <a:prstGeom prst="rect">
            <a:avLst/>
          </a:prstGeom>
          <a:solidFill>
            <a:srgbClr val="7FA6CC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7" name="Shape 118"/>
          <p:cNvSpPr/>
          <p:nvPr/>
        </p:nvSpPr>
        <p:spPr>
          <a:xfrm>
            <a:off x="4572000" y="1348740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8" name="Shape 119"/>
          <p:cNvSpPr/>
          <p:nvPr/>
        </p:nvSpPr>
        <p:spPr>
          <a:xfrm>
            <a:off x="4306824" y="1481328"/>
            <a:ext cx="132588" cy="132588"/>
          </a:xfrm>
          <a:prstGeom prst="rect">
            <a:avLst/>
          </a:prstGeom>
          <a:solidFill>
            <a:srgbClr val="DCE8F3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29" name="Shape 120"/>
          <p:cNvSpPr/>
          <p:nvPr/>
        </p:nvSpPr>
        <p:spPr>
          <a:xfrm>
            <a:off x="4439412" y="1481328"/>
            <a:ext cx="132588" cy="132588"/>
          </a:xfrm>
          <a:prstGeom prst="rect">
            <a:avLst/>
          </a:prstGeom>
          <a:solidFill>
            <a:srgbClr val="A9C4DE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30" name="Shape 121"/>
          <p:cNvSpPr/>
          <p:nvPr/>
        </p:nvSpPr>
        <p:spPr>
          <a:xfrm>
            <a:off x="4572000" y="1481328"/>
            <a:ext cx="132588" cy="132588"/>
          </a:xfrm>
          <a:prstGeom prst="rect">
            <a:avLst/>
          </a:prstGeom>
          <a:solidFill>
            <a:srgbClr val="C9DAEA"/>
          </a:solidFill>
          <a:ln w="7620">
            <a:solidFill>
              <a:srgbClr val="4A6F93"/>
            </a:solidFill>
            <a:prstDash val="solid"/>
          </a:ln>
        </p:spPr>
      </p:sp>
      <p:sp>
        <p:nvSpPr>
          <p:cNvPr id="131" name="Text 122"/>
          <p:cNvSpPr txBox="1"/>
          <p:nvPr/>
        </p:nvSpPr>
        <p:spPr>
          <a:xfrm>
            <a:off x="4156329" y="162356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inputs</a:t>
            </a:r>
            <a:endParaRPr lang="en-US" sz="1000" i="1" dirty="0">
              <a:solidFill>
                <a:srgbClr val="5F677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32" name="Shape 123"/>
          <p:cNvSpPr/>
          <p:nvPr/>
        </p:nvSpPr>
        <p:spPr>
          <a:xfrm>
            <a:off x="4727448" y="1188720"/>
            <a:ext cx="128016" cy="0"/>
          </a:xfrm>
          <a:prstGeom prst="line">
            <a:avLst/>
          </a:prstGeom>
          <a:noFill/>
          <a:ln w="1778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33" name="Shape 124"/>
          <p:cNvSpPr/>
          <p:nvPr/>
        </p:nvSpPr>
        <p:spPr>
          <a:xfrm>
            <a:off x="4855464" y="868680"/>
            <a:ext cx="676656" cy="640080"/>
          </a:xfrm>
          <a:prstGeom prst="diamond">
            <a:avLst/>
          </a:prstGeom>
          <a:solidFill>
            <a:srgbClr val="E4F2F0"/>
          </a:solidFill>
          <a:ln w="20320">
            <a:solidFill>
              <a:srgbClr val="2A8C82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4" name="Text 125"/>
          <p:cNvSpPr txBox="1"/>
          <p:nvPr/>
        </p:nvSpPr>
        <p:spPr>
          <a:xfrm>
            <a:off x="4855464" y="868680"/>
            <a:ext cx="6766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E5E5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safe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i="1" dirty="0">
                <a:solidFill>
                  <a:srgbClr val="1E5E5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hit?</a:t>
            </a:r>
            <a:endParaRPr lang="en-US" sz="1000" dirty="0"/>
          </a:p>
        </p:txBody>
      </p:sp>
      <p:sp>
        <p:nvSpPr>
          <p:cNvPr id="135" name="Shape 126"/>
          <p:cNvSpPr/>
          <p:nvPr/>
        </p:nvSpPr>
        <p:spPr>
          <a:xfrm>
            <a:off x="5532120" y="1188720"/>
            <a:ext cx="192024" cy="0"/>
          </a:xfrm>
          <a:prstGeom prst="line">
            <a:avLst/>
          </a:prstGeom>
          <a:noFill/>
          <a:ln w="20320">
            <a:solidFill>
              <a:srgbClr val="2A8C82"/>
            </a:solidFill>
            <a:prstDash val="solid"/>
            <a:tailEnd type="triangle"/>
          </a:ln>
        </p:spPr>
      </p:sp>
      <p:sp>
        <p:nvSpPr>
          <p:cNvPr id="136" name="Text 127"/>
          <p:cNvSpPr txBox="1"/>
          <p:nvPr/>
        </p:nvSpPr>
        <p:spPr>
          <a:xfrm>
            <a:off x="5513832" y="978408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A8C8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yes</a:t>
            </a:r>
            <a:endParaRPr lang="en-US" sz="950" dirty="0"/>
          </a:p>
        </p:txBody>
      </p:sp>
      <p:sp>
        <p:nvSpPr>
          <p:cNvPr id="137" name="Shape 128"/>
          <p:cNvSpPr/>
          <p:nvPr/>
        </p:nvSpPr>
        <p:spPr>
          <a:xfrm>
            <a:off x="5806440" y="1069848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EFD9AC"/>
          </a:solidFill>
          <a:ln w="11430">
            <a:solidFill>
              <a:srgbClr val="B9832F"/>
            </a:solidFill>
            <a:prstDash val="solid"/>
          </a:ln>
        </p:spPr>
      </p:sp>
      <p:sp>
        <p:nvSpPr>
          <p:cNvPr id="138" name="Shape 129"/>
          <p:cNvSpPr/>
          <p:nvPr/>
        </p:nvSpPr>
        <p:spPr>
          <a:xfrm>
            <a:off x="5774436" y="1037844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F3E1BA"/>
          </a:solidFill>
          <a:ln w="11430">
            <a:solidFill>
              <a:srgbClr val="B9832F"/>
            </a:solidFill>
            <a:prstDash val="solid"/>
          </a:ln>
        </p:spPr>
      </p:sp>
      <p:sp>
        <p:nvSpPr>
          <p:cNvPr id="139" name="Shape 130"/>
          <p:cNvSpPr/>
          <p:nvPr/>
        </p:nvSpPr>
        <p:spPr>
          <a:xfrm>
            <a:off x="5742432" y="1005840"/>
            <a:ext cx="731520" cy="365760"/>
          </a:xfrm>
          <a:prstGeom prst="roundRect">
            <a:avLst>
              <a:gd name="adj" fmla="val 15000"/>
            </a:avLst>
          </a:prstGeom>
          <a:solidFill>
            <a:srgbClr val="F6E7C8"/>
          </a:solidFill>
          <a:ln w="16510">
            <a:solidFill>
              <a:srgbClr val="B9832F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0" name="Text 131"/>
          <p:cNvSpPr txBox="1"/>
          <p:nvPr/>
        </p:nvSpPr>
        <p:spPr>
          <a:xfrm>
            <a:off x="5742432" y="10058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5F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cache c</a:t>
            </a:r>
            <a:r>
              <a:rPr lang="en-US" sz="1150" i="1" baseline="-40000" dirty="0">
                <a:solidFill>
                  <a:srgbClr val="8A5F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endParaRPr lang="en-US" sz="1150" dirty="0"/>
          </a:p>
        </p:txBody>
      </p:sp>
      <p:sp>
        <p:nvSpPr>
          <p:cNvPr id="141" name="Shape 132"/>
          <p:cNvSpPr/>
          <p:nvPr/>
        </p:nvSpPr>
        <p:spPr>
          <a:xfrm>
            <a:off x="6537960" y="1188720"/>
            <a:ext cx="100584" cy="0"/>
          </a:xfrm>
          <a:prstGeom prst="line">
            <a:avLst/>
          </a:prstGeom>
          <a:noFill/>
          <a:ln w="20320">
            <a:solidFill>
              <a:srgbClr val="B9832F"/>
            </a:solidFill>
            <a:prstDash val="solid"/>
            <a:tailEnd type="triangle"/>
          </a:ln>
        </p:spPr>
      </p:sp>
      <p:sp>
        <p:nvSpPr>
          <p:cNvPr id="142" name="Shape 133"/>
          <p:cNvSpPr/>
          <p:nvPr/>
        </p:nvSpPr>
        <p:spPr>
          <a:xfrm>
            <a:off x="6638544" y="987552"/>
            <a:ext cx="621792" cy="402336"/>
          </a:xfrm>
          <a:prstGeom prst="roundRect">
            <a:avLst>
              <a:gd name="adj" fmla="val 13636"/>
            </a:avLst>
          </a:prstGeom>
          <a:solidFill>
            <a:srgbClr val="DCE8F3"/>
          </a:solidFill>
          <a:ln w="19050">
            <a:solidFill>
              <a:srgbClr val="3B6E9E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3" name="Text 134"/>
          <p:cNvSpPr txBox="1"/>
          <p:nvPr/>
        </p:nvSpPr>
        <p:spPr>
          <a:xfrm>
            <a:off x="6638544" y="987552"/>
            <a:ext cx="62179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3A5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Head B</a:t>
            </a:r>
            <a:endParaRPr lang="en-US" sz="1300" dirty="0"/>
          </a:p>
        </p:txBody>
      </p:sp>
      <p:sp>
        <p:nvSpPr>
          <p:cNvPr id="144" name="Shape 135"/>
          <p:cNvSpPr/>
          <p:nvPr/>
        </p:nvSpPr>
        <p:spPr>
          <a:xfrm>
            <a:off x="7260336" y="1188720"/>
            <a:ext cx="246888" cy="0"/>
          </a:xfrm>
          <a:prstGeom prst="line">
            <a:avLst/>
          </a:prstGeom>
          <a:noFill/>
          <a:ln w="1778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45" name="Text 136"/>
          <p:cNvSpPr txBox="1"/>
          <p:nvPr/>
        </p:nvSpPr>
        <p:spPr>
          <a:xfrm>
            <a:off x="7287768" y="96012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ρ</a:t>
            </a:r>
            <a:r>
              <a:rPr lang="en-US" sz="1050" i="1" baseline="-40000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endParaRPr lang="en-US" sz="1050" dirty="0"/>
          </a:p>
        </p:txBody>
      </p:sp>
      <p:sp>
        <p:nvSpPr>
          <p:cNvPr id="146" name="Shape 137"/>
          <p:cNvSpPr/>
          <p:nvPr/>
        </p:nvSpPr>
        <p:spPr>
          <a:xfrm>
            <a:off x="7525512" y="987552"/>
            <a:ext cx="134417" cy="134417"/>
          </a:xfrm>
          <a:prstGeom prst="rect">
            <a:avLst/>
          </a:prstGeom>
          <a:solidFill>
            <a:srgbClr val="F2C77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47" name="Shape 138"/>
          <p:cNvSpPr/>
          <p:nvPr/>
        </p:nvSpPr>
        <p:spPr>
          <a:xfrm>
            <a:off x="7659929" y="987552"/>
            <a:ext cx="134417" cy="134417"/>
          </a:xfrm>
          <a:prstGeom prst="rect">
            <a:avLst/>
          </a:prstGeom>
          <a:solidFill>
            <a:srgbClr val="E9A24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48" name="Shape 139"/>
          <p:cNvSpPr/>
          <p:nvPr/>
        </p:nvSpPr>
        <p:spPr>
          <a:xfrm>
            <a:off x="7794346" y="987552"/>
            <a:ext cx="134417" cy="134417"/>
          </a:xfrm>
          <a:prstGeom prst="rect">
            <a:avLst/>
          </a:prstGeom>
          <a:solidFill>
            <a:srgbClr val="F6DDA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49" name="Shape 140"/>
          <p:cNvSpPr/>
          <p:nvPr/>
        </p:nvSpPr>
        <p:spPr>
          <a:xfrm>
            <a:off x="7525512" y="1121969"/>
            <a:ext cx="134417" cy="134417"/>
          </a:xfrm>
          <a:prstGeom prst="rect">
            <a:avLst/>
          </a:prstGeom>
          <a:solidFill>
            <a:srgbClr val="7FA6CC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50" name="Shape 141"/>
          <p:cNvSpPr/>
          <p:nvPr/>
        </p:nvSpPr>
        <p:spPr>
          <a:xfrm>
            <a:off x="7659929" y="1121969"/>
            <a:ext cx="134417" cy="134417"/>
          </a:xfrm>
          <a:prstGeom prst="rect">
            <a:avLst/>
          </a:prstGeom>
          <a:solidFill>
            <a:srgbClr val="F2C77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51" name="Shape 142"/>
          <p:cNvSpPr/>
          <p:nvPr/>
        </p:nvSpPr>
        <p:spPr>
          <a:xfrm>
            <a:off x="7794346" y="1121969"/>
            <a:ext cx="134417" cy="134417"/>
          </a:xfrm>
          <a:prstGeom prst="rect">
            <a:avLst/>
          </a:prstGeom>
          <a:solidFill>
            <a:srgbClr val="E9A24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52" name="Shape 143"/>
          <p:cNvSpPr/>
          <p:nvPr/>
        </p:nvSpPr>
        <p:spPr>
          <a:xfrm>
            <a:off x="7525512" y="1256386"/>
            <a:ext cx="134417" cy="134417"/>
          </a:xfrm>
          <a:prstGeom prst="rect">
            <a:avLst/>
          </a:prstGeom>
          <a:solidFill>
            <a:srgbClr val="F6DDA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53" name="Shape 144"/>
          <p:cNvSpPr/>
          <p:nvPr/>
        </p:nvSpPr>
        <p:spPr>
          <a:xfrm>
            <a:off x="7659929" y="1256386"/>
            <a:ext cx="134417" cy="134417"/>
          </a:xfrm>
          <a:prstGeom prst="rect">
            <a:avLst/>
          </a:prstGeom>
          <a:solidFill>
            <a:srgbClr val="7FA6CC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54" name="Shape 145"/>
          <p:cNvSpPr/>
          <p:nvPr/>
        </p:nvSpPr>
        <p:spPr>
          <a:xfrm>
            <a:off x="7794346" y="1256386"/>
            <a:ext cx="134417" cy="134417"/>
          </a:xfrm>
          <a:prstGeom prst="rect">
            <a:avLst/>
          </a:prstGeom>
          <a:solidFill>
            <a:srgbClr val="F2C77A"/>
          </a:solidFill>
          <a:ln w="7620">
            <a:solidFill>
              <a:srgbClr val="8A5F1E"/>
            </a:solidFill>
            <a:prstDash val="solid"/>
          </a:ln>
        </p:spPr>
      </p:sp>
      <p:sp>
        <p:nvSpPr>
          <p:cNvPr id="155" name="Shape 146"/>
          <p:cNvSpPr/>
          <p:nvPr/>
        </p:nvSpPr>
        <p:spPr>
          <a:xfrm>
            <a:off x="6711696" y="16184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A9C4DE"/>
          </a:solidFill>
          <a:ln w="10160">
            <a:solidFill>
              <a:srgbClr val="3B6E9E"/>
            </a:solidFill>
            <a:prstDash val="solid"/>
          </a:ln>
        </p:spPr>
      </p:sp>
      <p:sp>
        <p:nvSpPr>
          <p:cNvPr id="156" name="Shape 147"/>
          <p:cNvSpPr/>
          <p:nvPr/>
        </p:nvSpPr>
        <p:spPr>
          <a:xfrm>
            <a:off x="7031736" y="16184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A9C4DE"/>
          </a:solidFill>
          <a:ln w="10160">
            <a:solidFill>
              <a:srgbClr val="3B6E9E"/>
            </a:solidFill>
            <a:prstDash val="solid"/>
          </a:ln>
        </p:spPr>
      </p:sp>
      <p:sp>
        <p:nvSpPr>
          <p:cNvPr id="157" name="Shape 148"/>
          <p:cNvSpPr/>
          <p:nvPr/>
        </p:nvSpPr>
        <p:spPr>
          <a:xfrm flipV="1">
            <a:off x="6949440" y="1399032"/>
            <a:ext cx="0" cy="384048"/>
          </a:xfrm>
          <a:prstGeom prst="line">
            <a:avLst/>
          </a:prstGeom>
          <a:noFill/>
          <a:ln w="1524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58" name="Text 149"/>
          <p:cNvSpPr txBox="1"/>
          <p:nvPr/>
        </p:nvSpPr>
        <p:spPr>
          <a:xfrm>
            <a:off x="6501384" y="180136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current </a:t>
            </a:r>
            <a:r>
              <a:rPr lang="en-US" sz="9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</a:t>
            </a:r>
            <a:r>
              <a:rPr lang="en-US" sz="900" i="1" baseline="-4000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r>
              <a:rPr lang="en-US" sz="9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, </a:t>
            </a:r>
            <a:r>
              <a:rPr lang="en-US" sz="90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</a:t>
            </a:r>
            <a:r>
              <a:rPr lang="en-US" sz="900" i="1" baseline="-4000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</a:t>
            </a:r>
            <a:endParaRPr lang="en-US" sz="900" dirty="0"/>
          </a:p>
        </p:txBody>
      </p:sp>
      <p:sp>
        <p:nvSpPr>
          <p:cNvPr id="159" name="Shape 150"/>
          <p:cNvSpPr/>
          <p:nvPr/>
        </p:nvSpPr>
        <p:spPr>
          <a:xfrm>
            <a:off x="5193792" y="1508760"/>
            <a:ext cx="0" cy="822960"/>
          </a:xfrm>
          <a:prstGeom prst="line">
            <a:avLst/>
          </a:prstGeom>
          <a:noFill/>
          <a:ln w="16510">
            <a:solidFill>
              <a:srgbClr val="9AA1A9"/>
            </a:solidFill>
            <a:prstDash val="dash"/>
            <a:tailEnd type="triangle"/>
          </a:ln>
        </p:spPr>
      </p:sp>
      <p:sp>
        <p:nvSpPr>
          <p:cNvPr id="160" name="Text 151"/>
          <p:cNvSpPr txBox="1"/>
          <p:nvPr/>
        </p:nvSpPr>
        <p:spPr>
          <a:xfrm>
            <a:off x="5230368" y="1783080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</a:t>
            </a:r>
            <a:endParaRPr lang="en-US" sz="950" dirty="0"/>
          </a:p>
        </p:txBody>
      </p:sp>
      <p:sp>
        <p:nvSpPr>
          <p:cNvPr id="161" name="Shape 152"/>
          <p:cNvSpPr/>
          <p:nvPr/>
        </p:nvSpPr>
        <p:spPr>
          <a:xfrm>
            <a:off x="4261104" y="2331720"/>
            <a:ext cx="125272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9AA1A9"/>
            </a:solidFill>
            <a:prstDash val="solid"/>
          </a:ln>
        </p:spPr>
      </p:sp>
      <p:pic>
        <p:nvPicPr>
          <p:cNvPr id="16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2414016"/>
            <a:ext cx="164592" cy="164592"/>
          </a:xfrm>
          <a:prstGeom prst="rect">
            <a:avLst/>
          </a:prstGeom>
        </p:spPr>
      </p:pic>
      <p:sp>
        <p:nvSpPr>
          <p:cNvPr id="163" name="Text 153"/>
          <p:cNvSpPr txBox="1"/>
          <p:nvPr/>
        </p:nvSpPr>
        <p:spPr>
          <a:xfrm>
            <a:off x="4492752" y="2331720"/>
            <a:ext cx="9692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Policy fallback</a:t>
            </a:r>
            <a:endParaRPr lang="en-US" sz="1200" dirty="0">
              <a:solidFill>
                <a:srgbClr val="5F677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64" name="Shape 154"/>
          <p:cNvSpPr/>
          <p:nvPr/>
        </p:nvSpPr>
        <p:spPr>
          <a:xfrm>
            <a:off x="5605272" y="215798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9AA1A9"/>
            </a:solidFill>
            <a:prstDash val="dash"/>
          </a:ln>
        </p:spPr>
      </p:sp>
      <p:sp>
        <p:nvSpPr>
          <p:cNvPr id="165" name="Text 155"/>
          <p:cNvSpPr txBox="1"/>
          <p:nvPr/>
        </p:nvSpPr>
        <p:spPr>
          <a:xfrm>
            <a:off x="5605272" y="215798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A1A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features</a:t>
            </a:r>
            <a:endParaRPr lang="en-US" sz="850" dirty="0"/>
          </a:p>
        </p:txBody>
      </p:sp>
      <p:sp>
        <p:nvSpPr>
          <p:cNvPr id="166" name="Shape 156"/>
          <p:cNvSpPr/>
          <p:nvPr/>
        </p:nvSpPr>
        <p:spPr>
          <a:xfrm>
            <a:off x="6208776" y="215798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9AA1A9"/>
            </a:solidFill>
            <a:prstDash val="dash"/>
          </a:ln>
        </p:spPr>
      </p:sp>
      <p:sp>
        <p:nvSpPr>
          <p:cNvPr id="167" name="Text 157"/>
          <p:cNvSpPr txBox="1"/>
          <p:nvPr/>
        </p:nvSpPr>
        <p:spPr>
          <a:xfrm>
            <a:off x="6208776" y="215798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A1A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Qwen</a:t>
            </a:r>
            <a:endParaRPr lang="en-US" sz="850" dirty="0"/>
          </a:p>
        </p:txBody>
      </p:sp>
      <p:sp>
        <p:nvSpPr>
          <p:cNvPr id="168" name="Shape 158"/>
          <p:cNvSpPr/>
          <p:nvPr/>
        </p:nvSpPr>
        <p:spPr>
          <a:xfrm>
            <a:off x="6812280" y="215798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9AA1A9"/>
            </a:solidFill>
            <a:prstDash val="dash"/>
          </a:ln>
        </p:spPr>
      </p:sp>
      <p:sp>
        <p:nvSpPr>
          <p:cNvPr id="169" name="Text 159"/>
          <p:cNvSpPr txBox="1"/>
          <p:nvPr/>
        </p:nvSpPr>
        <p:spPr>
          <a:xfrm>
            <a:off x="6812280" y="215798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A1A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projection</a:t>
            </a:r>
            <a:endParaRPr lang="en-US" sz="850" dirty="0"/>
          </a:p>
        </p:txBody>
      </p:sp>
      <p:sp>
        <p:nvSpPr>
          <p:cNvPr id="170" name="Shape 160"/>
          <p:cNvSpPr/>
          <p:nvPr/>
        </p:nvSpPr>
        <p:spPr>
          <a:xfrm>
            <a:off x="7415784" y="2157984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9AA1A9"/>
            </a:solidFill>
            <a:prstDash val="dash"/>
          </a:ln>
        </p:spPr>
      </p:sp>
      <p:sp>
        <p:nvSpPr>
          <p:cNvPr id="171" name="Text 161"/>
          <p:cNvSpPr txBox="1"/>
          <p:nvPr/>
        </p:nvSpPr>
        <p:spPr>
          <a:xfrm>
            <a:off x="7415784" y="215798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A1A9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Head A</a:t>
            </a:r>
            <a:endParaRPr lang="en-US" sz="850" dirty="0"/>
          </a:p>
        </p:txBody>
      </p:sp>
      <p:sp>
        <p:nvSpPr>
          <p:cNvPr id="172" name="Shape 162"/>
          <p:cNvSpPr/>
          <p:nvPr/>
        </p:nvSpPr>
        <p:spPr>
          <a:xfrm>
            <a:off x="5568696" y="2157984"/>
            <a:ext cx="2432304" cy="256032"/>
          </a:xfrm>
          <a:custGeom>
            <a:avLst/>
            <a:gdLst/>
            <a:ahLst/>
            <a:cxnLst/>
            <a:rect l="l" t="t" r="r" b="b"/>
            <a:pathLst>
              <a:path w="2432304" h="256032">
                <a:moveTo>
                  <a:pt x="0" y="140462"/>
                </a:moveTo>
                <a:lnTo>
                  <a:pt x="86868" y="134135"/>
                </a:lnTo>
                <a:lnTo>
                  <a:pt x="173736" y="129587"/>
                </a:lnTo>
                <a:lnTo>
                  <a:pt x="260604" y="129838"/>
                </a:lnTo>
                <a:lnTo>
                  <a:pt x="347472" y="136318"/>
                </a:lnTo>
                <a:lnTo>
                  <a:pt x="434340" y="148025"/>
                </a:lnTo>
                <a:lnTo>
                  <a:pt x="521208" y="161740"/>
                </a:lnTo>
                <a:lnTo>
                  <a:pt x="608076" y="173207"/>
                </a:lnTo>
                <a:lnTo>
                  <a:pt x="694944" y="178793"/>
                </a:lnTo>
                <a:lnTo>
                  <a:pt x="781812" y="176899"/>
                </a:lnTo>
                <a:lnTo>
                  <a:pt x="868680" y="168518"/>
                </a:lnTo>
                <a:lnTo>
                  <a:pt x="955548" y="156708"/>
                </a:lnTo>
                <a:lnTo>
                  <a:pt x="1042416" y="145217"/>
                </a:lnTo>
                <a:lnTo>
                  <a:pt x="1129284" y="136872"/>
                </a:lnTo>
                <a:lnTo>
                  <a:pt x="1216152" y="132443"/>
                </a:lnTo>
                <a:lnTo>
                  <a:pt x="1303020" y="130473"/>
                </a:lnTo>
                <a:lnTo>
                  <a:pt x="1389888" y="128140"/>
                </a:lnTo>
                <a:lnTo>
                  <a:pt x="1476756" y="122739"/>
                </a:lnTo>
                <a:lnTo>
                  <a:pt x="1563624" y="113127"/>
                </a:lnTo>
                <a:lnTo>
                  <a:pt x="1650492" y="100447"/>
                </a:lnTo>
                <a:lnTo>
                  <a:pt x="1737360" y="87816"/>
                </a:lnTo>
                <a:lnTo>
                  <a:pt x="1824228" y="79074"/>
                </a:lnTo>
                <a:lnTo>
                  <a:pt x="1911096" y="77159"/>
                </a:lnTo>
                <a:lnTo>
                  <a:pt x="1997964" y="82808"/>
                </a:lnTo>
                <a:lnTo>
                  <a:pt x="2084832" y="94167"/>
                </a:lnTo>
                <a:lnTo>
                  <a:pt x="2171700" y="107476"/>
                </a:lnTo>
                <a:lnTo>
                  <a:pt x="2258568" y="118561"/>
                </a:lnTo>
                <a:lnTo>
                  <a:pt x="2345436" y="124454"/>
                </a:lnTo>
                <a:lnTo>
                  <a:pt x="2432304" y="124473"/>
                </a:lnTo>
              </a:path>
            </a:pathLst>
          </a:custGeom>
          <a:solidFill>
            <a:srgbClr val="FFFFFF">
              <a:alpha val="0"/>
            </a:srgbClr>
          </a:solidFill>
          <a:ln w="27940">
            <a:solidFill>
              <a:srgbClr val="B5423A"/>
            </a:solidFill>
            <a:prstDash val="solid"/>
          </a:ln>
        </p:spPr>
      </p:sp>
      <p:pic>
        <p:nvPicPr>
          <p:cNvPr id="17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2459736"/>
            <a:ext cx="155448" cy="155448"/>
          </a:xfrm>
          <a:prstGeom prst="rect">
            <a:avLst/>
          </a:prstGeom>
        </p:spPr>
      </p:pic>
      <p:sp>
        <p:nvSpPr>
          <p:cNvPr id="174" name="Text 163"/>
          <p:cNvSpPr txBox="1"/>
          <p:nvPr/>
        </p:nvSpPr>
        <p:spPr>
          <a:xfrm>
            <a:off x="5824728" y="24414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1E5E57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not executed on a safe hit</a:t>
            </a:r>
            <a:endParaRPr lang="en-US" sz="1050" dirty="0"/>
          </a:p>
        </p:txBody>
      </p:sp>
      <p:sp>
        <p:nvSpPr>
          <p:cNvPr id="175" name="Text 164"/>
          <p:cNvSpPr txBox="1"/>
          <p:nvPr/>
        </p:nvSpPr>
        <p:spPr>
          <a:xfrm>
            <a:off x="4228719" y="2778125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Early dispatch skips unused producers.</a:t>
            </a:r>
            <a:endParaRPr lang="en-US" sz="1200" dirty="0"/>
          </a:p>
        </p:txBody>
      </p:sp>
      <p:sp>
        <p:nvSpPr>
          <p:cNvPr id="176" name="Text 165"/>
          <p:cNvSpPr txBox="1"/>
          <p:nvPr/>
        </p:nvSpPr>
        <p:spPr>
          <a:xfrm>
            <a:off x="4215384" y="298069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Same output as the selected cache policy.</a:t>
            </a:r>
            <a:endParaRPr lang="en-US" sz="950" dirty="0"/>
          </a:p>
        </p:txBody>
      </p:sp>
      <p:sp>
        <p:nvSpPr>
          <p:cNvPr id="177" name="Shape 166"/>
          <p:cNvSpPr/>
          <p:nvPr/>
        </p:nvSpPr>
        <p:spPr>
          <a:xfrm>
            <a:off x="490411" y="3401568"/>
            <a:ext cx="411480" cy="0"/>
          </a:xfrm>
          <a:prstGeom prst="line">
            <a:avLst/>
          </a:prstGeom>
          <a:noFill/>
          <a:ln w="1778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78" name="Text 167"/>
          <p:cNvSpPr txBox="1"/>
          <p:nvPr/>
        </p:nvSpPr>
        <p:spPr>
          <a:xfrm>
            <a:off x="956755" y="33009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677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executed data path</a:t>
            </a:r>
            <a:endParaRPr lang="en-US" sz="950" dirty="0"/>
          </a:p>
        </p:txBody>
      </p:sp>
      <p:sp>
        <p:nvSpPr>
          <p:cNvPr id="179" name="Shape 168"/>
          <p:cNvSpPr/>
          <p:nvPr/>
        </p:nvSpPr>
        <p:spPr>
          <a:xfrm>
            <a:off x="2364931" y="3401568"/>
            <a:ext cx="411480" cy="0"/>
          </a:xfrm>
          <a:prstGeom prst="line">
            <a:avLst/>
          </a:prstGeom>
          <a:noFill/>
          <a:ln w="20320">
            <a:solidFill>
              <a:srgbClr val="B9832F"/>
            </a:solidFill>
            <a:prstDash val="solid"/>
            <a:tailEnd type="triangle"/>
          </a:ln>
        </p:spPr>
      </p:sp>
      <p:sp>
        <p:nvSpPr>
          <p:cNvPr id="180" name="Text 169"/>
          <p:cNvSpPr txBox="1"/>
          <p:nvPr/>
        </p:nvSpPr>
        <p:spPr>
          <a:xfrm>
            <a:off x="2831275" y="330098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677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cached state</a:t>
            </a:r>
            <a:endParaRPr lang="en-US" sz="950" dirty="0"/>
          </a:p>
        </p:txBody>
      </p:sp>
      <p:sp>
        <p:nvSpPr>
          <p:cNvPr id="181" name="Shape 170"/>
          <p:cNvSpPr/>
          <p:nvPr/>
        </p:nvSpPr>
        <p:spPr>
          <a:xfrm>
            <a:off x="3873691" y="3310128"/>
            <a:ext cx="38404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1430">
            <a:solidFill>
              <a:srgbClr val="9AA1A9"/>
            </a:solidFill>
            <a:prstDash val="dash"/>
          </a:ln>
        </p:spPr>
      </p:sp>
      <p:sp>
        <p:nvSpPr>
          <p:cNvPr id="182" name="Text 171"/>
          <p:cNvSpPr txBox="1"/>
          <p:nvPr/>
        </p:nvSpPr>
        <p:spPr>
          <a:xfrm>
            <a:off x="4321747" y="330098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677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unused or not executed</a:t>
            </a:r>
            <a:endParaRPr lang="en-US" sz="950" dirty="0"/>
          </a:p>
        </p:txBody>
      </p:sp>
      <p:sp>
        <p:nvSpPr>
          <p:cNvPr id="183" name="Shape 172"/>
          <p:cNvSpPr/>
          <p:nvPr/>
        </p:nvSpPr>
        <p:spPr>
          <a:xfrm>
            <a:off x="5931091" y="3328416"/>
            <a:ext cx="411480" cy="146304"/>
          </a:xfrm>
          <a:custGeom>
            <a:avLst/>
            <a:gdLst/>
            <a:ahLst/>
            <a:cxnLst/>
            <a:rect l="l" t="t" r="r" b="b"/>
            <a:pathLst>
              <a:path w="411480" h="146304">
                <a:moveTo>
                  <a:pt x="0" y="104884"/>
                </a:moveTo>
                <a:lnTo>
                  <a:pt x="14696" y="102957"/>
                </a:lnTo>
                <a:lnTo>
                  <a:pt x="29391" y="99209"/>
                </a:lnTo>
                <a:lnTo>
                  <a:pt x="44087" y="95322"/>
                </a:lnTo>
                <a:lnTo>
                  <a:pt x="58783" y="92642"/>
                </a:lnTo>
                <a:lnTo>
                  <a:pt x="73479" y="91561"/>
                </a:lnTo>
                <a:lnTo>
                  <a:pt x="88174" y="91371"/>
                </a:lnTo>
                <a:lnTo>
                  <a:pt x="102870" y="90625"/>
                </a:lnTo>
                <a:lnTo>
                  <a:pt x="117566" y="87863"/>
                </a:lnTo>
                <a:lnTo>
                  <a:pt x="132261" y="82364"/>
                </a:lnTo>
                <a:lnTo>
                  <a:pt x="146957" y="74581"/>
                </a:lnTo>
                <a:lnTo>
                  <a:pt x="161653" y="66062"/>
                </a:lnTo>
                <a:lnTo>
                  <a:pt x="176349" y="58878"/>
                </a:lnTo>
                <a:lnTo>
                  <a:pt x="191044" y="54802"/>
                </a:lnTo>
                <a:lnTo>
                  <a:pt x="205740" y="54594"/>
                </a:lnTo>
                <a:lnTo>
                  <a:pt x="220436" y="57710"/>
                </a:lnTo>
                <a:lnTo>
                  <a:pt x="235131" y="62545"/>
                </a:lnTo>
                <a:lnTo>
                  <a:pt x="249827" y="67120"/>
                </a:lnTo>
                <a:lnTo>
                  <a:pt x="264523" y="69894"/>
                </a:lnTo>
                <a:lnTo>
                  <a:pt x="279219" y="70364"/>
                </a:lnTo>
                <a:lnTo>
                  <a:pt x="293914" y="69174"/>
                </a:lnTo>
                <a:lnTo>
                  <a:pt x="308610" y="67716"/>
                </a:lnTo>
                <a:lnTo>
                  <a:pt x="323306" y="67388"/>
                </a:lnTo>
                <a:lnTo>
                  <a:pt x="338001" y="68869"/>
                </a:lnTo>
                <a:lnTo>
                  <a:pt x="352697" y="71722"/>
                </a:lnTo>
                <a:lnTo>
                  <a:pt x="367393" y="74525"/>
                </a:lnTo>
                <a:lnTo>
                  <a:pt x="382089" y="75467"/>
                </a:lnTo>
                <a:lnTo>
                  <a:pt x="396784" y="73149"/>
                </a:lnTo>
                <a:lnTo>
                  <a:pt x="411480" y="67244"/>
                </a:lnTo>
              </a:path>
            </a:pathLst>
          </a:custGeom>
          <a:solidFill>
            <a:srgbClr val="FFFFFF">
              <a:alpha val="0"/>
            </a:srgbClr>
          </a:solidFill>
          <a:ln w="27940">
            <a:solidFill>
              <a:srgbClr val="B5423A"/>
            </a:solidFill>
            <a:prstDash val="solid"/>
          </a:ln>
        </p:spPr>
      </p:sp>
      <p:sp>
        <p:nvSpPr>
          <p:cNvPr id="184" name="Text 173"/>
          <p:cNvSpPr txBox="1"/>
          <p:nvPr/>
        </p:nvSpPr>
        <p:spPr>
          <a:xfrm>
            <a:off x="6406579" y="330098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F6770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skipped computation</a:t>
            </a:r>
            <a:endParaRPr lang="en-US" sz="950" dirty="0"/>
          </a:p>
        </p:txBody>
      </p:sp>
      <p:sp>
        <p:nvSpPr>
          <p:cNvPr id="9001" name="cache-policy-source"/>
          <p:cNvSpPr txBox="1"/>
          <p:nvPr/>
        </p:nvSpPr>
        <p:spPr>
          <a:xfrm>
            <a:off x="5543550" y="1981200"/>
            <a:ext cx="245745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77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Refresh steps store Head-A output for later hits.</a:t>
            </a:r>
            <a:endParaRPr lang="en-US" sz="950" dirty="0"/>
          </a:p>
        </p:txBody>
      </p:sp>
      <p:sp>
        <p:nvSpPr>
          <p:cNvPr id="9002" name="refresh-route-rise"/>
          <p:cNvSpPr/>
          <p:nvPr/>
        </p:nvSpPr>
        <p:spPr>
          <a:xfrm>
            <a:off x="5467350" y="1685925"/>
            <a:ext cx="0" cy="638175"/>
          </a:xfrm>
          <a:prstGeom prst="line">
            <a:avLst/>
          </a:prstGeom>
          <a:noFill/>
          <a:ln w="20320">
            <a:solidFill>
              <a:srgbClr val="B9832F"/>
            </a:solidFill>
            <a:prstDash val="solid"/>
          </a:ln>
        </p:spPr>
      </p:sp>
      <p:sp>
        <p:nvSpPr>
          <p:cNvPr id="9003" name="refresh-route-turn"/>
          <p:cNvSpPr/>
          <p:nvPr/>
        </p:nvSpPr>
        <p:spPr>
          <a:xfrm>
            <a:off x="5467350" y="1685925"/>
            <a:ext cx="647700" cy="0"/>
          </a:xfrm>
          <a:prstGeom prst="line">
            <a:avLst/>
          </a:prstGeom>
          <a:noFill/>
          <a:ln w="20320">
            <a:solidFill>
              <a:srgbClr val="B9832F"/>
            </a:solidFill>
            <a:prstDash val="solid"/>
          </a:ln>
        </p:spPr>
      </p:sp>
      <p:sp>
        <p:nvSpPr>
          <p:cNvPr id="9004" name="refresh-cache-write"/>
          <p:cNvSpPr/>
          <p:nvPr/>
        </p:nvSpPr>
        <p:spPr>
          <a:xfrm flipV="1">
            <a:off x="6115050" y="1447800"/>
            <a:ext cx="0" cy="238125"/>
          </a:xfrm>
          <a:prstGeom prst="line">
            <a:avLst/>
          </a:prstGeom>
          <a:noFill/>
          <a:ln w="20320">
            <a:solidFill>
              <a:srgbClr val="B9832F"/>
            </a:solidFill>
            <a:prstDash val="solid"/>
            <a:tailEnd type="triangle"/>
          </a:ln>
        </p:spPr>
      </p:sp>
      <p:sp>
        <p:nvSpPr>
          <p:cNvPr id="9005" name="refresh-route-label"/>
          <p:cNvSpPr txBox="1"/>
          <p:nvPr/>
        </p:nvSpPr>
        <p:spPr>
          <a:xfrm>
            <a:off x="5524500" y="1714500"/>
            <a:ext cx="7239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i="1">
                <a:solidFill>
                  <a:srgbClr val="B9832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 refresh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WPS Spreadsheets</Application>
  <PresentationFormat>On-screen Show (16:9)</PresentationFormat>
  <Paragraphs>109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Times New Roman</vt:lpstr>
      <vt:lpstr>Times New Roman</vt:lpstr>
      <vt:lpstr>Arial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2 - CADD</dc:title>
  <dc:creator>PptxGenJS</dc:creator>
  <dc:subject>PptxGenJS Presentation</dc:subject>
  <cp:lastModifiedBy>anthony</cp:lastModifiedBy>
  <cp:revision>4</cp:revision>
  <dcterms:created xsi:type="dcterms:W3CDTF">2026-09-21T23:46:26Z</dcterms:created>
  <dcterms:modified xsi:type="dcterms:W3CDTF">2026-09-21T23:46:26Z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B8DC5E8E7FBD8D774695B16A89172A1F_42</vt:lpwstr>
  </property>
  <property fmtid="{D5CDD505-2E9C-101B-9397-08002B2CF9AE}" pid="3" name="KSOProductBuildVer">
    <vt:lpwstr>1033-6.14.0.8924</vt:lpwstr>
  </property>
</Properties>
</file>