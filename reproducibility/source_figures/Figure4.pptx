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9172575" cy="3810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KV execution policies on Show-o2. Panel (a) is Show-o2 with standard KV enabled under a fixed graph. It illustrates the compatibility case, not a claim that the default released mmu_generate loop already uses incremental KV.</a:t>
            </a:r>
          </a:p>
          <a:p>
            <a:r>
              <a:t>Official baseline context: https://github.com/showlab/Show-o/blob/main/show-o2/models/modeling_showo2_qwen2_5.py , checked 2026-09-22. The released mmu_generate loop (lines 489-523) repeatedly supplies the growing input_embeds without forwarding past_key_values. Standard KV is an existing optimization, not a new contribution of DepGraph-U.</a:t>
            </a:r>
          </a:p>
          <a:p>
            <a:r>
              <a:t>Panels (b) and (c) are DepGraph-U KV management alternatives under a selected pruning policy. The evaluated DLS and fixed FFN/token pruning policies come from FlashU and must be cited in the accompanying paper. They are not native properties of panel (a) or claimed novel pruning algorithms.</a:t>
            </a:r>
          </a:p>
          <a:p>
            <a:r>
              <a:t>Panel (b), Exact-DLS KV, retains the selected DLS policy: phase 0 evaluates the full prefix to select a skip set, phase 1 rebuilds the prefix under that graph, and later phases use new-token forwards with compatible KV. At the next DLS cycle the selection/rebuild schedule repeats. Even repeated selections conservatively rebuild. EOS can end the sequence before reuse. Exactness refers to preservation of the selected DLS execution policy and separately verified paired outputs, not identity with unpruned native Show-o2.</a:t>
            </a:r>
          </a:p>
          <a:p>
            <a:r>
              <a:t>Panel (c), Stable-Graph KV, disables that policy's DLS while retaining its fixed FFN and visual-token pruning. It changes the selected dynamic policy and can change outputs. The fixed graph then allows standard incremental KV after one prefill. This is not itself a new standard-KV algorithm.</a:t>
            </a:r>
          </a:p>
          <a:p>
            <a:r>
              <a:t>Both (b) and (c) use last-position vocabulary projection; its cost contribution is separated in the paper's controls. The diagram alone does not establish a speedup over panel (a).</a:t>
            </a:r>
          </a:p>
          <a:p>
            <a:r>
              <a:t>KV validity also requires compatible active layers, retained token mapping, positions, attention masks, and fixed weights/configuration. The runtime maintains per-layer KV and the stored visual gather map rather than comparing graph signatures.</a:t>
            </a:r>
          </a:p>
          <a:p>
            <a:r>
              <a:t>Sources: paper_rewrite_20260908/appendix_sync_v6_20260922/source/sec/3_method.tex:64-102; remote_experiments/understanding_audit_20260904/method_code/modeling_showo2_qwen2_5.py; remote_experiments/understanding_stable_cap128_20260920/PROTOCOL.json.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p:sp>
        <p:nvSpPr>
          <p:cNvPr id="217" name="top-rule-surface"/>
          <p:cNvSpPr>
            <a:spLocks noGrp="1"/>
          </p:cNvSpPr>
          <p:nvPr/>
        </p:nvSpPr>
        <p:spPr>
          <a:xfrm>
            <a:off x="95250" y="66675"/>
            <a:ext cx="8982075" cy="333375"/>
          </a:xfrm>
          <a:prstGeom prst="roundRect">
            <a:avLst>
              <a:gd name="adj" fmla="val 28571"/>
            </a:avLst>
          </a:prstGeom>
          <a:solidFill>
            <a:srgbClr val="F7F8F8"/>
          </a:solidFill>
          <a:ln w="10478">
            <a:solidFill>
              <a:srgbClr val="BCC2C7"/>
            </a:solidFill>
          </a:ln>
        </p:spPr>
      </p:sp>
      <p:sp>
        <p:nvSpPr>
          <p:cNvPr id="4" name="panel-a"/>
          <p:cNvSpPr>
            <a:spLocks noGrp="1"/>
          </p:cNvSpPr>
          <p:nvPr/>
        </p:nvSpPr>
        <p:spPr>
          <a:xfrm>
            <a:off x="95250" y="457200"/>
            <a:ext cx="2943225" cy="2781300"/>
          </a:xfrm>
          <a:prstGeom prst="roundRect">
            <a:avLst>
              <a:gd name="adj" fmla="val 4795"/>
            </a:avLst>
          </a:prstGeom>
          <a:solidFill>
            <a:srgbClr val="F7FAFC"/>
          </a:solidFill>
          <a:ln w="20955">
            <a:solidFill>
              <a:srgbClr val="3A74A5"/>
            </a:solidFill>
            <a:prstDash val="dash"/>
          </a:ln>
        </p:spPr>
      </p:sp>
      <p:sp>
        <p:nvSpPr>
          <p:cNvPr id="5" name="brush-a"/>
          <p:cNvSpPr>
            <a:spLocks noGrp="1"/>
          </p:cNvSpPr>
          <p:nvPr/>
        </p:nvSpPr>
        <p:spPr>
          <a:xfrm>
            <a:off x="600075" y="504825"/>
            <a:ext cx="1123950" cy="247650"/>
          </a:xfrm>
          <a:prstGeom prst="parallelogram">
            <a:avLst/>
          </a:prstGeom>
          <a:solidFill>
            <a:srgbClr val="F7FAFC"/>
          </a:solidFill>
          <a:ln w="0">
            <a:noFill/>
          </a:ln>
        </p:spPr>
      </p:sp>
      <p:sp>
        <p:nvSpPr>
          <p:cNvPr id="6" name="title-a"/>
          <p:cNvSpPr>
            <a:spLocks noGrp="1"/>
          </p:cNvSpPr>
          <p:nvPr/>
        </p:nvSpPr>
        <p:spPr>
          <a:xfrm>
            <a:off x="209550" y="476250"/>
            <a:ext cx="2724150" cy="304800"/>
          </a:xfrm>
          <a:prstGeom prst="rect">
            <a:avLst/>
          </a:prstGeom>
          <a:noFill/>
          <a:ln w="0">
            <a:noFill/>
          </a:ln>
        </p:spPr>
        <p:txBody>
          <a:bodyPr wrap="square" lIns="19050" tIns="9525" rIns="19050" bIns="9525" anchor="ctr">
            <a:normAutofit/>
          </a:bodyPr>
          <a:lstStyle/>
          <a:p>
            <a:pPr algn="l">
              <a:lnSpc>
                <a:spcPct val="92000"/>
              </a:lnSpc>
              <a:buNone/>
              <a:defRPr sz="1875">
                <a:solidFill>
                  <a:srgbClr val="202428"/>
                </a:solidFill>
                <a:latin typeface="Times New Roman" panose="02020603050405020304"/>
                <a:ea typeface="Times New Roman" panose="02020603050405020304"/>
                <a:cs typeface="Times New Roman" panose="02020603050405020304"/>
              </a:defRPr>
            </a:pPr>
            <a:r>
              <a:rPr sz="1875" b="1" i="1">
                <a:solidFill>
                  <a:srgbClr val="202428"/>
                </a:solidFill>
                <a:latin typeface="Times New Roman" panose="02020603050405020304"/>
                <a:ea typeface="Times New Roman" panose="02020603050405020304"/>
                <a:cs typeface="Times New Roman" panose="02020603050405020304"/>
              </a:rPr>
              <a:t>(a) Show-o2 + KV</a:t>
            </a:r>
            <a:endParaRPr sz="1875" b="1" i="1">
              <a:solidFill>
                <a:srgbClr val="202428"/>
              </a:solidFill>
              <a:latin typeface="Times New Roman" panose="02020603050405020304"/>
              <a:ea typeface="Times New Roman" panose="02020603050405020304"/>
              <a:cs typeface="Times New Roman" panose="02020603050405020304"/>
            </a:endParaRPr>
          </a:p>
        </p:txBody>
      </p:sp>
      <p:sp>
        <p:nvSpPr>
          <p:cNvPr id="7" name="subtitle-a"/>
          <p:cNvSpPr>
            <a:spLocks noGrp="1"/>
          </p:cNvSpPr>
          <p:nvPr/>
        </p:nvSpPr>
        <p:spPr>
          <a:xfrm>
            <a:off x="228600" y="742950"/>
            <a:ext cx="2676525" cy="171450"/>
          </a:xfrm>
          <a:prstGeom prst="rect">
            <a:avLst/>
          </a:prstGeom>
          <a:noFill/>
          <a:ln w="0">
            <a:noFill/>
          </a:ln>
        </p:spPr>
        <p:txBody>
          <a:bodyPr wrap="square" lIns="0" tIns="0" rIns="0" bIns="0" anchor="ctr">
            <a:noAutofit/>
          </a:bodyPr>
          <a:lstStyle/>
          <a:p>
            <a:pPr algn="ctr">
              <a:lnSpc>
                <a:spcPct val="92000"/>
              </a:lnSpc>
              <a:buNone/>
              <a:defRPr sz="1050" b="0" i="1">
                <a:solidFill>
                  <a:srgbClr val="6F7780"/>
                </a:solidFill>
                <a:latin typeface="Times New Roman" panose="02020603050405020304"/>
                <a:ea typeface="Times New Roman" panose="02020603050405020304"/>
                <a:cs typeface="Times New Roman" panose="02020603050405020304"/>
              </a:defRPr>
            </a:pPr>
            <a:r>
              <a:rPr sz="1050" b="0" i="1">
                <a:solidFill>
                  <a:srgbClr val="6F7780"/>
                </a:solidFill>
                <a:latin typeface="Times New Roman" panose="02020603050405020304"/>
                <a:ea typeface="Times New Roman" panose="02020603050405020304"/>
                <a:cs typeface="Times New Roman" panose="02020603050405020304"/>
              </a:rPr>
              <a:t>fixed graph with standard KV reuse</a:t>
            </a:r>
            <a:endParaRPr sz="1090" b="0" i="1">
              <a:solidFill>
                <a:srgbClr val="6F7780"/>
              </a:solidFill>
              <a:latin typeface="Times New Roman" panose="02020603050405020304"/>
              <a:ea typeface="Times New Roman" panose="02020603050405020304"/>
              <a:cs typeface="Times New Roman" panose="02020603050405020304"/>
            </a:endParaRPr>
          </a:p>
        </p:txBody>
      </p:sp>
      <p:sp>
        <p:nvSpPr>
          <p:cNvPr id="12" name="panel-c"/>
          <p:cNvSpPr>
            <a:spLocks noGrp="1"/>
          </p:cNvSpPr>
          <p:nvPr/>
        </p:nvSpPr>
        <p:spPr>
          <a:xfrm>
            <a:off x="3114675" y="457200"/>
            <a:ext cx="2943225" cy="2781300"/>
          </a:xfrm>
          <a:prstGeom prst="roundRect">
            <a:avLst>
              <a:gd name="adj" fmla="val 4795"/>
            </a:avLst>
          </a:prstGeom>
          <a:solidFill>
            <a:srgbClr val="F7FAFC"/>
          </a:solidFill>
          <a:ln w="20955">
            <a:solidFill>
              <a:srgbClr val="3A74A5"/>
            </a:solidFill>
            <a:prstDash val="dash"/>
          </a:ln>
        </p:spPr>
      </p:sp>
      <p:sp>
        <p:nvSpPr>
          <p:cNvPr id="13" name="brush-c"/>
          <p:cNvSpPr>
            <a:spLocks noGrp="1"/>
          </p:cNvSpPr>
          <p:nvPr/>
        </p:nvSpPr>
        <p:spPr>
          <a:xfrm>
            <a:off x="3619500" y="504825"/>
            <a:ext cx="1571625" cy="247650"/>
          </a:xfrm>
          <a:prstGeom prst="parallelogram">
            <a:avLst/>
          </a:prstGeom>
          <a:solidFill>
            <a:srgbClr val="F7FAFC"/>
          </a:solidFill>
          <a:ln w="0">
            <a:noFill/>
          </a:ln>
        </p:spPr>
      </p:sp>
      <p:sp>
        <p:nvSpPr>
          <p:cNvPr id="14" name="title-c"/>
          <p:cNvSpPr>
            <a:spLocks noGrp="1"/>
          </p:cNvSpPr>
          <p:nvPr/>
        </p:nvSpPr>
        <p:spPr>
          <a:xfrm>
            <a:off x="3228975" y="476250"/>
            <a:ext cx="2724150" cy="304800"/>
          </a:xfrm>
          <a:prstGeom prst="rect">
            <a:avLst/>
          </a:prstGeom>
          <a:noFill/>
          <a:ln w="0">
            <a:noFill/>
          </a:ln>
        </p:spPr>
        <p:txBody>
          <a:bodyPr wrap="square" lIns="19050" tIns="9525" rIns="19050" bIns="9525" anchor="ctr">
            <a:normAutofit/>
          </a:bodyPr>
          <a:lstStyle/>
          <a:p>
            <a:pPr algn="l">
              <a:lnSpc>
                <a:spcPct val="92000"/>
              </a:lnSpc>
              <a:buNone/>
              <a:defRPr sz="1875">
                <a:solidFill>
                  <a:srgbClr val="202428"/>
                </a:solidFill>
                <a:latin typeface="Times New Roman" panose="02020603050405020304"/>
                <a:ea typeface="Times New Roman" panose="02020603050405020304"/>
                <a:cs typeface="Times New Roman" panose="02020603050405020304"/>
              </a:defRPr>
            </a:pPr>
            <a:r>
              <a:rPr sz="1875" b="1" i="1">
                <a:solidFill>
                  <a:srgbClr val="202428"/>
                </a:solidFill>
                <a:latin typeface="Times New Roman" panose="02020603050405020304"/>
                <a:ea typeface="Times New Roman" panose="02020603050405020304"/>
                <a:cs typeface="Times New Roman" panose="02020603050405020304"/>
              </a:rPr>
              <a:t>(b) </a:t>
            </a:r>
            <a:r>
              <a:rPr sz="1875" b="1" i="1">
                <a:solidFill>
                  <a:srgbClr val="202428"/>
                </a:solidFill>
                <a:latin typeface="Times New Roman" panose="02020603050405020304"/>
                <a:ea typeface="Times New Roman" panose="02020603050405020304"/>
                <a:cs typeface="Times New Roman" panose="02020603050405020304"/>
              </a:rPr>
              <a:t>Exact-DLS KV</a:t>
            </a:r>
            <a:endParaRPr sz="1875" b="1" i="1">
              <a:solidFill>
                <a:srgbClr val="202428"/>
              </a:solidFill>
              <a:latin typeface="Times New Roman" panose="02020603050405020304"/>
              <a:ea typeface="Times New Roman" panose="02020603050405020304"/>
              <a:cs typeface="Times New Roman" panose="02020603050405020304"/>
            </a:endParaRPr>
          </a:p>
        </p:txBody>
      </p:sp>
      <p:sp>
        <p:nvSpPr>
          <p:cNvPr id="15" name="subtitle-c"/>
          <p:cNvSpPr>
            <a:spLocks noGrp="1"/>
          </p:cNvSpPr>
          <p:nvPr/>
        </p:nvSpPr>
        <p:spPr>
          <a:xfrm>
            <a:off x="3248025" y="742950"/>
            <a:ext cx="2676525" cy="171450"/>
          </a:xfrm>
          <a:prstGeom prst="rect">
            <a:avLst/>
          </a:prstGeom>
          <a:noFill/>
          <a:ln w="0">
            <a:noFill/>
          </a:ln>
        </p:spPr>
        <p:txBody>
          <a:bodyPr wrap="square" lIns="0" tIns="0" rIns="0" bIns="0" anchor="ctr">
            <a:noAutofit/>
          </a:bodyPr>
          <a:lstStyle/>
          <a:p>
            <a:pPr algn="ctr">
              <a:lnSpc>
                <a:spcPct val="92000"/>
              </a:lnSpc>
              <a:buNone/>
              <a:defRPr sz="1050" b="0" i="1">
                <a:solidFill>
                  <a:srgbClr val="6F7780"/>
                </a:solidFill>
                <a:latin typeface="Times New Roman" panose="02020603050405020304"/>
                <a:ea typeface="Times New Roman" panose="02020603050405020304"/>
                <a:cs typeface="Times New Roman" panose="02020603050405020304"/>
              </a:defRPr>
            </a:pPr>
            <a:r>
              <a:rPr sz="1050" b="0" i="1">
                <a:solidFill>
                  <a:srgbClr val="6F7780"/>
                </a:solidFill>
                <a:latin typeface="Times New Roman" panose="02020603050405020304"/>
                <a:ea typeface="Times New Roman" panose="02020603050405020304"/>
                <a:cs typeface="Times New Roman" panose="02020603050405020304"/>
              </a:rPr>
              <a:t>selected DLS policy, compatible prefix rebuilds</a:t>
            </a:r>
            <a:endParaRPr sz="1090" b="0" i="1">
              <a:solidFill>
                <a:srgbClr val="6F7780"/>
              </a:solidFill>
              <a:latin typeface="Times New Roman" panose="02020603050405020304"/>
              <a:ea typeface="Times New Roman" panose="02020603050405020304"/>
              <a:cs typeface="Times New Roman" panose="02020603050405020304"/>
            </a:endParaRPr>
          </a:p>
        </p:txBody>
      </p:sp>
      <p:sp>
        <p:nvSpPr>
          <p:cNvPr id="16" name="panel-d"/>
          <p:cNvSpPr>
            <a:spLocks noGrp="1"/>
          </p:cNvSpPr>
          <p:nvPr/>
        </p:nvSpPr>
        <p:spPr>
          <a:xfrm>
            <a:off x="6134100" y="457200"/>
            <a:ext cx="2943225" cy="2781300"/>
          </a:xfrm>
          <a:prstGeom prst="roundRect">
            <a:avLst>
              <a:gd name="adj" fmla="val 4795"/>
            </a:avLst>
          </a:prstGeom>
          <a:solidFill>
            <a:srgbClr val="F3FBF9"/>
          </a:solidFill>
          <a:ln w="20955">
            <a:solidFill>
              <a:srgbClr val="2B938A"/>
            </a:solidFill>
            <a:prstDash val="dash"/>
          </a:ln>
        </p:spPr>
      </p:sp>
      <p:sp>
        <p:nvSpPr>
          <p:cNvPr id="17" name="brush-d"/>
          <p:cNvSpPr>
            <a:spLocks noGrp="1"/>
          </p:cNvSpPr>
          <p:nvPr/>
        </p:nvSpPr>
        <p:spPr>
          <a:xfrm>
            <a:off x="6638925" y="504825"/>
            <a:ext cx="1676400" cy="247650"/>
          </a:xfrm>
          <a:prstGeom prst="parallelogram">
            <a:avLst/>
          </a:prstGeom>
          <a:solidFill>
            <a:srgbClr val="F3FBF9"/>
          </a:solidFill>
          <a:ln w="0">
            <a:noFill/>
          </a:ln>
        </p:spPr>
      </p:sp>
      <p:sp>
        <p:nvSpPr>
          <p:cNvPr id="18" name="title-d"/>
          <p:cNvSpPr>
            <a:spLocks noGrp="1"/>
          </p:cNvSpPr>
          <p:nvPr/>
        </p:nvSpPr>
        <p:spPr>
          <a:xfrm>
            <a:off x="6248400" y="476250"/>
            <a:ext cx="2724150" cy="304800"/>
          </a:xfrm>
          <a:prstGeom prst="rect">
            <a:avLst/>
          </a:prstGeom>
          <a:noFill/>
          <a:ln w="0">
            <a:noFill/>
          </a:ln>
        </p:spPr>
        <p:txBody>
          <a:bodyPr wrap="square" lIns="19050" tIns="9525" rIns="19050" bIns="9525" anchor="ctr">
            <a:normAutofit/>
          </a:bodyPr>
          <a:lstStyle/>
          <a:p>
            <a:pPr algn="l">
              <a:lnSpc>
                <a:spcPct val="92000"/>
              </a:lnSpc>
              <a:buNone/>
              <a:defRPr sz="1875">
                <a:solidFill>
                  <a:srgbClr val="202428"/>
                </a:solidFill>
                <a:latin typeface="Times New Roman" panose="02020603050405020304"/>
                <a:ea typeface="Times New Roman" panose="02020603050405020304"/>
                <a:cs typeface="Times New Roman" panose="02020603050405020304"/>
              </a:defRPr>
            </a:pPr>
            <a:r>
              <a:rPr sz="1875" b="1" i="1">
                <a:solidFill>
                  <a:srgbClr val="202428"/>
                </a:solidFill>
                <a:latin typeface="Times New Roman" panose="02020603050405020304"/>
                <a:ea typeface="Times New Roman" panose="02020603050405020304"/>
                <a:cs typeface="Times New Roman" panose="02020603050405020304"/>
              </a:rPr>
              <a:t>(c) </a:t>
            </a:r>
            <a:r>
              <a:rPr sz="1875" b="1" i="1">
                <a:solidFill>
                  <a:srgbClr val="202428"/>
                </a:solidFill>
                <a:latin typeface="Times New Roman" panose="02020603050405020304"/>
                <a:ea typeface="Times New Roman" panose="02020603050405020304"/>
                <a:cs typeface="Times New Roman" panose="02020603050405020304"/>
              </a:rPr>
              <a:t>Stable-Graph KV</a:t>
            </a:r>
            <a:endParaRPr sz="1875" b="1" i="1">
              <a:solidFill>
                <a:srgbClr val="202428"/>
              </a:solidFill>
              <a:latin typeface="Times New Roman" panose="02020603050405020304"/>
              <a:ea typeface="Times New Roman" panose="02020603050405020304"/>
              <a:cs typeface="Times New Roman" panose="02020603050405020304"/>
            </a:endParaRPr>
          </a:p>
        </p:txBody>
      </p:sp>
      <p:sp>
        <p:nvSpPr>
          <p:cNvPr id="19" name="subtitle-d"/>
          <p:cNvSpPr>
            <a:spLocks noGrp="1"/>
          </p:cNvSpPr>
          <p:nvPr/>
        </p:nvSpPr>
        <p:spPr>
          <a:xfrm>
            <a:off x="6267450" y="742950"/>
            <a:ext cx="2676525" cy="171450"/>
          </a:xfrm>
          <a:prstGeom prst="rect">
            <a:avLst/>
          </a:prstGeom>
          <a:noFill/>
          <a:ln w="0">
            <a:noFill/>
          </a:ln>
        </p:spPr>
        <p:txBody>
          <a:bodyPr wrap="square" lIns="0" tIns="0" rIns="0" bIns="0" anchor="ctr">
            <a:noAutofit/>
          </a:bodyPr>
          <a:lstStyle/>
          <a:p>
            <a:pPr algn="ctr">
              <a:lnSpc>
                <a:spcPct val="92000"/>
              </a:lnSpc>
              <a:buNone/>
              <a:defRPr sz="1050" b="0" i="1">
                <a:solidFill>
                  <a:srgbClr val="6F7780"/>
                </a:solidFill>
                <a:latin typeface="Times New Roman" panose="02020603050405020304"/>
                <a:ea typeface="Times New Roman" panose="02020603050405020304"/>
                <a:cs typeface="Times New Roman" panose="02020603050405020304"/>
              </a:defRPr>
            </a:pPr>
            <a:r>
              <a:rPr sz="1050" b="0" i="1">
                <a:solidFill>
                  <a:srgbClr val="6F7780"/>
                </a:solidFill>
                <a:latin typeface="Times New Roman" panose="02020603050405020304"/>
                <a:ea typeface="Times New Roman" panose="02020603050405020304"/>
                <a:cs typeface="Times New Roman" panose="02020603050405020304"/>
              </a:rPr>
              <a:t>DLS off, fixed FFN / token pruning retained</a:t>
            </a:r>
            <a:endParaRPr sz="1090" b="0" i="1">
              <a:solidFill>
                <a:srgbClr val="6F7780"/>
              </a:solidFill>
              <a:latin typeface="Times New Roman" panose="02020603050405020304"/>
              <a:ea typeface="Times New Roman" panose="02020603050405020304"/>
              <a:cs typeface="Times New Roman" panose="02020603050405020304"/>
            </a:endParaRPr>
          </a:p>
        </p:txBody>
      </p:sp>
      <p:sp>
        <p:nvSpPr>
          <p:cNvPr id="218" name="rule"/>
          <p:cNvSpPr>
            <a:spLocks noGrp="1"/>
          </p:cNvSpPr>
          <p:nvPr/>
        </p:nvSpPr>
        <p:spPr>
          <a:xfrm>
            <a:off x="238125" y="95250"/>
            <a:ext cx="2914650" cy="276225"/>
          </a:xfrm>
          <a:prstGeom prst="rect">
            <a:avLst/>
          </a:prstGeom>
          <a:noFill/>
          <a:ln w="0">
            <a:noFill/>
          </a:ln>
        </p:spPr>
        <p:txBody>
          <a:bodyPr wrap="square" lIns="19050" tIns="9525" rIns="19050" bIns="9525" anchor="ctr">
            <a:normAutofit/>
          </a:bodyPr>
          <a:lstStyle/>
          <a:p>
            <a:pPr algn="l">
              <a:lnSpc>
                <a:spcPct val="92000"/>
              </a:lnSpc>
              <a:buNone/>
              <a:defRPr sz="1390" b="1" i="1">
                <a:solidFill>
                  <a:srgbClr val="202428"/>
                </a:solidFill>
                <a:latin typeface="Times New Roman" panose="02020603050405020304"/>
                <a:ea typeface="Times New Roman" panose="02020603050405020304"/>
                <a:cs typeface="Times New Roman" panose="02020603050405020304"/>
              </a:defRPr>
            </a:pPr>
            <a:r>
              <a:rPr sz="1390" b="1" i="1">
                <a:solidFill>
                  <a:srgbClr val="202428"/>
                </a:solidFill>
                <a:latin typeface="Times New Roman" panose="02020603050405020304"/>
                <a:ea typeface="Times New Roman" panose="02020603050405020304"/>
                <a:cs typeface="Times New Roman" panose="02020603050405020304"/>
              </a:rPr>
              <a:t>KV reuse follows the execution graph</a:t>
            </a:r>
            <a:endParaRPr sz="1390" b="1" i="1">
              <a:solidFill>
                <a:srgbClr val="202428"/>
              </a:solidFill>
              <a:latin typeface="Times New Roman" panose="02020603050405020304"/>
              <a:ea typeface="Times New Roman" panose="02020603050405020304"/>
              <a:cs typeface="Times New Roman" panose="02020603050405020304"/>
            </a:endParaRPr>
          </a:p>
        </p:txBody>
      </p:sp>
      <p:sp>
        <p:nvSpPr>
          <p:cNvPr id="219" name="rule-detail"/>
          <p:cNvSpPr>
            <a:spLocks noGrp="1"/>
          </p:cNvSpPr>
          <p:nvPr/>
        </p:nvSpPr>
        <p:spPr>
          <a:xfrm>
            <a:off x="3238500" y="104775"/>
            <a:ext cx="5695950" cy="257175"/>
          </a:xfrm>
          <a:prstGeom prst="rect">
            <a:avLst/>
          </a:prstGeom>
          <a:noFill/>
          <a:ln w="0">
            <a:noFill/>
          </a:ln>
        </p:spPr>
        <p:txBody>
          <a:bodyPr wrap="square" lIns="19050" tIns="9525" rIns="19050" bIns="9525" anchor="ctr">
            <a:normAutofit/>
          </a:bodyPr>
          <a:lstStyle/>
          <a:p>
            <a:pPr algn="r">
              <a:lnSpc>
                <a:spcPct val="92000"/>
              </a:lnSpc>
              <a:buNone/>
              <a:defRPr sz="1065" b="0" i="1">
                <a:solidFill>
                  <a:srgbClr val="6F7780"/>
                </a:solidFill>
                <a:latin typeface="Times New Roman" panose="02020603050405020304"/>
                <a:ea typeface="Times New Roman" panose="02020603050405020304"/>
                <a:cs typeface="Times New Roman" panose="02020603050405020304"/>
              </a:defRPr>
            </a:pPr>
            <a:r>
              <a:rPr sz="1065" b="0" i="1">
                <a:solidFill>
                  <a:srgbClr val="6F7780"/>
                </a:solidFill>
                <a:latin typeface="Times New Roman" panose="02020603050405020304"/>
                <a:ea typeface="Times New Roman" panose="02020603050405020304"/>
                <a:cs typeface="Times New Roman" panose="02020603050405020304"/>
              </a:rPr>
              <a:t>DepGraph-U (b, c): KV under a selected pruning policy</a:t>
            </a:r>
            <a:endParaRPr sz="1065" b="0" i="1">
              <a:solidFill>
                <a:srgbClr val="6F7780"/>
              </a:solidFill>
              <a:latin typeface="Times New Roman" panose="02020603050405020304"/>
              <a:ea typeface="Times New Roman" panose="02020603050405020304"/>
              <a:cs typeface="Times New Roman" panose="02020603050405020304"/>
            </a:endParaRPr>
          </a:p>
        </p:txBody>
      </p:sp>
      <p:sp>
        <p:nvSpPr>
          <p:cNvPr id="220" name="a-input-text-0"/>
          <p:cNvSpPr>
            <a:spLocks noGrp="1"/>
          </p:cNvSpPr>
          <p:nvPr/>
        </p:nvSpPr>
        <p:spPr>
          <a:xfrm>
            <a:off x="276225" y="1143000"/>
            <a:ext cx="111443" cy="111443"/>
          </a:xfrm>
          <a:prstGeom prst="roundRect">
            <a:avLst>
              <a:gd name="adj" fmla="val 23077"/>
            </a:avLst>
          </a:prstGeom>
          <a:solidFill>
            <a:srgbClr val="5AB9B2"/>
          </a:solidFill>
          <a:ln w="10478">
            <a:solidFill>
              <a:srgbClr val="2B938A"/>
            </a:solidFill>
          </a:ln>
        </p:spPr>
      </p:sp>
      <p:sp>
        <p:nvSpPr>
          <p:cNvPr id="221" name="a-input-text-1"/>
          <p:cNvSpPr>
            <a:spLocks noGrp="1"/>
          </p:cNvSpPr>
          <p:nvPr/>
        </p:nvSpPr>
        <p:spPr>
          <a:xfrm>
            <a:off x="430530" y="1143000"/>
            <a:ext cx="111443" cy="111443"/>
          </a:xfrm>
          <a:prstGeom prst="roundRect">
            <a:avLst>
              <a:gd name="adj" fmla="val 23077"/>
            </a:avLst>
          </a:prstGeom>
          <a:solidFill>
            <a:srgbClr val="5AB9B2"/>
          </a:solidFill>
          <a:ln w="10478">
            <a:solidFill>
              <a:srgbClr val="2B938A"/>
            </a:solidFill>
          </a:ln>
        </p:spPr>
      </p:sp>
      <p:sp>
        <p:nvSpPr>
          <p:cNvPr id="222" name="a-input-grid-0-0"/>
          <p:cNvSpPr>
            <a:spLocks noGrp="1"/>
          </p:cNvSpPr>
          <p:nvPr/>
        </p:nvSpPr>
        <p:spPr>
          <a:xfrm>
            <a:off x="276225" y="1314450"/>
            <a:ext cx="111443" cy="111443"/>
          </a:xfrm>
          <a:prstGeom prst="rect">
            <a:avLst/>
          </a:prstGeom>
          <a:solidFill>
            <a:srgbClr val="BFD7E8"/>
          </a:solidFill>
          <a:ln w="8573">
            <a:solidFill>
              <a:srgbClr val="3A74A5"/>
            </a:solidFill>
          </a:ln>
        </p:spPr>
      </p:sp>
      <p:sp>
        <p:nvSpPr>
          <p:cNvPr id="223" name="a-input-grid-0-1"/>
          <p:cNvSpPr>
            <a:spLocks noGrp="1"/>
          </p:cNvSpPr>
          <p:nvPr/>
        </p:nvSpPr>
        <p:spPr>
          <a:xfrm>
            <a:off x="404813" y="1314450"/>
            <a:ext cx="111443" cy="111443"/>
          </a:xfrm>
          <a:prstGeom prst="rect">
            <a:avLst/>
          </a:prstGeom>
          <a:solidFill>
            <a:srgbClr val="90B8D3"/>
          </a:solidFill>
          <a:ln w="8573">
            <a:solidFill>
              <a:srgbClr val="3A74A5"/>
            </a:solidFill>
          </a:ln>
        </p:spPr>
      </p:sp>
      <p:sp>
        <p:nvSpPr>
          <p:cNvPr id="224" name="a-input-grid-0-2"/>
          <p:cNvSpPr>
            <a:spLocks noGrp="1"/>
          </p:cNvSpPr>
          <p:nvPr/>
        </p:nvSpPr>
        <p:spPr>
          <a:xfrm>
            <a:off x="533400" y="1314450"/>
            <a:ext cx="111443" cy="111443"/>
          </a:xfrm>
          <a:prstGeom prst="rect">
            <a:avLst/>
          </a:prstGeom>
          <a:solidFill>
            <a:srgbClr val="D9E7F0"/>
          </a:solidFill>
          <a:ln w="8573">
            <a:solidFill>
              <a:srgbClr val="3A74A5"/>
            </a:solidFill>
          </a:ln>
        </p:spPr>
      </p:sp>
      <p:sp>
        <p:nvSpPr>
          <p:cNvPr id="225" name="a-input-grid-1-0"/>
          <p:cNvSpPr>
            <a:spLocks noGrp="1"/>
          </p:cNvSpPr>
          <p:nvPr/>
        </p:nvSpPr>
        <p:spPr>
          <a:xfrm>
            <a:off x="276225" y="1443038"/>
            <a:ext cx="111443" cy="111443"/>
          </a:xfrm>
          <a:prstGeom prst="rect">
            <a:avLst/>
          </a:prstGeom>
          <a:solidFill>
            <a:srgbClr val="91B5CF"/>
          </a:solidFill>
          <a:ln w="8573">
            <a:solidFill>
              <a:srgbClr val="3A74A5"/>
            </a:solidFill>
          </a:ln>
        </p:spPr>
      </p:sp>
      <p:sp>
        <p:nvSpPr>
          <p:cNvPr id="226" name="a-input-grid-1-1"/>
          <p:cNvSpPr>
            <a:spLocks noGrp="1"/>
          </p:cNvSpPr>
          <p:nvPr/>
        </p:nvSpPr>
        <p:spPr>
          <a:xfrm>
            <a:off x="404813" y="1443038"/>
            <a:ext cx="111443" cy="111443"/>
          </a:xfrm>
          <a:prstGeom prst="rect">
            <a:avLst/>
          </a:prstGeom>
          <a:solidFill>
            <a:srgbClr val="B8D2E3"/>
          </a:solidFill>
          <a:ln w="8573">
            <a:solidFill>
              <a:srgbClr val="3A74A5"/>
            </a:solidFill>
          </a:ln>
        </p:spPr>
      </p:sp>
      <p:sp>
        <p:nvSpPr>
          <p:cNvPr id="227" name="a-input-grid-1-2"/>
          <p:cNvSpPr>
            <a:spLocks noGrp="1"/>
          </p:cNvSpPr>
          <p:nvPr/>
        </p:nvSpPr>
        <p:spPr>
          <a:xfrm>
            <a:off x="533400" y="1443038"/>
            <a:ext cx="111443" cy="111443"/>
          </a:xfrm>
          <a:prstGeom prst="rect">
            <a:avLst/>
          </a:prstGeom>
          <a:solidFill>
            <a:srgbClr val="8FB4D2"/>
          </a:solidFill>
          <a:ln w="8573">
            <a:solidFill>
              <a:srgbClr val="3A74A5"/>
            </a:solidFill>
          </a:ln>
        </p:spPr>
      </p:sp>
      <p:sp>
        <p:nvSpPr>
          <p:cNvPr id="228" name="a-prefix"/>
          <p:cNvSpPr>
            <a:spLocks noGrp="1"/>
          </p:cNvSpPr>
          <p:nvPr/>
        </p:nvSpPr>
        <p:spPr>
          <a:xfrm>
            <a:off x="190500" y="1657350"/>
            <a:ext cx="590550" cy="171450"/>
          </a:xfrm>
          <a:prstGeom prst="rect">
            <a:avLst/>
          </a:prstGeom>
          <a:noFill/>
          <a:ln w="0">
            <a:noFill/>
          </a:ln>
        </p:spPr>
        <p:txBody>
          <a:bodyPr wrap="square" lIns="19050" tIns="9525" rIns="19050" bIns="9525" anchor="ctr">
            <a:normAutofit/>
          </a:bodyPr>
          <a:lstStyle/>
          <a:p>
            <a:pPr algn="ctr">
              <a:lnSpc>
                <a:spcPct val="92000"/>
              </a:lnSpc>
              <a:buNone/>
              <a:defRPr sz="975" b="0" i="1">
                <a:solidFill>
                  <a:srgbClr val="6F7780"/>
                </a:solidFill>
                <a:latin typeface="Times New Roman" panose="02020603050405020304"/>
                <a:ea typeface="Times New Roman" panose="02020603050405020304"/>
                <a:cs typeface="Times New Roman" panose="02020603050405020304"/>
              </a:defRPr>
            </a:pPr>
            <a:r>
              <a:rPr sz="975" b="0" i="1">
                <a:solidFill>
                  <a:srgbClr val="6F7780"/>
                </a:solidFill>
                <a:latin typeface="Times New Roman" panose="02020603050405020304"/>
                <a:ea typeface="Times New Roman" panose="02020603050405020304"/>
                <a:cs typeface="Times New Roman" panose="02020603050405020304"/>
              </a:rPr>
              <a:t>prefix</a:t>
            </a:r>
            <a:endParaRPr sz="975" b="0" i="1">
              <a:solidFill>
                <a:srgbClr val="6F7780"/>
              </a:solidFill>
              <a:latin typeface="Times New Roman" panose="02020603050405020304"/>
              <a:ea typeface="Times New Roman" panose="02020603050405020304"/>
              <a:cs typeface="Times New Roman" panose="02020603050405020304"/>
            </a:endParaRPr>
          </a:p>
        </p:txBody>
      </p:sp>
      <p:sp>
        <p:nvSpPr>
          <p:cNvPr id="229" name="a-prefill"/>
          <p:cNvSpPr>
            <a:spLocks noGrp="1"/>
          </p:cNvSpPr>
          <p:nvPr/>
        </p:nvSpPr>
        <p:spPr>
          <a:xfrm>
            <a:off x="1000125" y="971550"/>
            <a:ext cx="1038225" cy="952500"/>
          </a:xfrm>
          <a:prstGeom prst="roundRect">
            <a:avLst>
              <a:gd name="adj" fmla="val 8000"/>
            </a:avLst>
          </a:prstGeom>
          <a:solidFill>
            <a:srgbClr val="DCEAF4"/>
          </a:solidFill>
          <a:ln w="15240">
            <a:solidFill>
              <a:srgbClr val="3A74A5"/>
            </a:solidFill>
          </a:ln>
        </p:spPr>
      </p:sp>
      <p:sp>
        <p:nvSpPr>
          <p:cNvPr id="230" name="a-prefill-title"/>
          <p:cNvSpPr>
            <a:spLocks noGrp="1"/>
          </p:cNvSpPr>
          <p:nvPr/>
        </p:nvSpPr>
        <p:spPr>
          <a:xfrm>
            <a:off x="1038225" y="990600"/>
            <a:ext cx="962025" cy="219075"/>
          </a:xfrm>
          <a:prstGeom prst="rect">
            <a:avLst/>
          </a:prstGeom>
          <a:noFill/>
          <a:ln w="0">
            <a:noFill/>
          </a:ln>
        </p:spPr>
        <p:txBody>
          <a:bodyPr wrap="square" lIns="19050" tIns="9525" rIns="19050" bIns="9525" anchor="ctr">
            <a:normAutofit/>
          </a:bodyPr>
          <a:lstStyle/>
          <a:p>
            <a:pPr algn="ctr">
              <a:lnSpc>
                <a:spcPct val="92000"/>
              </a:lnSpc>
              <a:buNone/>
              <a:defRPr sz="1200" b="1" i="0">
                <a:solidFill>
                  <a:srgbClr val="244F75"/>
                </a:solidFill>
                <a:latin typeface="Times New Roman" panose="02020603050405020304"/>
                <a:ea typeface="Times New Roman" panose="02020603050405020304"/>
                <a:cs typeface="Times New Roman" panose="02020603050405020304"/>
              </a:defRPr>
            </a:pPr>
            <a:r>
              <a:rPr sz="1200" b="1" i="0">
                <a:solidFill>
                  <a:srgbClr val="244F75"/>
                </a:solidFill>
                <a:latin typeface="Times New Roman" panose="02020603050405020304"/>
                <a:ea typeface="Times New Roman" panose="02020603050405020304"/>
                <a:cs typeface="Times New Roman" panose="02020603050405020304"/>
              </a:rPr>
              <a:t>Prefill</a:t>
            </a:r>
            <a:endParaRPr sz="1200" b="1" i="0">
              <a:solidFill>
                <a:srgbClr val="244F75"/>
              </a:solidFill>
              <a:latin typeface="Times New Roman" panose="02020603050405020304"/>
              <a:ea typeface="Times New Roman" panose="02020603050405020304"/>
              <a:cs typeface="Times New Roman" panose="02020603050405020304"/>
            </a:endParaRPr>
          </a:p>
        </p:txBody>
      </p:sp>
      <p:sp>
        <p:nvSpPr>
          <p:cNvPr id="231" name="a-layer0"/>
          <p:cNvSpPr>
            <a:spLocks noGrp="1"/>
          </p:cNvSpPr>
          <p:nvPr/>
        </p:nvSpPr>
        <p:spPr>
          <a:xfrm>
            <a:off x="1228725" y="1257300"/>
            <a:ext cx="590550" cy="104775"/>
          </a:xfrm>
          <a:prstGeom prst="roundRect">
            <a:avLst>
              <a:gd name="adj" fmla="val 18182"/>
            </a:avLst>
          </a:prstGeom>
          <a:solidFill>
            <a:srgbClr val="F7FAFC"/>
          </a:solidFill>
          <a:ln w="9525">
            <a:solidFill>
              <a:srgbClr val="3A74A5"/>
            </a:solidFill>
          </a:ln>
        </p:spPr>
      </p:sp>
      <p:sp>
        <p:nvSpPr>
          <p:cNvPr id="232" name="a-layer-label0"/>
          <p:cNvSpPr>
            <a:spLocks noGrp="1"/>
          </p:cNvSpPr>
          <p:nvPr/>
        </p:nvSpPr>
        <p:spPr>
          <a:xfrm>
            <a:off x="1228725" y="1238250"/>
            <a:ext cx="590550" cy="142875"/>
          </a:xfrm>
          <a:prstGeom prst="rect">
            <a:avLst/>
          </a:prstGeom>
          <a:noFill/>
          <a:ln w="0">
            <a:noFill/>
          </a:ln>
        </p:spPr>
        <p:txBody>
          <a:bodyPr wrap="square" lIns="19050" tIns="9525" rIns="19050" bIns="9525" anchor="ctr">
            <a:normAutofit/>
          </a:bodyPr>
          <a:lstStyle/>
          <a:p>
            <a:pPr algn="ctr">
              <a:lnSpc>
                <a:spcPct val="92000"/>
              </a:lnSpc>
              <a:buNone/>
              <a:defRPr sz="750" b="0" i="0">
                <a:solidFill>
                  <a:srgbClr val="202428"/>
                </a:solidFill>
                <a:latin typeface="Arial" panose="020B0704020202020204"/>
                <a:ea typeface="Arial" panose="020B0704020202020204"/>
                <a:cs typeface="Arial" panose="020B0704020202020204"/>
              </a:defRPr>
            </a:pPr>
            <a:r>
              <a:rPr sz="750" b="0" i="0">
                <a:solidFill>
                  <a:srgbClr val="202428"/>
                </a:solidFill>
                <a:latin typeface="Arial" panose="020B0704020202020204"/>
                <a:ea typeface="Arial" panose="020B0704020202020204"/>
                <a:cs typeface="Arial" panose="020B0704020202020204"/>
              </a:rPr>
              <a:t>L1</a:t>
            </a:r>
            <a:endParaRPr sz="750" b="0" i="0">
              <a:solidFill>
                <a:srgbClr val="202428"/>
              </a:solidFill>
              <a:latin typeface="Arial" panose="020B0704020202020204"/>
              <a:ea typeface="Arial" panose="020B0704020202020204"/>
              <a:cs typeface="Arial" panose="020B0704020202020204"/>
            </a:endParaRPr>
          </a:p>
        </p:txBody>
      </p:sp>
      <p:sp>
        <p:nvSpPr>
          <p:cNvPr id="233" name="a-layer1"/>
          <p:cNvSpPr>
            <a:spLocks noGrp="1"/>
          </p:cNvSpPr>
          <p:nvPr/>
        </p:nvSpPr>
        <p:spPr>
          <a:xfrm>
            <a:off x="1228725" y="1390650"/>
            <a:ext cx="590550" cy="104775"/>
          </a:xfrm>
          <a:prstGeom prst="roundRect">
            <a:avLst>
              <a:gd name="adj" fmla="val 18182"/>
            </a:avLst>
          </a:prstGeom>
          <a:solidFill>
            <a:srgbClr val="E7F4F1"/>
          </a:solidFill>
          <a:ln w="9525">
            <a:solidFill>
              <a:srgbClr val="3A74A5"/>
            </a:solidFill>
          </a:ln>
        </p:spPr>
      </p:sp>
      <p:sp>
        <p:nvSpPr>
          <p:cNvPr id="234" name="a-layer-label1"/>
          <p:cNvSpPr>
            <a:spLocks noGrp="1"/>
          </p:cNvSpPr>
          <p:nvPr/>
        </p:nvSpPr>
        <p:spPr>
          <a:xfrm>
            <a:off x="1228725" y="1371600"/>
            <a:ext cx="590550" cy="142875"/>
          </a:xfrm>
          <a:prstGeom prst="rect">
            <a:avLst/>
          </a:prstGeom>
          <a:noFill/>
          <a:ln w="0">
            <a:noFill/>
          </a:ln>
        </p:spPr>
        <p:txBody>
          <a:bodyPr wrap="square" lIns="19050" tIns="9525" rIns="19050" bIns="9525" anchor="ctr">
            <a:normAutofit/>
          </a:bodyPr>
          <a:lstStyle/>
          <a:p>
            <a:pPr algn="ctr">
              <a:lnSpc>
                <a:spcPct val="92000"/>
              </a:lnSpc>
              <a:buNone/>
              <a:defRPr sz="750" b="0" i="0">
                <a:solidFill>
                  <a:srgbClr val="202428"/>
                </a:solidFill>
                <a:latin typeface="Arial" panose="020B0704020202020204"/>
                <a:ea typeface="Arial" panose="020B0704020202020204"/>
                <a:cs typeface="Arial" panose="020B0704020202020204"/>
              </a:defRPr>
            </a:pPr>
            <a:r>
              <a:rPr sz="750" b="0" i="0">
                <a:solidFill>
                  <a:srgbClr val="202428"/>
                </a:solidFill>
                <a:latin typeface="Arial" panose="020B0704020202020204"/>
                <a:ea typeface="Arial" panose="020B0704020202020204"/>
                <a:cs typeface="Arial" panose="020B0704020202020204"/>
              </a:rPr>
              <a:t>L2</a:t>
            </a:r>
            <a:endParaRPr sz="750" b="0" i="0">
              <a:solidFill>
                <a:srgbClr val="202428"/>
              </a:solidFill>
              <a:latin typeface="Arial" panose="020B0704020202020204"/>
              <a:ea typeface="Arial" panose="020B0704020202020204"/>
              <a:cs typeface="Arial" panose="020B0704020202020204"/>
            </a:endParaRPr>
          </a:p>
        </p:txBody>
      </p:sp>
      <p:sp>
        <p:nvSpPr>
          <p:cNvPr id="235" name="a-layer2"/>
          <p:cNvSpPr>
            <a:spLocks noGrp="1"/>
          </p:cNvSpPr>
          <p:nvPr/>
        </p:nvSpPr>
        <p:spPr>
          <a:xfrm>
            <a:off x="1228725" y="1524000"/>
            <a:ext cx="590550" cy="104775"/>
          </a:xfrm>
          <a:prstGeom prst="roundRect">
            <a:avLst>
              <a:gd name="adj" fmla="val 18182"/>
            </a:avLst>
          </a:prstGeom>
          <a:solidFill>
            <a:srgbClr val="F7FAFC"/>
          </a:solidFill>
          <a:ln w="9525">
            <a:solidFill>
              <a:srgbClr val="3A74A5"/>
            </a:solidFill>
          </a:ln>
        </p:spPr>
      </p:sp>
      <p:sp>
        <p:nvSpPr>
          <p:cNvPr id="236" name="a-layer-label2"/>
          <p:cNvSpPr>
            <a:spLocks noGrp="1"/>
          </p:cNvSpPr>
          <p:nvPr/>
        </p:nvSpPr>
        <p:spPr>
          <a:xfrm>
            <a:off x="1228725" y="1504950"/>
            <a:ext cx="590550" cy="142875"/>
          </a:xfrm>
          <a:prstGeom prst="rect">
            <a:avLst/>
          </a:prstGeom>
          <a:noFill/>
          <a:ln w="0">
            <a:noFill/>
          </a:ln>
        </p:spPr>
        <p:txBody>
          <a:bodyPr wrap="square" lIns="19050" tIns="9525" rIns="19050" bIns="9525" anchor="ctr">
            <a:normAutofit/>
          </a:bodyPr>
          <a:lstStyle/>
          <a:p>
            <a:pPr algn="ctr">
              <a:lnSpc>
                <a:spcPct val="92000"/>
              </a:lnSpc>
              <a:buNone/>
              <a:defRPr sz="750" b="0" i="0">
                <a:solidFill>
                  <a:srgbClr val="202428"/>
                </a:solidFill>
                <a:latin typeface="Arial" panose="020B0704020202020204"/>
                <a:ea typeface="Arial" panose="020B0704020202020204"/>
                <a:cs typeface="Arial" panose="020B0704020202020204"/>
              </a:defRPr>
            </a:pPr>
            <a:r>
              <a:rPr sz="750" b="0" i="0">
                <a:solidFill>
                  <a:srgbClr val="202428"/>
                </a:solidFill>
                <a:latin typeface="Arial" panose="020B0704020202020204"/>
                <a:ea typeface="Arial" panose="020B0704020202020204"/>
                <a:cs typeface="Arial" panose="020B0704020202020204"/>
              </a:rPr>
              <a:t>L3</a:t>
            </a:r>
            <a:endParaRPr sz="750" b="0" i="0">
              <a:solidFill>
                <a:srgbClr val="202428"/>
              </a:solidFill>
              <a:latin typeface="Arial" panose="020B0704020202020204"/>
              <a:ea typeface="Arial" panose="020B0704020202020204"/>
              <a:cs typeface="Arial" panose="020B0704020202020204"/>
            </a:endParaRPr>
          </a:p>
        </p:txBody>
      </p:sp>
      <p:sp>
        <p:nvSpPr>
          <p:cNvPr id="237" name="a-layer3"/>
          <p:cNvSpPr>
            <a:spLocks noGrp="1"/>
          </p:cNvSpPr>
          <p:nvPr/>
        </p:nvSpPr>
        <p:spPr>
          <a:xfrm>
            <a:off x="1228725" y="1657350"/>
            <a:ext cx="590550" cy="104775"/>
          </a:xfrm>
          <a:prstGeom prst="roundRect">
            <a:avLst>
              <a:gd name="adj" fmla="val 18182"/>
            </a:avLst>
          </a:prstGeom>
          <a:solidFill>
            <a:srgbClr val="E7F4F1"/>
          </a:solidFill>
          <a:ln w="9525">
            <a:solidFill>
              <a:srgbClr val="3A74A5"/>
            </a:solidFill>
          </a:ln>
        </p:spPr>
      </p:sp>
      <p:sp>
        <p:nvSpPr>
          <p:cNvPr id="238" name="a-layer-label3"/>
          <p:cNvSpPr>
            <a:spLocks noGrp="1"/>
          </p:cNvSpPr>
          <p:nvPr/>
        </p:nvSpPr>
        <p:spPr>
          <a:xfrm>
            <a:off x="1228725" y="1638300"/>
            <a:ext cx="590550" cy="142875"/>
          </a:xfrm>
          <a:prstGeom prst="rect">
            <a:avLst/>
          </a:prstGeom>
          <a:noFill/>
          <a:ln w="0">
            <a:noFill/>
          </a:ln>
        </p:spPr>
        <p:txBody>
          <a:bodyPr wrap="square" lIns="19050" tIns="9525" rIns="19050" bIns="9525" anchor="ctr">
            <a:normAutofit/>
          </a:bodyPr>
          <a:lstStyle/>
          <a:p>
            <a:pPr algn="ctr">
              <a:lnSpc>
                <a:spcPct val="92000"/>
              </a:lnSpc>
              <a:buNone/>
              <a:defRPr sz="750" b="0" i="0">
                <a:solidFill>
                  <a:srgbClr val="202428"/>
                </a:solidFill>
                <a:latin typeface="Arial" panose="020B0704020202020204"/>
                <a:ea typeface="Arial" panose="020B0704020202020204"/>
                <a:cs typeface="Arial" panose="020B0704020202020204"/>
              </a:defRPr>
            </a:pPr>
            <a:r>
              <a:rPr sz="750" b="0" i="0">
                <a:solidFill>
                  <a:srgbClr val="202428"/>
                </a:solidFill>
                <a:latin typeface="Arial" panose="020B0704020202020204"/>
                <a:ea typeface="Arial" panose="020B0704020202020204"/>
                <a:cs typeface="Arial" panose="020B0704020202020204"/>
              </a:rPr>
              <a:t>L4</a:t>
            </a:r>
            <a:endParaRPr sz="750" b="0" i="0">
              <a:solidFill>
                <a:srgbClr val="202428"/>
              </a:solidFill>
              <a:latin typeface="Arial" panose="020B0704020202020204"/>
              <a:ea typeface="Arial" panose="020B0704020202020204"/>
              <a:cs typeface="Arial" panose="020B0704020202020204"/>
            </a:endParaRPr>
          </a:p>
        </p:txBody>
      </p:sp>
      <p:sp>
        <p:nvSpPr>
          <p:cNvPr id="239" name="a-cache-back2"/>
          <p:cNvSpPr>
            <a:spLocks noGrp="1"/>
          </p:cNvSpPr>
          <p:nvPr/>
        </p:nvSpPr>
        <p:spPr>
          <a:xfrm>
            <a:off x="2400300" y="1285875"/>
            <a:ext cx="552450" cy="361950"/>
          </a:xfrm>
          <a:prstGeom prst="roundRect">
            <a:avLst>
              <a:gd name="adj" fmla="val 15789"/>
            </a:avLst>
          </a:prstGeom>
          <a:solidFill>
            <a:srgbClr val="F3E5BB"/>
          </a:solidFill>
          <a:ln w="10478">
            <a:solidFill>
              <a:srgbClr val="D4B66E"/>
            </a:solidFill>
          </a:ln>
        </p:spPr>
      </p:sp>
      <p:sp>
        <p:nvSpPr>
          <p:cNvPr id="240" name="a-cache-back1"/>
          <p:cNvSpPr>
            <a:spLocks noGrp="1"/>
          </p:cNvSpPr>
          <p:nvPr/>
        </p:nvSpPr>
        <p:spPr>
          <a:xfrm>
            <a:off x="2366963" y="1252538"/>
            <a:ext cx="552450" cy="361950"/>
          </a:xfrm>
          <a:prstGeom prst="roundRect">
            <a:avLst>
              <a:gd name="adj" fmla="val 15789"/>
            </a:avLst>
          </a:prstGeom>
          <a:solidFill>
            <a:srgbClr val="F8E9C2"/>
          </a:solidFill>
          <a:ln w="10478">
            <a:solidFill>
              <a:srgbClr val="C99B40"/>
            </a:solidFill>
          </a:ln>
        </p:spPr>
      </p:sp>
      <p:sp>
        <p:nvSpPr>
          <p:cNvPr id="241" name="a-cache-front"/>
          <p:cNvSpPr>
            <a:spLocks noGrp="1"/>
          </p:cNvSpPr>
          <p:nvPr/>
        </p:nvSpPr>
        <p:spPr>
          <a:xfrm>
            <a:off x="2333625" y="1219200"/>
            <a:ext cx="552450" cy="361950"/>
          </a:xfrm>
          <a:prstGeom prst="roundRect">
            <a:avLst>
              <a:gd name="adj" fmla="val 15789"/>
            </a:avLst>
          </a:prstGeom>
          <a:solidFill>
            <a:srgbClr val="FCF1D8"/>
          </a:solidFill>
          <a:ln w="15240">
            <a:solidFill>
              <a:srgbClr val="BD842A"/>
            </a:solidFill>
          </a:ln>
        </p:spPr>
      </p:sp>
      <p:sp>
        <p:nvSpPr>
          <p:cNvPr id="242" name="a-cache-label"/>
          <p:cNvSpPr>
            <a:spLocks noGrp="1"/>
          </p:cNvSpPr>
          <p:nvPr/>
        </p:nvSpPr>
        <p:spPr>
          <a:xfrm>
            <a:off x="2333625" y="1228725"/>
            <a:ext cx="552450" cy="333375"/>
          </a:xfrm>
          <a:prstGeom prst="rect">
            <a:avLst/>
          </a:prstGeom>
          <a:noFill/>
          <a:ln w="0">
            <a:noFill/>
          </a:ln>
        </p:spPr>
        <p:txBody>
          <a:bodyPr wrap="square" lIns="19050" tIns="9525" rIns="19050" bIns="9525" anchor="ctr">
            <a:normAutofit/>
          </a:bodyPr>
          <a:lstStyle/>
          <a:p>
            <a:pPr algn="ctr">
              <a:lnSpc>
                <a:spcPct val="92000"/>
              </a:lnSpc>
              <a:buNone/>
              <a:defRPr sz="1350" b="1" i="1">
                <a:solidFill>
                  <a:srgbClr val="8C611B"/>
                </a:solidFill>
                <a:latin typeface="Times New Roman" panose="02020603050405020304"/>
                <a:ea typeface="Times New Roman" panose="02020603050405020304"/>
                <a:cs typeface="Times New Roman" panose="02020603050405020304"/>
              </a:defRPr>
            </a:pPr>
            <a:r>
              <a:rPr sz="1350" b="1" i="1">
                <a:solidFill>
                  <a:srgbClr val="8C611B"/>
                </a:solidFill>
                <a:latin typeface="Times New Roman" panose="02020603050405020304"/>
                <a:ea typeface="Times New Roman" panose="02020603050405020304"/>
                <a:cs typeface="Times New Roman" panose="02020603050405020304"/>
              </a:rPr>
              <a:t>KV</a:t>
            </a:r>
            <a:endParaRPr sz="1350" b="1" i="1">
              <a:solidFill>
                <a:srgbClr val="8C611B"/>
              </a:solidFill>
              <a:latin typeface="Times New Roman" panose="02020603050405020304"/>
              <a:ea typeface="Times New Roman" panose="02020603050405020304"/>
              <a:cs typeface="Times New Roman" panose="02020603050405020304"/>
            </a:endParaRPr>
          </a:p>
        </p:txBody>
      </p:sp>
      <p:sp>
        <p:nvSpPr>
          <p:cNvPr id="243" name="a-prefix-in-start"/>
          <p:cNvSpPr>
            <a:spLocks noGrp="1"/>
          </p:cNvSpPr>
          <p:nvPr/>
        </p:nvSpPr>
        <p:spPr>
          <a:xfrm>
            <a:off x="704850" y="1419225"/>
            <a:ext cx="953" cy="953"/>
          </a:xfrm>
          <a:prstGeom prst="rect">
            <a:avLst/>
          </a:prstGeom>
          <a:noFill/>
          <a:ln w="0">
            <a:noFill/>
          </a:ln>
        </p:spPr>
      </p:sp>
      <p:sp>
        <p:nvSpPr>
          <p:cNvPr id="244" name="a-prefix-in-end"/>
          <p:cNvSpPr>
            <a:spLocks noGrp="1"/>
          </p:cNvSpPr>
          <p:nvPr/>
        </p:nvSpPr>
        <p:spPr>
          <a:xfrm>
            <a:off x="990600" y="1419225"/>
            <a:ext cx="953" cy="953"/>
          </a:xfrm>
          <a:prstGeom prst="rect">
            <a:avLst/>
          </a:prstGeom>
          <a:noFill/>
          <a:ln w="0">
            <a:noFill/>
          </a:ln>
        </p:spPr>
      </p:sp>
      <p:cxnSp>
        <p:nvCxnSpPr>
          <p:cNvPr id="497" name="a-prefix-in"/>
          <p:cNvCxnSpPr>
            <a:stCxn id="243" idx="3"/>
            <a:endCxn id="244" idx="1"/>
          </p:cNvCxnSpPr>
          <p:nvPr/>
        </p:nvCxnSpPr>
        <p:spPr>
          <a:xfrm>
            <a:off x="705803" y="1419702"/>
            <a:ext cx="284797" cy="0"/>
          </a:xfrm>
          <a:prstGeom prst="straightConnector1">
            <a:avLst/>
          </a:prstGeom>
          <a:ln w="16193">
            <a:solidFill>
              <a:srgbClr val="202428"/>
            </a:solidFill>
            <a:prstDash val="solid"/>
            <a:tailEnd type="triangle" w="sm" len="sm"/>
          </a:ln>
        </p:spPr>
      </p:cxnSp>
      <p:sp>
        <p:nvSpPr>
          <p:cNvPr id="246" name="a-prefill-cache-start"/>
          <p:cNvSpPr>
            <a:spLocks noGrp="1"/>
          </p:cNvSpPr>
          <p:nvPr/>
        </p:nvSpPr>
        <p:spPr>
          <a:xfrm>
            <a:off x="2047875" y="1419225"/>
            <a:ext cx="953" cy="953"/>
          </a:xfrm>
          <a:prstGeom prst="rect">
            <a:avLst/>
          </a:prstGeom>
          <a:noFill/>
          <a:ln w="0">
            <a:noFill/>
          </a:ln>
        </p:spPr>
      </p:sp>
      <p:sp>
        <p:nvSpPr>
          <p:cNvPr id="247" name="a-prefill-cache-end"/>
          <p:cNvSpPr>
            <a:spLocks noGrp="1"/>
          </p:cNvSpPr>
          <p:nvPr/>
        </p:nvSpPr>
        <p:spPr>
          <a:xfrm>
            <a:off x="2314575" y="1419225"/>
            <a:ext cx="953" cy="953"/>
          </a:xfrm>
          <a:prstGeom prst="rect">
            <a:avLst/>
          </a:prstGeom>
          <a:noFill/>
          <a:ln w="0">
            <a:noFill/>
          </a:ln>
        </p:spPr>
      </p:sp>
      <p:cxnSp>
        <p:nvCxnSpPr>
          <p:cNvPr id="500" name="a-prefill-cache"/>
          <p:cNvCxnSpPr>
            <a:stCxn id="246" idx="3"/>
            <a:endCxn id="247" idx="1"/>
          </p:cNvCxnSpPr>
          <p:nvPr/>
        </p:nvCxnSpPr>
        <p:spPr>
          <a:xfrm>
            <a:off x="2048828" y="1419702"/>
            <a:ext cx="265747" cy="0"/>
          </a:xfrm>
          <a:prstGeom prst="straightConnector1">
            <a:avLst/>
          </a:prstGeom>
          <a:ln w="16193">
            <a:solidFill>
              <a:srgbClr val="BD842A"/>
            </a:solidFill>
            <a:prstDash val="solid"/>
            <a:tailEnd type="triangle" w="sm" len="sm"/>
          </a:ln>
        </p:spPr>
      </p:cxnSp>
      <p:sp>
        <p:nvSpPr>
          <p:cNvPr id="249" name="a-fixed-label"/>
          <p:cNvSpPr>
            <a:spLocks noGrp="1"/>
          </p:cNvSpPr>
          <p:nvPr/>
        </p:nvSpPr>
        <p:spPr>
          <a:xfrm>
            <a:off x="2200275" y="1685925"/>
            <a:ext cx="781050" cy="171450"/>
          </a:xfrm>
          <a:prstGeom prst="rect">
            <a:avLst/>
          </a:prstGeom>
          <a:noFill/>
          <a:ln w="0">
            <a:noFill/>
          </a:ln>
        </p:spPr>
        <p:txBody>
          <a:bodyPr wrap="square" lIns="19050" tIns="9525" rIns="19050" bIns="9525" anchor="ctr">
            <a:normAutofit/>
          </a:bodyPr>
          <a:lstStyle/>
          <a:p>
            <a:pPr algn="ctr">
              <a:lnSpc>
                <a:spcPct val="92000"/>
              </a:lnSpc>
              <a:buNone/>
              <a:defRPr sz="900" b="0" i="1">
                <a:solidFill>
                  <a:srgbClr val="244F75"/>
                </a:solidFill>
                <a:latin typeface="Times New Roman" panose="02020603050405020304"/>
                <a:ea typeface="Times New Roman" panose="02020603050405020304"/>
                <a:cs typeface="Times New Roman" panose="02020603050405020304"/>
              </a:defRPr>
            </a:pPr>
            <a:r>
              <a:rPr sz="900" b="0" i="1">
                <a:solidFill>
                  <a:srgbClr val="244F75"/>
                </a:solidFill>
                <a:latin typeface="Times New Roman" panose="02020603050405020304"/>
                <a:ea typeface="Times New Roman" panose="02020603050405020304"/>
                <a:cs typeface="Times New Roman" panose="02020603050405020304"/>
              </a:rPr>
              <a:t>fixed graph</a:t>
            </a:r>
            <a:endParaRPr sz="900" b="0" i="1">
              <a:solidFill>
                <a:srgbClr val="244F75"/>
              </a:solidFill>
              <a:latin typeface="Times New Roman" panose="02020603050405020304"/>
              <a:ea typeface="Times New Roman" panose="02020603050405020304"/>
              <a:cs typeface="Times New Roman" panose="02020603050405020304"/>
            </a:endParaRPr>
          </a:p>
        </p:txBody>
      </p:sp>
      <p:sp>
        <p:nvSpPr>
          <p:cNvPr id="250" name="a-time-0"/>
          <p:cNvSpPr>
            <a:spLocks noGrp="1"/>
          </p:cNvSpPr>
          <p:nvPr/>
        </p:nvSpPr>
        <p:spPr>
          <a:xfrm>
            <a:off x="314325" y="2114550"/>
            <a:ext cx="447675" cy="323850"/>
          </a:xfrm>
          <a:prstGeom prst="roundRect">
            <a:avLst>
              <a:gd name="adj" fmla="val 20588"/>
            </a:avLst>
          </a:prstGeom>
          <a:solidFill>
            <a:srgbClr val="FCF1D8"/>
          </a:solidFill>
          <a:ln w="17145">
            <a:solidFill>
              <a:srgbClr val="BD842A"/>
            </a:solidFill>
          </a:ln>
        </p:spPr>
      </p:sp>
      <p:sp>
        <p:nvSpPr>
          <p:cNvPr id="251" name="a-time-0-label"/>
          <p:cNvSpPr>
            <a:spLocks noGrp="1"/>
          </p:cNvSpPr>
          <p:nvPr/>
        </p:nvSpPr>
        <p:spPr>
          <a:xfrm>
            <a:off x="31432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BD842A"/>
                </a:solidFill>
                <a:latin typeface="Arial" panose="020B0704020202020204"/>
                <a:ea typeface="Arial" panose="020B0704020202020204"/>
                <a:cs typeface="Arial" panose="020B0704020202020204"/>
              </a:defRPr>
            </a:pPr>
            <a:r>
              <a:rPr sz="1350" b="1" i="0">
                <a:solidFill>
                  <a:srgbClr val="BD842A"/>
                </a:solidFill>
                <a:latin typeface="Arial" panose="020B0704020202020204"/>
                <a:ea typeface="Arial" panose="020B0704020202020204"/>
                <a:cs typeface="Arial" panose="020B0704020202020204"/>
              </a:rPr>
              <a:t>F</a:t>
            </a:r>
            <a:endParaRPr sz="1350" b="1" i="0">
              <a:solidFill>
                <a:srgbClr val="BD842A"/>
              </a:solidFill>
              <a:latin typeface="Arial" panose="020B0704020202020204"/>
              <a:ea typeface="Arial" panose="020B0704020202020204"/>
              <a:cs typeface="Arial" panose="020B0704020202020204"/>
            </a:endParaRPr>
          </a:p>
        </p:txBody>
      </p:sp>
      <p:sp>
        <p:nvSpPr>
          <p:cNvPr id="252" name="a-time-0-small"/>
          <p:cNvSpPr>
            <a:spLocks noGrp="1"/>
          </p:cNvSpPr>
          <p:nvPr/>
        </p:nvSpPr>
        <p:spPr>
          <a:xfrm>
            <a:off x="28575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0</a:t>
            </a:r>
            <a:endParaRPr sz="790" b="0" i="1">
              <a:solidFill>
                <a:srgbClr val="6F7780"/>
              </a:solidFill>
              <a:latin typeface="Times New Roman" panose="02020603050405020304"/>
              <a:ea typeface="Times New Roman" panose="02020603050405020304"/>
              <a:cs typeface="Times New Roman" panose="02020603050405020304"/>
            </a:endParaRPr>
          </a:p>
        </p:txBody>
      </p:sp>
      <p:sp>
        <p:nvSpPr>
          <p:cNvPr id="253" name="a-time-1"/>
          <p:cNvSpPr>
            <a:spLocks noGrp="1"/>
          </p:cNvSpPr>
          <p:nvPr/>
        </p:nvSpPr>
        <p:spPr>
          <a:xfrm>
            <a:off x="923925" y="2114550"/>
            <a:ext cx="447675" cy="323850"/>
          </a:xfrm>
          <a:prstGeom prst="roundRect">
            <a:avLst>
              <a:gd name="adj" fmla="val 20588"/>
            </a:avLst>
          </a:prstGeom>
          <a:solidFill>
            <a:srgbClr val="DCEAF4"/>
          </a:solidFill>
          <a:ln w="17145">
            <a:solidFill>
              <a:srgbClr val="3A74A5"/>
            </a:solidFill>
          </a:ln>
        </p:spPr>
      </p:sp>
      <p:sp>
        <p:nvSpPr>
          <p:cNvPr id="254" name="a-time-1-label"/>
          <p:cNvSpPr>
            <a:spLocks noGrp="1"/>
          </p:cNvSpPr>
          <p:nvPr/>
        </p:nvSpPr>
        <p:spPr>
          <a:xfrm>
            <a:off x="92392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3A74A5"/>
                </a:solidFill>
                <a:latin typeface="Arial" panose="020B0704020202020204"/>
                <a:ea typeface="Arial" panose="020B0704020202020204"/>
                <a:cs typeface="Arial" panose="020B0704020202020204"/>
              </a:defRPr>
            </a:pPr>
            <a:r>
              <a:rPr sz="1350" b="1" i="0">
                <a:solidFill>
                  <a:srgbClr val="3A74A5"/>
                </a:solidFill>
                <a:latin typeface="Arial" panose="020B0704020202020204"/>
                <a:ea typeface="Arial" panose="020B0704020202020204"/>
                <a:cs typeface="Arial" panose="020B0704020202020204"/>
              </a:rPr>
              <a:t>R</a:t>
            </a:r>
            <a:endParaRPr sz="1350" b="1" i="0">
              <a:solidFill>
                <a:srgbClr val="3A74A5"/>
              </a:solidFill>
              <a:latin typeface="Arial" panose="020B0704020202020204"/>
              <a:ea typeface="Arial" panose="020B0704020202020204"/>
              <a:cs typeface="Arial" panose="020B0704020202020204"/>
            </a:endParaRPr>
          </a:p>
        </p:txBody>
      </p:sp>
      <p:sp>
        <p:nvSpPr>
          <p:cNvPr id="255" name="a-time-1-small"/>
          <p:cNvSpPr>
            <a:spLocks noGrp="1"/>
          </p:cNvSpPr>
          <p:nvPr/>
        </p:nvSpPr>
        <p:spPr>
          <a:xfrm>
            <a:off x="89535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1</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508" name="a-time-arrow-0-1"/>
          <p:cNvCxnSpPr>
            <a:stCxn id="250" idx="3"/>
            <a:endCxn id="253" idx="1"/>
          </p:cNvCxnSpPr>
          <p:nvPr/>
        </p:nvCxnSpPr>
        <p:spPr>
          <a:xfrm>
            <a:off x="762000" y="2276475"/>
            <a:ext cx="161925" cy="0"/>
          </a:xfrm>
          <a:prstGeom prst="straightConnector1">
            <a:avLst/>
          </a:prstGeom>
          <a:ln w="15716">
            <a:solidFill>
              <a:srgbClr val="202428"/>
            </a:solidFill>
            <a:prstDash val="solid"/>
            <a:tailEnd type="triangle" w="sm" len="sm"/>
          </a:ln>
        </p:spPr>
      </p:cxnSp>
      <p:sp>
        <p:nvSpPr>
          <p:cNvPr id="257" name="a-time-2"/>
          <p:cNvSpPr>
            <a:spLocks noGrp="1"/>
          </p:cNvSpPr>
          <p:nvPr/>
        </p:nvSpPr>
        <p:spPr>
          <a:xfrm>
            <a:off x="1533525" y="2114550"/>
            <a:ext cx="447675" cy="323850"/>
          </a:xfrm>
          <a:prstGeom prst="roundRect">
            <a:avLst>
              <a:gd name="adj" fmla="val 20588"/>
            </a:avLst>
          </a:prstGeom>
          <a:solidFill>
            <a:srgbClr val="DCEAF4"/>
          </a:solidFill>
          <a:ln w="17145">
            <a:solidFill>
              <a:srgbClr val="3A74A5"/>
            </a:solidFill>
          </a:ln>
        </p:spPr>
      </p:sp>
      <p:sp>
        <p:nvSpPr>
          <p:cNvPr id="258" name="a-time-2-label"/>
          <p:cNvSpPr>
            <a:spLocks noGrp="1"/>
          </p:cNvSpPr>
          <p:nvPr/>
        </p:nvSpPr>
        <p:spPr>
          <a:xfrm>
            <a:off x="153352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3A74A5"/>
                </a:solidFill>
                <a:latin typeface="Arial" panose="020B0704020202020204"/>
                <a:ea typeface="Arial" panose="020B0704020202020204"/>
                <a:cs typeface="Arial" panose="020B0704020202020204"/>
              </a:defRPr>
            </a:pPr>
            <a:r>
              <a:rPr sz="1350" b="1" i="0">
                <a:solidFill>
                  <a:srgbClr val="3A74A5"/>
                </a:solidFill>
                <a:latin typeface="Arial" panose="020B0704020202020204"/>
                <a:ea typeface="Arial" panose="020B0704020202020204"/>
                <a:cs typeface="Arial" panose="020B0704020202020204"/>
              </a:rPr>
              <a:t>R</a:t>
            </a:r>
            <a:endParaRPr sz="1350" b="1" i="0">
              <a:solidFill>
                <a:srgbClr val="3A74A5"/>
              </a:solidFill>
              <a:latin typeface="Arial" panose="020B0704020202020204"/>
              <a:ea typeface="Arial" panose="020B0704020202020204"/>
              <a:cs typeface="Arial" panose="020B0704020202020204"/>
            </a:endParaRPr>
          </a:p>
        </p:txBody>
      </p:sp>
      <p:sp>
        <p:nvSpPr>
          <p:cNvPr id="259" name="a-time-2-small"/>
          <p:cNvSpPr>
            <a:spLocks noGrp="1"/>
          </p:cNvSpPr>
          <p:nvPr/>
        </p:nvSpPr>
        <p:spPr>
          <a:xfrm>
            <a:off x="150495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2</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512" name="a-time-arrow-1-2"/>
          <p:cNvCxnSpPr>
            <a:stCxn id="253" idx="3"/>
            <a:endCxn id="257" idx="1"/>
          </p:cNvCxnSpPr>
          <p:nvPr/>
        </p:nvCxnSpPr>
        <p:spPr>
          <a:xfrm>
            <a:off x="1371600" y="2276475"/>
            <a:ext cx="161925" cy="0"/>
          </a:xfrm>
          <a:prstGeom prst="straightConnector1">
            <a:avLst/>
          </a:prstGeom>
          <a:ln w="15716">
            <a:solidFill>
              <a:srgbClr val="202428"/>
            </a:solidFill>
            <a:prstDash val="solid"/>
            <a:tailEnd type="triangle" w="sm" len="sm"/>
          </a:ln>
        </p:spPr>
      </p:cxnSp>
      <p:sp>
        <p:nvSpPr>
          <p:cNvPr id="261" name="a-time-3"/>
          <p:cNvSpPr>
            <a:spLocks noGrp="1"/>
          </p:cNvSpPr>
          <p:nvPr/>
        </p:nvSpPr>
        <p:spPr>
          <a:xfrm>
            <a:off x="2143125" y="2114550"/>
            <a:ext cx="447675" cy="323850"/>
          </a:xfrm>
          <a:prstGeom prst="roundRect">
            <a:avLst>
              <a:gd name="adj" fmla="val 20588"/>
            </a:avLst>
          </a:prstGeom>
          <a:solidFill>
            <a:srgbClr val="DCEAF4"/>
          </a:solidFill>
          <a:ln w="17145">
            <a:solidFill>
              <a:srgbClr val="3A74A5"/>
            </a:solidFill>
          </a:ln>
        </p:spPr>
      </p:sp>
      <p:sp>
        <p:nvSpPr>
          <p:cNvPr id="262" name="a-time-3-label"/>
          <p:cNvSpPr>
            <a:spLocks noGrp="1"/>
          </p:cNvSpPr>
          <p:nvPr/>
        </p:nvSpPr>
        <p:spPr>
          <a:xfrm>
            <a:off x="214312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3A74A5"/>
                </a:solidFill>
                <a:latin typeface="Arial" panose="020B0704020202020204"/>
                <a:ea typeface="Arial" panose="020B0704020202020204"/>
                <a:cs typeface="Arial" panose="020B0704020202020204"/>
              </a:defRPr>
            </a:pPr>
            <a:r>
              <a:rPr sz="1350" b="1" i="0">
                <a:solidFill>
                  <a:srgbClr val="3A74A5"/>
                </a:solidFill>
                <a:latin typeface="Arial" panose="020B0704020202020204"/>
                <a:ea typeface="Arial" panose="020B0704020202020204"/>
                <a:cs typeface="Arial" panose="020B0704020202020204"/>
              </a:rPr>
              <a:t>R</a:t>
            </a:r>
            <a:endParaRPr sz="1350" b="1" i="0">
              <a:solidFill>
                <a:srgbClr val="3A74A5"/>
              </a:solidFill>
              <a:latin typeface="Arial" panose="020B0704020202020204"/>
              <a:ea typeface="Arial" panose="020B0704020202020204"/>
              <a:cs typeface="Arial" panose="020B0704020202020204"/>
            </a:endParaRPr>
          </a:p>
        </p:txBody>
      </p:sp>
      <p:sp>
        <p:nvSpPr>
          <p:cNvPr id="263" name="a-time-3-small"/>
          <p:cNvSpPr>
            <a:spLocks noGrp="1"/>
          </p:cNvSpPr>
          <p:nvPr/>
        </p:nvSpPr>
        <p:spPr>
          <a:xfrm>
            <a:off x="211455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516" name="a-time-arrow-2-3"/>
          <p:cNvCxnSpPr>
            <a:stCxn id="257" idx="3"/>
            <a:endCxn id="261" idx="1"/>
          </p:cNvCxnSpPr>
          <p:nvPr/>
        </p:nvCxnSpPr>
        <p:spPr>
          <a:xfrm>
            <a:off x="1981200" y="2276475"/>
            <a:ext cx="161925" cy="0"/>
          </a:xfrm>
          <a:prstGeom prst="straightConnector1">
            <a:avLst/>
          </a:prstGeom>
          <a:ln w="15716">
            <a:solidFill>
              <a:srgbClr val="202428"/>
            </a:solidFill>
            <a:prstDash val="solid"/>
            <a:tailEnd type="triangle" w="sm" len="sm"/>
          </a:ln>
        </p:spPr>
      </p:cxnSp>
      <p:sp>
        <p:nvSpPr>
          <p:cNvPr id="265" name="a-time-note"/>
          <p:cNvSpPr>
            <a:spLocks noGrp="1"/>
          </p:cNvSpPr>
          <p:nvPr/>
        </p:nvSpPr>
        <p:spPr>
          <a:xfrm>
            <a:off x="285750" y="2600325"/>
            <a:ext cx="2590800" cy="171450"/>
          </a:xfrm>
          <a:prstGeom prst="rect">
            <a:avLst/>
          </a:prstGeom>
          <a:noFill/>
          <a:ln w="0">
            <a:noFill/>
          </a:ln>
        </p:spPr>
        <p:txBody>
          <a:bodyPr wrap="square" lIns="19050" tIns="9525" rIns="19050" bIns="9525" anchor="ctr">
            <a:normAutofit/>
          </a:bodyPr>
          <a:lstStyle/>
          <a:p>
            <a:pPr algn="ctr">
              <a:lnSpc>
                <a:spcPct val="92000"/>
              </a:lnSpc>
              <a:buNone/>
              <a:defRPr sz="975" b="0" i="1">
                <a:solidFill>
                  <a:srgbClr val="244F75"/>
                </a:solidFill>
                <a:latin typeface="Times New Roman" panose="02020603050405020304"/>
                <a:ea typeface="Times New Roman" panose="02020603050405020304"/>
                <a:cs typeface="Times New Roman" panose="02020603050405020304"/>
              </a:defRPr>
            </a:pPr>
            <a:r>
              <a:rPr sz="975" b="0" i="1">
                <a:solidFill>
                  <a:srgbClr val="244F75"/>
                </a:solidFill>
                <a:latin typeface="Times New Roman" panose="02020603050405020304"/>
                <a:ea typeface="Times New Roman" panose="02020603050405020304"/>
                <a:cs typeface="Times New Roman" panose="02020603050405020304"/>
              </a:rPr>
              <a:t>one prefill, then new-token forwards</a:t>
            </a:r>
            <a:endParaRPr sz="975" b="0" i="1">
              <a:solidFill>
                <a:srgbClr val="244F75"/>
              </a:solidFill>
              <a:latin typeface="Times New Roman" panose="02020603050405020304"/>
              <a:ea typeface="Times New Roman" panose="02020603050405020304"/>
              <a:cs typeface="Times New Roman" panose="02020603050405020304"/>
            </a:endParaRPr>
          </a:p>
        </p:txBody>
      </p:sp>
      <p:sp>
        <p:nvSpPr>
          <p:cNvPr id="266" name="a-summary-bg"/>
          <p:cNvSpPr>
            <a:spLocks noGrp="1"/>
          </p:cNvSpPr>
          <p:nvPr/>
        </p:nvSpPr>
        <p:spPr>
          <a:xfrm>
            <a:off x="285750" y="2876550"/>
            <a:ext cx="2562225" cy="295275"/>
          </a:xfrm>
          <a:prstGeom prst="roundRect">
            <a:avLst>
              <a:gd name="adj" fmla="val 29032"/>
            </a:avLst>
          </a:prstGeom>
          <a:solidFill>
            <a:srgbClr val="DCEAF4"/>
          </a:solidFill>
          <a:ln w="14288">
            <a:solidFill>
              <a:srgbClr val="3A74A5"/>
            </a:solidFill>
          </a:ln>
        </p:spPr>
      </p:sp>
      <p:sp>
        <p:nvSpPr>
          <p:cNvPr id="267" name="a-summary-text"/>
          <p:cNvSpPr>
            <a:spLocks noGrp="1"/>
          </p:cNvSpPr>
          <p:nvPr/>
        </p:nvSpPr>
        <p:spPr>
          <a:xfrm>
            <a:off x="323850" y="2886075"/>
            <a:ext cx="2486025" cy="276225"/>
          </a:xfrm>
          <a:prstGeom prst="rect">
            <a:avLst/>
          </a:prstGeom>
          <a:noFill/>
          <a:ln w="0">
            <a:noFill/>
          </a:ln>
        </p:spPr>
        <p:txBody>
          <a:bodyPr wrap="square" lIns="19050" tIns="9525" rIns="19050" bIns="9525" anchor="ctr">
            <a:normAutofit/>
          </a:bodyPr>
          <a:lstStyle/>
          <a:p>
            <a:pPr algn="ctr">
              <a:lnSpc>
                <a:spcPct val="92000"/>
              </a:lnSpc>
              <a:buNone/>
              <a:defRPr sz="1165" b="1" i="1">
                <a:solidFill>
                  <a:srgbClr val="244F75"/>
                </a:solidFill>
                <a:latin typeface="Times New Roman" panose="02020603050405020304"/>
                <a:ea typeface="Times New Roman" panose="02020603050405020304"/>
                <a:cs typeface="Times New Roman" panose="02020603050405020304"/>
              </a:defRPr>
            </a:pPr>
            <a:r>
              <a:rPr sz="1165" b="1" i="1">
                <a:solidFill>
                  <a:srgbClr val="244F75"/>
                </a:solidFill>
                <a:latin typeface="Times New Roman" panose="02020603050405020304"/>
                <a:ea typeface="Times New Roman" panose="02020603050405020304"/>
                <a:cs typeface="Times New Roman" panose="02020603050405020304"/>
              </a:rPr>
              <a:t>Standard KV under a fixed graph</a:t>
            </a:r>
            <a:endParaRPr sz="1165" b="1" i="1">
              <a:solidFill>
                <a:srgbClr val="244F75"/>
              </a:solidFill>
              <a:latin typeface="Times New Roman" panose="02020603050405020304"/>
              <a:ea typeface="Times New Roman" panose="02020603050405020304"/>
              <a:cs typeface="Times New Roman" panose="02020603050405020304"/>
            </a:endParaRPr>
          </a:p>
        </p:txBody>
      </p:sp>
      <p:sp>
        <p:nvSpPr>
          <p:cNvPr id="321" name="c-select-title"/>
          <p:cNvSpPr>
            <a:spLocks noGrp="1"/>
          </p:cNvSpPr>
          <p:nvPr/>
        </p:nvSpPr>
        <p:spPr>
          <a:xfrm>
            <a:off x="3238500" y="942975"/>
            <a:ext cx="781050" cy="171450"/>
          </a:xfrm>
          <a:prstGeom prst="rect">
            <a:avLst/>
          </a:prstGeom>
          <a:noFill/>
          <a:ln w="0">
            <a:noFill/>
          </a:ln>
        </p:spPr>
        <p:txBody>
          <a:bodyPr wrap="square" lIns="19050" tIns="9525" rIns="19050" bIns="9525" anchor="ctr">
            <a:normAutofit/>
          </a:bodyPr>
          <a:lstStyle/>
          <a:p>
            <a:pPr algn="ctr">
              <a:lnSpc>
                <a:spcPct val="92000"/>
              </a:lnSpc>
              <a:buNone/>
              <a:defRPr sz="1050" b="0" i="1">
                <a:solidFill>
                  <a:srgbClr val="8C611B"/>
                </a:solidFill>
                <a:latin typeface="Times New Roman" panose="02020603050405020304"/>
                <a:ea typeface="Times New Roman" panose="02020603050405020304"/>
                <a:cs typeface="Times New Roman" panose="02020603050405020304"/>
              </a:defRPr>
            </a:pPr>
            <a:r>
              <a:rPr sz="1050" b="0" i="1">
                <a:solidFill>
                  <a:srgbClr val="8C611B"/>
                </a:solidFill>
                <a:latin typeface="Times New Roman" panose="02020603050405020304"/>
                <a:ea typeface="Times New Roman" panose="02020603050405020304"/>
                <a:cs typeface="Times New Roman" panose="02020603050405020304"/>
              </a:rPr>
              <a:t>Select</a:t>
            </a:r>
            <a:endParaRPr sz="1050" b="0" i="1">
              <a:solidFill>
                <a:srgbClr val="8C611B"/>
              </a:solidFill>
              <a:latin typeface="Times New Roman" panose="02020603050405020304"/>
              <a:ea typeface="Times New Roman" panose="02020603050405020304"/>
              <a:cs typeface="Times New Roman" panose="02020603050405020304"/>
            </a:endParaRPr>
          </a:p>
        </p:txBody>
      </p:sp>
      <p:sp>
        <p:nvSpPr>
          <p:cNvPr id="322" name="c-rebuild-title"/>
          <p:cNvSpPr>
            <a:spLocks noGrp="1"/>
          </p:cNvSpPr>
          <p:nvPr/>
        </p:nvSpPr>
        <p:spPr>
          <a:xfrm>
            <a:off x="4143375" y="942975"/>
            <a:ext cx="781050" cy="171450"/>
          </a:xfrm>
          <a:prstGeom prst="rect">
            <a:avLst/>
          </a:prstGeom>
          <a:noFill/>
          <a:ln w="0">
            <a:noFill/>
          </a:ln>
        </p:spPr>
        <p:txBody>
          <a:bodyPr wrap="square" lIns="19050" tIns="9525" rIns="19050" bIns="9525" anchor="ctr">
            <a:normAutofit/>
          </a:bodyPr>
          <a:lstStyle/>
          <a:p>
            <a:pPr algn="ctr">
              <a:lnSpc>
                <a:spcPct val="92000"/>
              </a:lnSpc>
              <a:buNone/>
              <a:defRPr sz="1050" b="0" i="1">
                <a:solidFill>
                  <a:srgbClr val="8C611B"/>
                </a:solidFill>
                <a:latin typeface="Times New Roman" panose="02020603050405020304"/>
                <a:ea typeface="Times New Roman" panose="02020603050405020304"/>
                <a:cs typeface="Times New Roman" panose="02020603050405020304"/>
              </a:defRPr>
            </a:pPr>
            <a:r>
              <a:rPr sz="1050" b="0" i="1">
                <a:solidFill>
                  <a:srgbClr val="8C611B"/>
                </a:solidFill>
                <a:latin typeface="Times New Roman" panose="02020603050405020304"/>
                <a:ea typeface="Times New Roman" panose="02020603050405020304"/>
                <a:cs typeface="Times New Roman" panose="02020603050405020304"/>
              </a:rPr>
              <a:t>Rebuild</a:t>
            </a:r>
            <a:endParaRPr sz="1050" b="0" i="1">
              <a:solidFill>
                <a:srgbClr val="8C611B"/>
              </a:solidFill>
              <a:latin typeface="Times New Roman" panose="02020603050405020304"/>
              <a:ea typeface="Times New Roman" panose="02020603050405020304"/>
              <a:cs typeface="Times New Roman" panose="02020603050405020304"/>
            </a:endParaRPr>
          </a:p>
        </p:txBody>
      </p:sp>
      <p:sp>
        <p:nvSpPr>
          <p:cNvPr id="323" name="c-reuse-title"/>
          <p:cNvSpPr>
            <a:spLocks noGrp="1"/>
          </p:cNvSpPr>
          <p:nvPr/>
        </p:nvSpPr>
        <p:spPr>
          <a:xfrm>
            <a:off x="5086350" y="942975"/>
            <a:ext cx="781050" cy="171450"/>
          </a:xfrm>
          <a:prstGeom prst="rect">
            <a:avLst/>
          </a:prstGeom>
          <a:noFill/>
          <a:ln w="0">
            <a:noFill/>
          </a:ln>
        </p:spPr>
        <p:txBody>
          <a:bodyPr wrap="square" lIns="19050" tIns="9525" rIns="19050" bIns="9525" anchor="ctr">
            <a:normAutofit/>
          </a:bodyPr>
          <a:lstStyle/>
          <a:p>
            <a:pPr algn="ctr">
              <a:lnSpc>
                <a:spcPct val="92000"/>
              </a:lnSpc>
              <a:buNone/>
              <a:defRPr sz="1050" b="0" i="1">
                <a:solidFill>
                  <a:srgbClr val="244F75"/>
                </a:solidFill>
                <a:latin typeface="Times New Roman" panose="02020603050405020304"/>
                <a:ea typeface="Times New Roman" panose="02020603050405020304"/>
                <a:cs typeface="Times New Roman" panose="02020603050405020304"/>
              </a:defRPr>
            </a:pPr>
            <a:r>
              <a:rPr sz="1050" b="0" i="1">
                <a:solidFill>
                  <a:srgbClr val="244F75"/>
                </a:solidFill>
                <a:latin typeface="Times New Roman" panose="02020603050405020304"/>
                <a:ea typeface="Times New Roman" panose="02020603050405020304"/>
                <a:cs typeface="Times New Roman" panose="02020603050405020304"/>
              </a:rPr>
              <a:t>Reuse</a:t>
            </a:r>
            <a:endParaRPr sz="1050" b="0" i="1">
              <a:solidFill>
                <a:srgbClr val="244F75"/>
              </a:solidFill>
              <a:latin typeface="Times New Roman" panose="02020603050405020304"/>
              <a:ea typeface="Times New Roman" panose="02020603050405020304"/>
              <a:cs typeface="Times New Roman" panose="02020603050405020304"/>
            </a:endParaRPr>
          </a:p>
        </p:txBody>
      </p:sp>
      <p:sp>
        <p:nvSpPr>
          <p:cNvPr id="324" name="c-full-L1"/>
          <p:cNvSpPr>
            <a:spLocks noGrp="1"/>
          </p:cNvSpPr>
          <p:nvPr/>
        </p:nvSpPr>
        <p:spPr>
          <a:xfrm>
            <a:off x="3457575" y="1143000"/>
            <a:ext cx="323850" cy="123825"/>
          </a:xfrm>
          <a:prstGeom prst="roundRect">
            <a:avLst>
              <a:gd name="adj" fmla="val 23077"/>
            </a:avLst>
          </a:prstGeom>
          <a:solidFill>
            <a:srgbClr val="DCEAF4"/>
          </a:solidFill>
          <a:ln w="11906">
            <a:solidFill>
              <a:srgbClr val="BD842A"/>
            </a:solidFill>
            <a:prstDash val="solid"/>
          </a:ln>
        </p:spPr>
      </p:sp>
      <p:sp>
        <p:nvSpPr>
          <p:cNvPr id="325" name="c-full-L1-label"/>
          <p:cNvSpPr>
            <a:spLocks noGrp="1"/>
          </p:cNvSpPr>
          <p:nvPr/>
        </p:nvSpPr>
        <p:spPr>
          <a:xfrm>
            <a:off x="3457575" y="11334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L1</a:t>
            </a:r>
            <a:endParaRPr sz="790" b="0" i="0">
              <a:solidFill>
                <a:srgbClr val="202428"/>
              </a:solidFill>
              <a:latin typeface="Arial" panose="020B0704020202020204"/>
              <a:ea typeface="Arial" panose="020B0704020202020204"/>
              <a:cs typeface="Arial" panose="020B0704020202020204"/>
            </a:endParaRPr>
          </a:p>
        </p:txBody>
      </p:sp>
      <p:sp>
        <p:nvSpPr>
          <p:cNvPr id="326" name="c-full-L2"/>
          <p:cNvSpPr>
            <a:spLocks noGrp="1"/>
          </p:cNvSpPr>
          <p:nvPr/>
        </p:nvSpPr>
        <p:spPr>
          <a:xfrm>
            <a:off x="3457575" y="1295400"/>
            <a:ext cx="323850" cy="123825"/>
          </a:xfrm>
          <a:prstGeom prst="roundRect">
            <a:avLst>
              <a:gd name="adj" fmla="val 23077"/>
            </a:avLst>
          </a:prstGeom>
          <a:solidFill>
            <a:srgbClr val="E7F4F1"/>
          </a:solidFill>
          <a:ln w="11906">
            <a:solidFill>
              <a:srgbClr val="BD842A"/>
            </a:solidFill>
            <a:prstDash val="solid"/>
          </a:ln>
        </p:spPr>
      </p:sp>
      <p:sp>
        <p:nvSpPr>
          <p:cNvPr id="327" name="c-full-L2-label"/>
          <p:cNvSpPr>
            <a:spLocks noGrp="1"/>
          </p:cNvSpPr>
          <p:nvPr/>
        </p:nvSpPr>
        <p:spPr>
          <a:xfrm>
            <a:off x="3457575" y="12858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L2</a:t>
            </a:r>
            <a:endParaRPr sz="790" b="0" i="0">
              <a:solidFill>
                <a:srgbClr val="202428"/>
              </a:solidFill>
              <a:latin typeface="Arial" panose="020B0704020202020204"/>
              <a:ea typeface="Arial" panose="020B0704020202020204"/>
              <a:cs typeface="Arial" panose="020B0704020202020204"/>
            </a:endParaRPr>
          </a:p>
        </p:txBody>
      </p:sp>
      <p:sp>
        <p:nvSpPr>
          <p:cNvPr id="328" name="c-full-L3"/>
          <p:cNvSpPr>
            <a:spLocks noGrp="1"/>
          </p:cNvSpPr>
          <p:nvPr/>
        </p:nvSpPr>
        <p:spPr>
          <a:xfrm>
            <a:off x="3457575" y="1447800"/>
            <a:ext cx="323850" cy="123825"/>
          </a:xfrm>
          <a:prstGeom prst="roundRect">
            <a:avLst>
              <a:gd name="adj" fmla="val 23077"/>
            </a:avLst>
          </a:prstGeom>
          <a:solidFill>
            <a:srgbClr val="DCEAF4"/>
          </a:solidFill>
          <a:ln w="11906">
            <a:solidFill>
              <a:srgbClr val="BD842A"/>
            </a:solidFill>
            <a:prstDash val="solid"/>
          </a:ln>
        </p:spPr>
      </p:sp>
      <p:sp>
        <p:nvSpPr>
          <p:cNvPr id="329" name="c-full-L3-label"/>
          <p:cNvSpPr>
            <a:spLocks noGrp="1"/>
          </p:cNvSpPr>
          <p:nvPr/>
        </p:nvSpPr>
        <p:spPr>
          <a:xfrm>
            <a:off x="3457575" y="14382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L3</a:t>
            </a:r>
            <a:endParaRPr sz="790" b="0" i="0">
              <a:solidFill>
                <a:srgbClr val="202428"/>
              </a:solidFill>
              <a:latin typeface="Arial" panose="020B0704020202020204"/>
              <a:ea typeface="Arial" panose="020B0704020202020204"/>
              <a:cs typeface="Arial" panose="020B0704020202020204"/>
            </a:endParaRPr>
          </a:p>
        </p:txBody>
      </p:sp>
      <p:sp>
        <p:nvSpPr>
          <p:cNvPr id="330" name="c-full-L4"/>
          <p:cNvSpPr>
            <a:spLocks noGrp="1"/>
          </p:cNvSpPr>
          <p:nvPr/>
        </p:nvSpPr>
        <p:spPr>
          <a:xfrm>
            <a:off x="3457575" y="1600200"/>
            <a:ext cx="323850" cy="123825"/>
          </a:xfrm>
          <a:prstGeom prst="roundRect">
            <a:avLst>
              <a:gd name="adj" fmla="val 23077"/>
            </a:avLst>
          </a:prstGeom>
          <a:solidFill>
            <a:srgbClr val="E7F4F1"/>
          </a:solidFill>
          <a:ln w="11906">
            <a:solidFill>
              <a:srgbClr val="BD842A"/>
            </a:solidFill>
            <a:prstDash val="solid"/>
          </a:ln>
        </p:spPr>
      </p:sp>
      <p:sp>
        <p:nvSpPr>
          <p:cNvPr id="331" name="c-full-L4-label"/>
          <p:cNvSpPr>
            <a:spLocks noGrp="1"/>
          </p:cNvSpPr>
          <p:nvPr/>
        </p:nvSpPr>
        <p:spPr>
          <a:xfrm>
            <a:off x="3457575" y="15906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L4</a:t>
            </a:r>
            <a:endParaRPr sz="790" b="0" i="0">
              <a:solidFill>
                <a:srgbClr val="202428"/>
              </a:solidFill>
              <a:latin typeface="Arial" panose="020B0704020202020204"/>
              <a:ea typeface="Arial" panose="020B0704020202020204"/>
              <a:cs typeface="Arial" panose="020B0704020202020204"/>
            </a:endParaRPr>
          </a:p>
        </p:txBody>
      </p:sp>
      <p:sp>
        <p:nvSpPr>
          <p:cNvPr id="332" name="c-full-sig"/>
          <p:cNvSpPr>
            <a:spLocks noGrp="1"/>
          </p:cNvSpPr>
          <p:nvPr/>
        </p:nvSpPr>
        <p:spPr>
          <a:xfrm>
            <a:off x="3419475" y="1762125"/>
            <a:ext cx="400050" cy="152400"/>
          </a:xfrm>
          <a:prstGeom prst="rect">
            <a:avLst/>
          </a:prstGeom>
          <a:noFill/>
          <a:ln w="0">
            <a:noFill/>
          </a:ln>
        </p:spPr>
        <p:txBody>
          <a:bodyPr wrap="square" lIns="19050" tIns="9525" rIns="19050" bIns="9525" anchor="ctr">
            <a:normAutofit fontScale="97547"/>
          </a:bodyPr>
          <a:lstStyle/>
          <a:p>
            <a:pPr algn="ctr">
              <a:lnSpc>
                <a:spcPct val="92000"/>
              </a:lnSpc>
              <a:buNone/>
              <a:defRPr sz="975" b="1" i="1">
                <a:solidFill>
                  <a:srgbClr val="BD842A"/>
                </a:solidFill>
                <a:latin typeface="Times New Roman" panose="02020603050405020304"/>
                <a:ea typeface="Times New Roman" panose="02020603050405020304"/>
                <a:cs typeface="Times New Roman" panose="02020603050405020304"/>
              </a:defRPr>
            </a:pPr>
            <a:r>
              <a:rPr sz="975" b="1" i="1">
                <a:solidFill>
                  <a:srgbClr val="BD842A"/>
                </a:solidFill>
                <a:latin typeface="Times New Roman" panose="02020603050405020304"/>
                <a:ea typeface="Times New Roman" panose="02020603050405020304"/>
                <a:cs typeface="Times New Roman" panose="02020603050405020304"/>
              </a:rPr>
              <a:t>G₀</a:t>
            </a:r>
            <a:endParaRPr sz="975" b="1" i="1">
              <a:solidFill>
                <a:srgbClr val="BD842A"/>
              </a:solidFill>
              <a:latin typeface="Times New Roman" panose="02020603050405020304"/>
              <a:ea typeface="Times New Roman" panose="02020603050405020304"/>
              <a:cs typeface="Times New Roman" panose="02020603050405020304"/>
            </a:endParaRPr>
          </a:p>
        </p:txBody>
      </p:sp>
      <p:sp>
        <p:nvSpPr>
          <p:cNvPr id="333" name="c-selected-L1"/>
          <p:cNvSpPr>
            <a:spLocks noGrp="1"/>
          </p:cNvSpPr>
          <p:nvPr/>
        </p:nvSpPr>
        <p:spPr>
          <a:xfrm>
            <a:off x="4362450" y="1143000"/>
            <a:ext cx="323850" cy="123825"/>
          </a:xfrm>
          <a:prstGeom prst="roundRect">
            <a:avLst>
              <a:gd name="adj" fmla="val 23077"/>
            </a:avLst>
          </a:prstGeom>
          <a:solidFill>
            <a:srgbClr val="DCEAF4"/>
          </a:solidFill>
          <a:ln w="11906">
            <a:solidFill>
              <a:srgbClr val="BD842A"/>
            </a:solidFill>
            <a:prstDash val="solid"/>
          </a:ln>
        </p:spPr>
      </p:sp>
      <p:sp>
        <p:nvSpPr>
          <p:cNvPr id="334" name="c-selected-L1-label"/>
          <p:cNvSpPr>
            <a:spLocks noGrp="1"/>
          </p:cNvSpPr>
          <p:nvPr/>
        </p:nvSpPr>
        <p:spPr>
          <a:xfrm>
            <a:off x="4362450" y="11334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L1</a:t>
            </a:r>
            <a:endParaRPr sz="790" b="0" i="0">
              <a:solidFill>
                <a:srgbClr val="202428"/>
              </a:solidFill>
              <a:latin typeface="Arial" panose="020B0704020202020204"/>
              <a:ea typeface="Arial" panose="020B0704020202020204"/>
              <a:cs typeface="Arial" panose="020B0704020202020204"/>
            </a:endParaRPr>
          </a:p>
        </p:txBody>
      </p:sp>
      <p:sp>
        <p:nvSpPr>
          <p:cNvPr id="335" name="c-selected-L2"/>
          <p:cNvSpPr>
            <a:spLocks noGrp="1"/>
          </p:cNvSpPr>
          <p:nvPr/>
        </p:nvSpPr>
        <p:spPr>
          <a:xfrm>
            <a:off x="4362450" y="1295400"/>
            <a:ext cx="323850" cy="123825"/>
          </a:xfrm>
          <a:prstGeom prst="roundRect">
            <a:avLst>
              <a:gd name="adj" fmla="val 23077"/>
            </a:avLst>
          </a:prstGeom>
          <a:solidFill>
            <a:srgbClr val="E7F4F1"/>
          </a:solidFill>
          <a:ln w="11906">
            <a:solidFill>
              <a:srgbClr val="BD842A"/>
            </a:solidFill>
            <a:prstDash val="solid"/>
          </a:ln>
        </p:spPr>
      </p:sp>
      <p:sp>
        <p:nvSpPr>
          <p:cNvPr id="336" name="c-selected-L2-label"/>
          <p:cNvSpPr>
            <a:spLocks noGrp="1"/>
          </p:cNvSpPr>
          <p:nvPr/>
        </p:nvSpPr>
        <p:spPr>
          <a:xfrm>
            <a:off x="4362450" y="12858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L2</a:t>
            </a:r>
            <a:endParaRPr sz="790" b="0" i="0">
              <a:solidFill>
                <a:srgbClr val="202428"/>
              </a:solidFill>
              <a:latin typeface="Arial" panose="020B0704020202020204"/>
              <a:ea typeface="Arial" panose="020B0704020202020204"/>
              <a:cs typeface="Arial" panose="020B0704020202020204"/>
            </a:endParaRPr>
          </a:p>
        </p:txBody>
      </p:sp>
      <p:sp>
        <p:nvSpPr>
          <p:cNvPr id="337" name="c-selected-L3"/>
          <p:cNvSpPr>
            <a:spLocks noGrp="1"/>
          </p:cNvSpPr>
          <p:nvPr/>
        </p:nvSpPr>
        <p:spPr>
          <a:xfrm>
            <a:off x="4362450" y="1447800"/>
            <a:ext cx="323850" cy="123825"/>
          </a:xfrm>
          <a:prstGeom prst="roundRect">
            <a:avLst>
              <a:gd name="adj" fmla="val 23077"/>
            </a:avLst>
          </a:prstGeom>
          <a:solidFill>
            <a:srgbClr val="F2F3F4"/>
          </a:solidFill>
          <a:ln w="11906">
            <a:solidFill>
              <a:srgbClr val="A1A8AF"/>
            </a:solidFill>
            <a:prstDash val="dash"/>
          </a:ln>
        </p:spPr>
      </p:sp>
      <p:sp>
        <p:nvSpPr>
          <p:cNvPr id="338" name="c-selected-L3-label"/>
          <p:cNvSpPr>
            <a:spLocks noGrp="1"/>
          </p:cNvSpPr>
          <p:nvPr/>
        </p:nvSpPr>
        <p:spPr>
          <a:xfrm>
            <a:off x="4362450" y="14382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A1A8AF"/>
                </a:solidFill>
                <a:latin typeface="Arial" panose="020B0704020202020204"/>
                <a:ea typeface="Arial" panose="020B0704020202020204"/>
                <a:cs typeface="Arial" panose="020B0704020202020204"/>
              </a:defRPr>
            </a:pPr>
            <a:r>
              <a:rPr sz="790" b="0" i="1">
                <a:solidFill>
                  <a:srgbClr val="A1A8AF"/>
                </a:solidFill>
                <a:latin typeface="Arial" panose="020B0704020202020204"/>
                <a:ea typeface="Arial" panose="020B0704020202020204"/>
                <a:cs typeface="Arial" panose="020B0704020202020204"/>
              </a:rPr>
              <a:t>skip</a:t>
            </a:r>
            <a:endParaRPr sz="790" b="0" i="1">
              <a:solidFill>
                <a:srgbClr val="A1A8AF"/>
              </a:solidFill>
              <a:latin typeface="Arial" panose="020B0704020202020204"/>
              <a:ea typeface="Arial" panose="020B0704020202020204"/>
              <a:cs typeface="Arial" panose="020B0704020202020204"/>
            </a:endParaRPr>
          </a:p>
        </p:txBody>
      </p:sp>
      <p:sp>
        <p:nvSpPr>
          <p:cNvPr id="339" name="c-selected-L4"/>
          <p:cNvSpPr>
            <a:spLocks noGrp="1"/>
          </p:cNvSpPr>
          <p:nvPr/>
        </p:nvSpPr>
        <p:spPr>
          <a:xfrm>
            <a:off x="4362450" y="1600200"/>
            <a:ext cx="323850" cy="123825"/>
          </a:xfrm>
          <a:prstGeom prst="roundRect">
            <a:avLst>
              <a:gd name="adj" fmla="val 23077"/>
            </a:avLst>
          </a:prstGeom>
          <a:solidFill>
            <a:srgbClr val="E7F4F1"/>
          </a:solidFill>
          <a:ln w="11906">
            <a:solidFill>
              <a:srgbClr val="BD842A"/>
            </a:solidFill>
            <a:prstDash val="solid"/>
          </a:ln>
        </p:spPr>
      </p:sp>
      <p:sp>
        <p:nvSpPr>
          <p:cNvPr id="340" name="c-selected-L4-label"/>
          <p:cNvSpPr>
            <a:spLocks noGrp="1"/>
          </p:cNvSpPr>
          <p:nvPr/>
        </p:nvSpPr>
        <p:spPr>
          <a:xfrm>
            <a:off x="4362450" y="1590675"/>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L4</a:t>
            </a:r>
            <a:endParaRPr sz="790" b="0" i="0">
              <a:solidFill>
                <a:srgbClr val="202428"/>
              </a:solidFill>
              <a:latin typeface="Arial" panose="020B0704020202020204"/>
              <a:ea typeface="Arial" panose="020B0704020202020204"/>
              <a:cs typeface="Arial" panose="020B0704020202020204"/>
            </a:endParaRPr>
          </a:p>
        </p:txBody>
      </p:sp>
      <p:sp>
        <p:nvSpPr>
          <p:cNvPr id="341" name="c-selected-sig"/>
          <p:cNvSpPr>
            <a:spLocks noGrp="1"/>
          </p:cNvSpPr>
          <p:nvPr/>
        </p:nvSpPr>
        <p:spPr>
          <a:xfrm>
            <a:off x="4324350" y="1762125"/>
            <a:ext cx="400050" cy="152400"/>
          </a:xfrm>
          <a:prstGeom prst="rect">
            <a:avLst/>
          </a:prstGeom>
          <a:noFill/>
          <a:ln w="0">
            <a:noFill/>
          </a:ln>
        </p:spPr>
        <p:txBody>
          <a:bodyPr wrap="square" lIns="19050" tIns="9525" rIns="19050" bIns="9525" anchor="ctr">
            <a:normAutofit fontScale="97547"/>
          </a:bodyPr>
          <a:lstStyle/>
          <a:p>
            <a:pPr algn="ctr">
              <a:lnSpc>
                <a:spcPct val="92000"/>
              </a:lnSpc>
              <a:buNone/>
              <a:defRPr sz="975" b="1" i="1">
                <a:solidFill>
                  <a:srgbClr val="BD842A"/>
                </a:solidFill>
                <a:latin typeface="Times New Roman" panose="02020603050405020304"/>
                <a:ea typeface="Times New Roman" panose="02020603050405020304"/>
                <a:cs typeface="Times New Roman" panose="02020603050405020304"/>
              </a:defRPr>
            </a:pPr>
            <a:r>
              <a:rPr sz="975" b="1" i="1">
                <a:solidFill>
                  <a:srgbClr val="BD842A"/>
                </a:solidFill>
                <a:latin typeface="Times New Roman" panose="02020603050405020304"/>
                <a:ea typeface="Times New Roman" panose="02020603050405020304"/>
                <a:cs typeface="Times New Roman" panose="02020603050405020304"/>
              </a:rPr>
              <a:t>G₁</a:t>
            </a:r>
            <a:endParaRPr sz="975" b="1" i="1">
              <a:solidFill>
                <a:srgbClr val="BD842A"/>
              </a:solidFill>
              <a:latin typeface="Times New Roman" panose="02020603050405020304"/>
              <a:ea typeface="Times New Roman" panose="02020603050405020304"/>
              <a:cs typeface="Times New Roman" panose="02020603050405020304"/>
            </a:endParaRPr>
          </a:p>
        </p:txBody>
      </p:sp>
      <p:sp>
        <p:nvSpPr>
          <p:cNvPr id="342" name="c-cache-back2"/>
          <p:cNvSpPr>
            <a:spLocks noGrp="1"/>
          </p:cNvSpPr>
          <p:nvPr/>
        </p:nvSpPr>
        <p:spPr>
          <a:xfrm>
            <a:off x="5295900" y="1314450"/>
            <a:ext cx="552450" cy="361950"/>
          </a:xfrm>
          <a:prstGeom prst="roundRect">
            <a:avLst>
              <a:gd name="adj" fmla="val 15789"/>
            </a:avLst>
          </a:prstGeom>
          <a:solidFill>
            <a:srgbClr val="F3E5BB"/>
          </a:solidFill>
          <a:ln w="10478">
            <a:solidFill>
              <a:srgbClr val="D4B66E"/>
            </a:solidFill>
          </a:ln>
        </p:spPr>
      </p:sp>
      <p:sp>
        <p:nvSpPr>
          <p:cNvPr id="343" name="c-cache-back1"/>
          <p:cNvSpPr>
            <a:spLocks noGrp="1"/>
          </p:cNvSpPr>
          <p:nvPr/>
        </p:nvSpPr>
        <p:spPr>
          <a:xfrm>
            <a:off x="5262563" y="1281113"/>
            <a:ext cx="552450" cy="361950"/>
          </a:xfrm>
          <a:prstGeom prst="roundRect">
            <a:avLst>
              <a:gd name="adj" fmla="val 15789"/>
            </a:avLst>
          </a:prstGeom>
          <a:solidFill>
            <a:srgbClr val="F8E9C2"/>
          </a:solidFill>
          <a:ln w="10478">
            <a:solidFill>
              <a:srgbClr val="C99B40"/>
            </a:solidFill>
          </a:ln>
        </p:spPr>
      </p:sp>
      <p:sp>
        <p:nvSpPr>
          <p:cNvPr id="344" name="c-cache-front"/>
          <p:cNvSpPr>
            <a:spLocks noGrp="1"/>
          </p:cNvSpPr>
          <p:nvPr/>
        </p:nvSpPr>
        <p:spPr>
          <a:xfrm>
            <a:off x="5229225" y="1247775"/>
            <a:ext cx="552450" cy="361950"/>
          </a:xfrm>
          <a:prstGeom prst="roundRect">
            <a:avLst>
              <a:gd name="adj" fmla="val 15789"/>
            </a:avLst>
          </a:prstGeom>
          <a:solidFill>
            <a:srgbClr val="FCF1D8"/>
          </a:solidFill>
          <a:ln w="15240">
            <a:solidFill>
              <a:srgbClr val="BD842A"/>
            </a:solidFill>
          </a:ln>
        </p:spPr>
      </p:sp>
      <p:sp>
        <p:nvSpPr>
          <p:cNvPr id="345" name="c-cache-label"/>
          <p:cNvSpPr>
            <a:spLocks noGrp="1"/>
          </p:cNvSpPr>
          <p:nvPr/>
        </p:nvSpPr>
        <p:spPr>
          <a:xfrm>
            <a:off x="5229225" y="1257300"/>
            <a:ext cx="552450" cy="333375"/>
          </a:xfrm>
          <a:prstGeom prst="rect">
            <a:avLst/>
          </a:prstGeom>
          <a:noFill/>
          <a:ln w="0">
            <a:noFill/>
          </a:ln>
        </p:spPr>
        <p:txBody>
          <a:bodyPr wrap="square" lIns="19050" tIns="9525" rIns="19050" bIns="9525" anchor="ctr">
            <a:normAutofit/>
          </a:bodyPr>
          <a:lstStyle/>
          <a:p>
            <a:pPr algn="ctr">
              <a:lnSpc>
                <a:spcPct val="92000"/>
              </a:lnSpc>
              <a:buNone/>
              <a:defRPr sz="1050" b="1" i="1">
                <a:solidFill>
                  <a:srgbClr val="8C611B"/>
                </a:solidFill>
                <a:latin typeface="Times New Roman" panose="02020603050405020304"/>
                <a:ea typeface="Times New Roman" panose="02020603050405020304"/>
                <a:cs typeface="Times New Roman" panose="02020603050405020304"/>
              </a:defRPr>
            </a:pPr>
            <a:r>
              <a:rPr sz="1050" b="1" i="1">
                <a:solidFill>
                  <a:srgbClr val="8C611B"/>
                </a:solidFill>
                <a:latin typeface="Times New Roman" panose="02020603050405020304"/>
                <a:ea typeface="Times New Roman" panose="02020603050405020304"/>
                <a:cs typeface="Times New Roman" panose="02020603050405020304"/>
              </a:rPr>
              <a:t>KV[G</a:t>
            </a:r>
            <a:r>
              <a:rPr lang="en-US" sz="1050" b="1" i="1" baseline="-25000">
                <a:solidFill>
                  <a:srgbClr val="8C611B"/>
                </a:solidFill>
                <a:latin typeface="Times New Roman" panose="02020603050405020304"/>
                <a:ea typeface="Times New Roman" panose="02020603050405020304"/>
                <a:cs typeface="Times New Roman" panose="02020603050405020304"/>
              </a:rPr>
              <a:t>1 </a:t>
            </a:r>
            <a:r>
              <a:rPr sz="1050" b="1" i="1">
                <a:solidFill>
                  <a:srgbClr val="8C611B"/>
                </a:solidFill>
                <a:latin typeface="Times New Roman" panose="02020603050405020304"/>
                <a:ea typeface="Times New Roman" panose="02020603050405020304"/>
                <a:cs typeface="Times New Roman" panose="02020603050405020304"/>
              </a:rPr>
              <a:t>]</a:t>
            </a:r>
            <a:endParaRPr sz="1050" b="1" i="1">
              <a:solidFill>
                <a:srgbClr val="8C611B"/>
              </a:solidFill>
              <a:latin typeface="Times New Roman" panose="02020603050405020304"/>
              <a:ea typeface="Times New Roman" panose="02020603050405020304"/>
              <a:cs typeface="Times New Roman" panose="02020603050405020304"/>
            </a:endParaRPr>
          </a:p>
        </p:txBody>
      </p:sp>
      <p:sp>
        <p:nvSpPr>
          <p:cNvPr id="346" name="c-select-arrow-start"/>
          <p:cNvSpPr>
            <a:spLocks noGrp="1"/>
          </p:cNvSpPr>
          <p:nvPr/>
        </p:nvSpPr>
        <p:spPr>
          <a:xfrm>
            <a:off x="3838575" y="1438275"/>
            <a:ext cx="953" cy="953"/>
          </a:xfrm>
          <a:prstGeom prst="rect">
            <a:avLst/>
          </a:prstGeom>
          <a:noFill/>
          <a:ln w="0">
            <a:noFill/>
          </a:ln>
        </p:spPr>
      </p:sp>
      <p:sp>
        <p:nvSpPr>
          <p:cNvPr id="347" name="c-select-arrow-end"/>
          <p:cNvSpPr>
            <a:spLocks noGrp="1"/>
          </p:cNvSpPr>
          <p:nvPr/>
        </p:nvSpPr>
        <p:spPr>
          <a:xfrm>
            <a:off x="4295775" y="1438275"/>
            <a:ext cx="953" cy="953"/>
          </a:xfrm>
          <a:prstGeom prst="rect">
            <a:avLst/>
          </a:prstGeom>
          <a:noFill/>
          <a:ln w="0">
            <a:noFill/>
          </a:ln>
        </p:spPr>
      </p:sp>
      <p:cxnSp>
        <p:nvCxnSpPr>
          <p:cNvPr id="600" name="c-select-arrow"/>
          <p:cNvCxnSpPr>
            <a:stCxn id="346" idx="3"/>
            <a:endCxn id="347" idx="1"/>
          </p:cNvCxnSpPr>
          <p:nvPr/>
        </p:nvCxnSpPr>
        <p:spPr>
          <a:xfrm>
            <a:off x="3839528" y="1438752"/>
            <a:ext cx="456247" cy="0"/>
          </a:xfrm>
          <a:prstGeom prst="straightConnector1">
            <a:avLst/>
          </a:prstGeom>
          <a:ln w="16193">
            <a:solidFill>
              <a:srgbClr val="BD842A"/>
            </a:solidFill>
            <a:prstDash val="solid"/>
            <a:tailEnd type="triangle" w="sm" len="sm"/>
          </a:ln>
        </p:spPr>
      </p:cxnSp>
      <p:sp>
        <p:nvSpPr>
          <p:cNvPr id="349" name="c-rebuild-arrow-start"/>
          <p:cNvSpPr>
            <a:spLocks noGrp="1"/>
          </p:cNvSpPr>
          <p:nvPr/>
        </p:nvSpPr>
        <p:spPr>
          <a:xfrm>
            <a:off x="4743450" y="1438275"/>
            <a:ext cx="953" cy="953"/>
          </a:xfrm>
          <a:prstGeom prst="rect">
            <a:avLst/>
          </a:prstGeom>
          <a:noFill/>
          <a:ln w="0">
            <a:noFill/>
          </a:ln>
        </p:spPr>
      </p:sp>
      <p:sp>
        <p:nvSpPr>
          <p:cNvPr id="350" name="c-rebuild-arrow-end"/>
          <p:cNvSpPr>
            <a:spLocks noGrp="1"/>
          </p:cNvSpPr>
          <p:nvPr/>
        </p:nvSpPr>
        <p:spPr>
          <a:xfrm>
            <a:off x="5172075" y="1438275"/>
            <a:ext cx="953" cy="953"/>
          </a:xfrm>
          <a:prstGeom prst="rect">
            <a:avLst/>
          </a:prstGeom>
          <a:noFill/>
          <a:ln w="0">
            <a:noFill/>
          </a:ln>
        </p:spPr>
      </p:sp>
      <p:cxnSp>
        <p:nvCxnSpPr>
          <p:cNvPr id="603" name="c-rebuild-arrow"/>
          <p:cNvCxnSpPr>
            <a:stCxn id="349" idx="3"/>
            <a:endCxn id="350" idx="1"/>
          </p:cNvCxnSpPr>
          <p:nvPr/>
        </p:nvCxnSpPr>
        <p:spPr>
          <a:xfrm>
            <a:off x="4744403" y="1438752"/>
            <a:ext cx="427672" cy="0"/>
          </a:xfrm>
          <a:prstGeom prst="straightConnector1">
            <a:avLst/>
          </a:prstGeom>
          <a:ln w="16193">
            <a:solidFill>
              <a:srgbClr val="3A74A5"/>
            </a:solidFill>
            <a:prstDash val="solid"/>
            <a:tailEnd type="triangle" w="sm" len="sm"/>
          </a:ln>
        </p:spPr>
      </p:cxnSp>
      <p:sp>
        <p:nvSpPr>
          <p:cNvPr id="352" name="c-cache-note"/>
          <p:cNvSpPr>
            <a:spLocks noGrp="1"/>
          </p:cNvSpPr>
          <p:nvPr/>
        </p:nvSpPr>
        <p:spPr>
          <a:xfrm>
            <a:off x="5057775" y="1724025"/>
            <a:ext cx="923925" cy="171450"/>
          </a:xfrm>
          <a:prstGeom prst="rect">
            <a:avLst/>
          </a:prstGeom>
          <a:noFill/>
          <a:ln w="0">
            <a:noFill/>
          </a:ln>
        </p:spPr>
        <p:txBody>
          <a:bodyPr wrap="square" lIns="19050" tIns="9525" rIns="19050" bIns="9525" anchor="ctr">
            <a:normAutofit/>
          </a:bodyPr>
          <a:lstStyle/>
          <a:p>
            <a:pPr algn="ctr">
              <a:lnSpc>
                <a:spcPct val="92000"/>
              </a:lnSpc>
              <a:buNone/>
              <a:defRPr sz="900" b="0" i="1">
                <a:solidFill>
                  <a:srgbClr val="244F75"/>
                </a:solidFill>
                <a:latin typeface="Times New Roman" panose="02020603050405020304"/>
                <a:ea typeface="Times New Roman" panose="02020603050405020304"/>
                <a:cs typeface="Times New Roman" panose="02020603050405020304"/>
              </a:defRPr>
            </a:pPr>
            <a:r>
              <a:rPr sz="900" b="0" i="1">
                <a:solidFill>
                  <a:srgbClr val="244F75"/>
                </a:solidFill>
                <a:latin typeface="Times New Roman" panose="02020603050405020304"/>
                <a:ea typeface="Times New Roman" panose="02020603050405020304"/>
                <a:cs typeface="Times New Roman" panose="02020603050405020304"/>
              </a:rPr>
              <a:t>append token</a:t>
            </a:r>
            <a:endParaRPr sz="900" b="0" i="1">
              <a:solidFill>
                <a:srgbClr val="244F75"/>
              </a:solidFill>
              <a:latin typeface="Times New Roman" panose="02020603050405020304"/>
              <a:ea typeface="Times New Roman" panose="02020603050405020304"/>
              <a:cs typeface="Times New Roman" panose="02020603050405020304"/>
            </a:endParaRPr>
          </a:p>
        </p:txBody>
      </p:sp>
      <p:sp>
        <p:nvSpPr>
          <p:cNvPr id="353" name="c-cycle-down"/>
          <p:cNvSpPr>
            <a:spLocks noGrp="1"/>
          </p:cNvSpPr>
          <p:nvPr/>
        </p:nvSpPr>
        <p:spPr>
          <a:xfrm>
            <a:off x="5886450" y="1638300"/>
            <a:ext cx="0" cy="333375"/>
          </a:xfrm>
          <a:prstGeom prst="line">
            <a:avLst/>
          </a:prstGeom>
          <a:noFill/>
          <a:ln w="12383">
            <a:solidFill>
              <a:srgbClr val="3A74A5"/>
            </a:solidFill>
            <a:prstDash val="dash"/>
          </a:ln>
        </p:spPr>
      </p:sp>
      <p:sp>
        <p:nvSpPr>
          <p:cNvPr id="354" name="c-cycle-return"/>
          <p:cNvSpPr>
            <a:spLocks noGrp="1"/>
          </p:cNvSpPr>
          <p:nvPr/>
        </p:nvSpPr>
        <p:spPr>
          <a:xfrm flipV="1">
            <a:off x="3171825" y="1971675"/>
            <a:ext cx="2714625" cy="0"/>
          </a:xfrm>
          <a:prstGeom prst="line">
            <a:avLst/>
          </a:prstGeom>
          <a:noFill/>
          <a:ln w="12383">
            <a:solidFill>
              <a:srgbClr val="3A74A5"/>
            </a:solidFill>
            <a:prstDash val="dash"/>
          </a:ln>
        </p:spPr>
      </p:sp>
      <p:sp>
        <p:nvSpPr>
          <p:cNvPr id="355" name="c-cycle-up"/>
          <p:cNvSpPr>
            <a:spLocks noGrp="1"/>
          </p:cNvSpPr>
          <p:nvPr/>
        </p:nvSpPr>
        <p:spPr>
          <a:xfrm flipV="1">
            <a:off x="3171825" y="1400175"/>
            <a:ext cx="0" cy="571500"/>
          </a:xfrm>
          <a:prstGeom prst="line">
            <a:avLst/>
          </a:prstGeom>
          <a:noFill/>
          <a:ln w="12383">
            <a:solidFill>
              <a:srgbClr val="3A74A5"/>
            </a:solidFill>
            <a:prstDash val="dash"/>
          </a:ln>
        </p:spPr>
      </p:sp>
      <p:sp>
        <p:nvSpPr>
          <p:cNvPr id="356" name="c-cycle-head-start"/>
          <p:cNvSpPr>
            <a:spLocks noGrp="1"/>
          </p:cNvSpPr>
          <p:nvPr/>
        </p:nvSpPr>
        <p:spPr>
          <a:xfrm>
            <a:off x="3171825" y="1400175"/>
            <a:ext cx="953" cy="953"/>
          </a:xfrm>
          <a:prstGeom prst="rect">
            <a:avLst/>
          </a:prstGeom>
          <a:noFill/>
          <a:ln w="0">
            <a:noFill/>
          </a:ln>
        </p:spPr>
      </p:sp>
      <p:sp>
        <p:nvSpPr>
          <p:cNvPr id="357" name="c-cycle-head-end"/>
          <p:cNvSpPr>
            <a:spLocks noGrp="1"/>
          </p:cNvSpPr>
          <p:nvPr/>
        </p:nvSpPr>
        <p:spPr>
          <a:xfrm>
            <a:off x="3390900" y="1400175"/>
            <a:ext cx="953" cy="953"/>
          </a:xfrm>
          <a:prstGeom prst="rect">
            <a:avLst/>
          </a:prstGeom>
          <a:noFill/>
          <a:ln w="0">
            <a:noFill/>
          </a:ln>
        </p:spPr>
      </p:sp>
      <p:cxnSp>
        <p:nvCxnSpPr>
          <p:cNvPr id="610" name="c-cycle-head"/>
          <p:cNvCxnSpPr>
            <a:stCxn id="356" idx="3"/>
            <a:endCxn id="357" idx="1"/>
          </p:cNvCxnSpPr>
          <p:nvPr/>
        </p:nvCxnSpPr>
        <p:spPr>
          <a:xfrm>
            <a:off x="3172778" y="1400652"/>
            <a:ext cx="218122" cy="0"/>
          </a:xfrm>
          <a:prstGeom prst="straightConnector1">
            <a:avLst/>
          </a:prstGeom>
          <a:ln w="16193">
            <a:solidFill>
              <a:srgbClr val="3A74A5"/>
            </a:solidFill>
            <a:prstDash val="dash"/>
            <a:tailEnd type="triangle" w="sm" len="sm"/>
          </a:ln>
        </p:spPr>
      </p:cxnSp>
      <p:sp>
        <p:nvSpPr>
          <p:cNvPr id="359" name="c-time-0"/>
          <p:cNvSpPr>
            <a:spLocks noGrp="1"/>
          </p:cNvSpPr>
          <p:nvPr/>
        </p:nvSpPr>
        <p:spPr>
          <a:xfrm>
            <a:off x="3333750" y="2114550"/>
            <a:ext cx="447675" cy="323850"/>
          </a:xfrm>
          <a:prstGeom prst="roundRect">
            <a:avLst>
              <a:gd name="adj" fmla="val 20588"/>
            </a:avLst>
          </a:prstGeom>
          <a:solidFill>
            <a:srgbClr val="FCF1D8"/>
          </a:solidFill>
          <a:ln w="17145">
            <a:solidFill>
              <a:srgbClr val="BD842A"/>
            </a:solidFill>
          </a:ln>
        </p:spPr>
      </p:sp>
      <p:sp>
        <p:nvSpPr>
          <p:cNvPr id="360" name="c-time-0-label"/>
          <p:cNvSpPr>
            <a:spLocks noGrp="1"/>
          </p:cNvSpPr>
          <p:nvPr/>
        </p:nvSpPr>
        <p:spPr>
          <a:xfrm>
            <a:off x="3333750"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BD842A"/>
                </a:solidFill>
                <a:latin typeface="Arial" panose="020B0704020202020204"/>
                <a:ea typeface="Arial" panose="020B0704020202020204"/>
                <a:cs typeface="Arial" panose="020B0704020202020204"/>
              </a:defRPr>
            </a:pPr>
            <a:r>
              <a:rPr sz="1350" b="1" i="0">
                <a:solidFill>
                  <a:srgbClr val="BD842A"/>
                </a:solidFill>
                <a:latin typeface="Arial" panose="020B0704020202020204"/>
                <a:ea typeface="Arial" panose="020B0704020202020204"/>
                <a:cs typeface="Arial" panose="020B0704020202020204"/>
              </a:rPr>
              <a:t>F</a:t>
            </a:r>
            <a:endParaRPr sz="1350" b="1" i="0">
              <a:solidFill>
                <a:srgbClr val="BD842A"/>
              </a:solidFill>
              <a:latin typeface="Arial" panose="020B0704020202020204"/>
              <a:ea typeface="Arial" panose="020B0704020202020204"/>
              <a:cs typeface="Arial" panose="020B0704020202020204"/>
            </a:endParaRPr>
          </a:p>
        </p:txBody>
      </p:sp>
      <p:sp>
        <p:nvSpPr>
          <p:cNvPr id="361" name="c-time-0-small"/>
          <p:cNvSpPr>
            <a:spLocks noGrp="1"/>
          </p:cNvSpPr>
          <p:nvPr/>
        </p:nvSpPr>
        <p:spPr>
          <a:xfrm>
            <a:off x="3305175"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0</a:t>
            </a:r>
            <a:endParaRPr sz="790" b="0" i="1">
              <a:solidFill>
                <a:srgbClr val="6F7780"/>
              </a:solidFill>
              <a:latin typeface="Times New Roman" panose="02020603050405020304"/>
              <a:ea typeface="Times New Roman" panose="02020603050405020304"/>
              <a:cs typeface="Times New Roman" panose="02020603050405020304"/>
            </a:endParaRPr>
          </a:p>
        </p:txBody>
      </p:sp>
      <p:sp>
        <p:nvSpPr>
          <p:cNvPr id="362" name="c-time-1"/>
          <p:cNvSpPr>
            <a:spLocks noGrp="1"/>
          </p:cNvSpPr>
          <p:nvPr/>
        </p:nvSpPr>
        <p:spPr>
          <a:xfrm>
            <a:off x="3943350" y="2114550"/>
            <a:ext cx="447675" cy="323850"/>
          </a:xfrm>
          <a:prstGeom prst="roundRect">
            <a:avLst>
              <a:gd name="adj" fmla="val 20588"/>
            </a:avLst>
          </a:prstGeom>
          <a:solidFill>
            <a:srgbClr val="FCF1D8"/>
          </a:solidFill>
          <a:ln w="17145">
            <a:solidFill>
              <a:srgbClr val="BD842A"/>
            </a:solidFill>
          </a:ln>
        </p:spPr>
      </p:sp>
      <p:sp>
        <p:nvSpPr>
          <p:cNvPr id="363" name="c-time-1-label"/>
          <p:cNvSpPr>
            <a:spLocks noGrp="1"/>
          </p:cNvSpPr>
          <p:nvPr/>
        </p:nvSpPr>
        <p:spPr>
          <a:xfrm>
            <a:off x="3943350"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BD842A"/>
                </a:solidFill>
                <a:latin typeface="Arial" panose="020B0704020202020204"/>
                <a:ea typeface="Arial" panose="020B0704020202020204"/>
                <a:cs typeface="Arial" panose="020B0704020202020204"/>
              </a:defRPr>
            </a:pPr>
            <a:r>
              <a:rPr sz="1350" b="1" i="0">
                <a:solidFill>
                  <a:srgbClr val="BD842A"/>
                </a:solidFill>
                <a:latin typeface="Arial" panose="020B0704020202020204"/>
                <a:ea typeface="Arial" panose="020B0704020202020204"/>
                <a:cs typeface="Arial" panose="020B0704020202020204"/>
              </a:rPr>
              <a:t>F</a:t>
            </a:r>
            <a:endParaRPr sz="1350" b="1" i="0">
              <a:solidFill>
                <a:srgbClr val="BD842A"/>
              </a:solidFill>
              <a:latin typeface="Arial" panose="020B0704020202020204"/>
              <a:ea typeface="Arial" panose="020B0704020202020204"/>
              <a:cs typeface="Arial" panose="020B0704020202020204"/>
            </a:endParaRPr>
          </a:p>
        </p:txBody>
      </p:sp>
      <p:sp>
        <p:nvSpPr>
          <p:cNvPr id="364" name="c-time-1-small"/>
          <p:cNvSpPr>
            <a:spLocks noGrp="1"/>
          </p:cNvSpPr>
          <p:nvPr/>
        </p:nvSpPr>
        <p:spPr>
          <a:xfrm>
            <a:off x="3914775"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1</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17" name="c-time-arrow-0-1"/>
          <p:cNvCxnSpPr>
            <a:stCxn id="359" idx="3"/>
            <a:endCxn id="362" idx="1"/>
          </p:cNvCxnSpPr>
          <p:nvPr/>
        </p:nvCxnSpPr>
        <p:spPr>
          <a:xfrm>
            <a:off x="3781425" y="2276475"/>
            <a:ext cx="161925" cy="0"/>
          </a:xfrm>
          <a:prstGeom prst="straightConnector1">
            <a:avLst/>
          </a:prstGeom>
          <a:ln w="15716">
            <a:solidFill>
              <a:srgbClr val="202428"/>
            </a:solidFill>
            <a:prstDash val="solid"/>
            <a:tailEnd type="triangle" w="sm" len="sm"/>
          </a:ln>
        </p:spPr>
      </p:cxnSp>
      <p:sp>
        <p:nvSpPr>
          <p:cNvPr id="366" name="c-time-2"/>
          <p:cNvSpPr>
            <a:spLocks noGrp="1"/>
          </p:cNvSpPr>
          <p:nvPr/>
        </p:nvSpPr>
        <p:spPr>
          <a:xfrm>
            <a:off x="4552950" y="2114550"/>
            <a:ext cx="447675" cy="323850"/>
          </a:xfrm>
          <a:prstGeom prst="roundRect">
            <a:avLst>
              <a:gd name="adj" fmla="val 20588"/>
            </a:avLst>
          </a:prstGeom>
          <a:solidFill>
            <a:srgbClr val="DCEAF4"/>
          </a:solidFill>
          <a:ln w="17145">
            <a:solidFill>
              <a:srgbClr val="3A74A5"/>
            </a:solidFill>
          </a:ln>
        </p:spPr>
      </p:sp>
      <p:sp>
        <p:nvSpPr>
          <p:cNvPr id="367" name="c-time-2-label"/>
          <p:cNvSpPr>
            <a:spLocks noGrp="1"/>
          </p:cNvSpPr>
          <p:nvPr/>
        </p:nvSpPr>
        <p:spPr>
          <a:xfrm>
            <a:off x="4552950"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3A74A5"/>
                </a:solidFill>
                <a:latin typeface="Arial" panose="020B0704020202020204"/>
                <a:ea typeface="Arial" panose="020B0704020202020204"/>
                <a:cs typeface="Arial" panose="020B0704020202020204"/>
              </a:defRPr>
            </a:pPr>
            <a:r>
              <a:rPr sz="1350" b="1" i="0">
                <a:solidFill>
                  <a:srgbClr val="3A74A5"/>
                </a:solidFill>
                <a:latin typeface="Arial" panose="020B0704020202020204"/>
                <a:ea typeface="Arial" panose="020B0704020202020204"/>
                <a:cs typeface="Arial" panose="020B0704020202020204"/>
              </a:rPr>
              <a:t>R</a:t>
            </a:r>
            <a:endParaRPr sz="1350" b="1" i="0">
              <a:solidFill>
                <a:srgbClr val="3A74A5"/>
              </a:solidFill>
              <a:latin typeface="Arial" panose="020B0704020202020204"/>
              <a:ea typeface="Arial" panose="020B0704020202020204"/>
              <a:cs typeface="Arial" panose="020B0704020202020204"/>
            </a:endParaRPr>
          </a:p>
        </p:txBody>
      </p:sp>
      <p:sp>
        <p:nvSpPr>
          <p:cNvPr id="368" name="c-time-2-small"/>
          <p:cNvSpPr>
            <a:spLocks noGrp="1"/>
          </p:cNvSpPr>
          <p:nvPr/>
        </p:nvSpPr>
        <p:spPr>
          <a:xfrm>
            <a:off x="4524375"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2 … T−1</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21" name="c-time-arrow-1-2"/>
          <p:cNvCxnSpPr>
            <a:stCxn id="362" idx="3"/>
            <a:endCxn id="366" idx="1"/>
          </p:cNvCxnSpPr>
          <p:nvPr/>
        </p:nvCxnSpPr>
        <p:spPr>
          <a:xfrm>
            <a:off x="4391025" y="2276475"/>
            <a:ext cx="161925" cy="0"/>
          </a:xfrm>
          <a:prstGeom prst="straightConnector1">
            <a:avLst/>
          </a:prstGeom>
          <a:ln w="15716">
            <a:solidFill>
              <a:srgbClr val="202428"/>
            </a:solidFill>
            <a:prstDash val="solid"/>
            <a:tailEnd type="triangle" w="sm" len="sm"/>
          </a:ln>
        </p:spPr>
      </p:cxnSp>
      <p:sp>
        <p:nvSpPr>
          <p:cNvPr id="370" name="c-time-3"/>
          <p:cNvSpPr>
            <a:spLocks noGrp="1"/>
          </p:cNvSpPr>
          <p:nvPr/>
        </p:nvSpPr>
        <p:spPr>
          <a:xfrm>
            <a:off x="5162550" y="2114550"/>
            <a:ext cx="447675" cy="323850"/>
          </a:xfrm>
          <a:prstGeom prst="roundRect">
            <a:avLst>
              <a:gd name="adj" fmla="val 20588"/>
            </a:avLst>
          </a:prstGeom>
          <a:solidFill>
            <a:srgbClr val="FCF1D8"/>
          </a:solidFill>
          <a:ln w="17145">
            <a:solidFill>
              <a:srgbClr val="BD842A"/>
            </a:solidFill>
          </a:ln>
        </p:spPr>
      </p:sp>
      <p:sp>
        <p:nvSpPr>
          <p:cNvPr id="371" name="c-time-3-label"/>
          <p:cNvSpPr>
            <a:spLocks noGrp="1"/>
          </p:cNvSpPr>
          <p:nvPr/>
        </p:nvSpPr>
        <p:spPr>
          <a:xfrm>
            <a:off x="5162550"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BD842A"/>
                </a:solidFill>
                <a:latin typeface="Arial" panose="020B0704020202020204"/>
                <a:ea typeface="Arial" panose="020B0704020202020204"/>
                <a:cs typeface="Arial" panose="020B0704020202020204"/>
              </a:defRPr>
            </a:pPr>
            <a:r>
              <a:rPr sz="1350" b="1" i="0">
                <a:solidFill>
                  <a:srgbClr val="BD842A"/>
                </a:solidFill>
                <a:latin typeface="Arial" panose="020B0704020202020204"/>
                <a:ea typeface="Arial" panose="020B0704020202020204"/>
                <a:cs typeface="Arial" panose="020B0704020202020204"/>
              </a:rPr>
              <a:t>F</a:t>
            </a:r>
            <a:endParaRPr sz="1350" b="1" i="0">
              <a:solidFill>
                <a:srgbClr val="BD842A"/>
              </a:solidFill>
              <a:latin typeface="Arial" panose="020B0704020202020204"/>
              <a:ea typeface="Arial" panose="020B0704020202020204"/>
              <a:cs typeface="Arial" panose="020B0704020202020204"/>
            </a:endParaRPr>
          </a:p>
        </p:txBody>
      </p:sp>
      <p:sp>
        <p:nvSpPr>
          <p:cNvPr id="372" name="c-time-3-small"/>
          <p:cNvSpPr>
            <a:spLocks noGrp="1"/>
          </p:cNvSpPr>
          <p:nvPr/>
        </p:nvSpPr>
        <p:spPr>
          <a:xfrm>
            <a:off x="5133975"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T</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25" name="c-time-arrow-2-3"/>
          <p:cNvCxnSpPr>
            <a:stCxn id="366" idx="3"/>
            <a:endCxn id="370" idx="1"/>
          </p:cNvCxnSpPr>
          <p:nvPr/>
        </p:nvCxnSpPr>
        <p:spPr>
          <a:xfrm>
            <a:off x="5000625" y="2276475"/>
            <a:ext cx="161925" cy="0"/>
          </a:xfrm>
          <a:prstGeom prst="straightConnector1">
            <a:avLst/>
          </a:prstGeom>
          <a:ln w="15716">
            <a:solidFill>
              <a:srgbClr val="202428"/>
            </a:solidFill>
            <a:prstDash val="solid"/>
            <a:tailEnd type="triangle" w="sm" len="sm"/>
          </a:ln>
        </p:spPr>
      </p:cxnSp>
      <p:sp>
        <p:nvSpPr>
          <p:cNvPr id="374" name="c-time-note"/>
          <p:cNvSpPr>
            <a:spLocks noGrp="1"/>
          </p:cNvSpPr>
          <p:nvPr/>
        </p:nvSpPr>
        <p:spPr>
          <a:xfrm>
            <a:off x="3276600" y="2600325"/>
            <a:ext cx="2647950" cy="171450"/>
          </a:xfrm>
          <a:prstGeom prst="rect">
            <a:avLst/>
          </a:prstGeom>
          <a:noFill/>
          <a:ln w="0">
            <a:noFill/>
          </a:ln>
        </p:spPr>
        <p:txBody>
          <a:bodyPr wrap="square" lIns="19050" tIns="9525" rIns="19050" bIns="9525" anchor="ctr">
            <a:normAutofit/>
          </a:bodyPr>
          <a:lstStyle/>
          <a:p>
            <a:pPr algn="ctr">
              <a:lnSpc>
                <a:spcPct val="92000"/>
              </a:lnSpc>
              <a:buNone/>
              <a:defRPr sz="975" b="0" i="1">
                <a:solidFill>
                  <a:srgbClr val="244F75"/>
                </a:solidFill>
                <a:latin typeface="Times New Roman" panose="02020603050405020304"/>
                <a:ea typeface="Times New Roman" panose="02020603050405020304"/>
                <a:cs typeface="Times New Roman" panose="02020603050405020304"/>
              </a:defRPr>
            </a:pPr>
            <a:r>
              <a:rPr sz="975" b="0" i="1">
                <a:solidFill>
                  <a:srgbClr val="244F75"/>
                </a:solidFill>
                <a:latin typeface="Times New Roman" panose="02020603050405020304"/>
                <a:ea typeface="Times New Roman" panose="02020603050405020304"/>
                <a:cs typeface="Times New Roman" panose="02020603050405020304"/>
              </a:rPr>
              <a:t>Early EOS can leave no reuse</a:t>
            </a:r>
            <a:endParaRPr sz="975" b="0" i="1">
              <a:solidFill>
                <a:srgbClr val="244F75"/>
              </a:solidFill>
              <a:latin typeface="Times New Roman" panose="02020603050405020304"/>
              <a:ea typeface="Times New Roman" panose="02020603050405020304"/>
              <a:cs typeface="Times New Roman" panose="02020603050405020304"/>
            </a:endParaRPr>
          </a:p>
        </p:txBody>
      </p:sp>
      <p:sp>
        <p:nvSpPr>
          <p:cNvPr id="375" name="c-summary-bg"/>
          <p:cNvSpPr>
            <a:spLocks noGrp="1"/>
          </p:cNvSpPr>
          <p:nvPr/>
        </p:nvSpPr>
        <p:spPr>
          <a:xfrm>
            <a:off x="3305175" y="2876550"/>
            <a:ext cx="2562225" cy="295275"/>
          </a:xfrm>
          <a:prstGeom prst="roundRect">
            <a:avLst>
              <a:gd name="adj" fmla="val 29032"/>
            </a:avLst>
          </a:prstGeom>
          <a:solidFill>
            <a:srgbClr val="DCEAF4"/>
          </a:solidFill>
          <a:ln w="14288">
            <a:solidFill>
              <a:srgbClr val="3A74A5"/>
            </a:solidFill>
          </a:ln>
        </p:spPr>
      </p:sp>
      <p:sp>
        <p:nvSpPr>
          <p:cNvPr id="376" name="c-summary-text"/>
          <p:cNvSpPr>
            <a:spLocks noGrp="1"/>
          </p:cNvSpPr>
          <p:nvPr/>
        </p:nvSpPr>
        <p:spPr>
          <a:xfrm>
            <a:off x="3343275" y="2886075"/>
            <a:ext cx="2486025" cy="276225"/>
          </a:xfrm>
          <a:prstGeom prst="rect">
            <a:avLst/>
          </a:prstGeom>
          <a:noFill/>
          <a:ln w="0">
            <a:noFill/>
          </a:ln>
        </p:spPr>
        <p:txBody>
          <a:bodyPr wrap="square" lIns="19050" tIns="9525" rIns="19050" bIns="9525" anchor="ctr">
            <a:normAutofit/>
          </a:bodyPr>
          <a:lstStyle/>
          <a:p>
            <a:pPr algn="ctr">
              <a:lnSpc>
                <a:spcPct val="92000"/>
              </a:lnSpc>
              <a:buNone/>
              <a:defRPr sz="1165" b="1" i="1">
                <a:solidFill>
                  <a:srgbClr val="244F75"/>
                </a:solidFill>
                <a:latin typeface="Times New Roman" panose="02020603050405020304"/>
                <a:ea typeface="Times New Roman" panose="02020603050405020304"/>
                <a:cs typeface="Times New Roman" panose="02020603050405020304"/>
              </a:defRPr>
            </a:pPr>
            <a:r>
              <a:rPr sz="1165" b="1" i="1">
                <a:solidFill>
                  <a:srgbClr val="244F75"/>
                </a:solidFill>
                <a:latin typeface="Times New Roman" panose="02020603050405020304"/>
                <a:ea typeface="Times New Roman" panose="02020603050405020304"/>
                <a:cs typeface="Times New Roman" panose="02020603050405020304"/>
              </a:rPr>
              <a:t>Preserves the selected DLS policy</a:t>
            </a:r>
            <a:endParaRPr sz="1165" b="1" i="1">
              <a:solidFill>
                <a:srgbClr val="244F75"/>
              </a:solidFill>
              <a:latin typeface="Times New Roman" panose="02020603050405020304"/>
              <a:ea typeface="Times New Roman" panose="02020603050405020304"/>
              <a:cs typeface="Times New Roman" panose="02020603050405020304"/>
            </a:endParaRPr>
          </a:p>
        </p:txBody>
      </p:sp>
      <p:sp>
        <p:nvSpPr>
          <p:cNvPr id="377" name="d-fixed-L1"/>
          <p:cNvSpPr>
            <a:spLocks noGrp="1"/>
          </p:cNvSpPr>
          <p:nvPr/>
        </p:nvSpPr>
        <p:spPr>
          <a:xfrm>
            <a:off x="6324600" y="1057275"/>
            <a:ext cx="323850" cy="123825"/>
          </a:xfrm>
          <a:prstGeom prst="roundRect">
            <a:avLst>
              <a:gd name="adj" fmla="val 23077"/>
            </a:avLst>
          </a:prstGeom>
          <a:solidFill>
            <a:srgbClr val="DCEAF4"/>
          </a:solidFill>
          <a:ln w="11906">
            <a:solidFill>
              <a:srgbClr val="2B938A"/>
            </a:solidFill>
            <a:prstDash val="solid"/>
          </a:ln>
        </p:spPr>
      </p:sp>
      <p:sp>
        <p:nvSpPr>
          <p:cNvPr id="378" name="d-fixed-L1-label"/>
          <p:cNvSpPr>
            <a:spLocks noGrp="1"/>
          </p:cNvSpPr>
          <p:nvPr/>
        </p:nvSpPr>
        <p:spPr>
          <a:xfrm>
            <a:off x="6324600" y="1047750"/>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L1</a:t>
            </a:r>
            <a:endParaRPr sz="790" b="0" i="0">
              <a:solidFill>
                <a:srgbClr val="202428"/>
              </a:solidFill>
              <a:latin typeface="Arial" panose="020B0704020202020204"/>
              <a:ea typeface="Arial" panose="020B0704020202020204"/>
              <a:cs typeface="Arial" panose="020B0704020202020204"/>
            </a:endParaRPr>
          </a:p>
        </p:txBody>
      </p:sp>
      <p:sp>
        <p:nvSpPr>
          <p:cNvPr id="379" name="d-fixed-L2"/>
          <p:cNvSpPr>
            <a:spLocks noGrp="1"/>
          </p:cNvSpPr>
          <p:nvPr/>
        </p:nvSpPr>
        <p:spPr>
          <a:xfrm>
            <a:off x="6324600" y="1209675"/>
            <a:ext cx="323850" cy="123825"/>
          </a:xfrm>
          <a:prstGeom prst="roundRect">
            <a:avLst>
              <a:gd name="adj" fmla="val 23077"/>
            </a:avLst>
          </a:prstGeom>
          <a:solidFill>
            <a:srgbClr val="E7F4F1"/>
          </a:solidFill>
          <a:ln w="11906">
            <a:solidFill>
              <a:srgbClr val="2B938A"/>
            </a:solidFill>
            <a:prstDash val="solid"/>
          </a:ln>
        </p:spPr>
      </p:sp>
      <p:sp>
        <p:nvSpPr>
          <p:cNvPr id="380" name="d-fixed-L2-label"/>
          <p:cNvSpPr>
            <a:spLocks noGrp="1"/>
          </p:cNvSpPr>
          <p:nvPr/>
        </p:nvSpPr>
        <p:spPr>
          <a:xfrm>
            <a:off x="6324600" y="1200150"/>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L2</a:t>
            </a:r>
            <a:endParaRPr sz="790" b="0" i="0">
              <a:solidFill>
                <a:srgbClr val="202428"/>
              </a:solidFill>
              <a:latin typeface="Arial" panose="020B0704020202020204"/>
              <a:ea typeface="Arial" panose="020B0704020202020204"/>
              <a:cs typeface="Arial" panose="020B0704020202020204"/>
            </a:endParaRPr>
          </a:p>
        </p:txBody>
      </p:sp>
      <p:sp>
        <p:nvSpPr>
          <p:cNvPr id="381" name="d-fixed-L3"/>
          <p:cNvSpPr>
            <a:spLocks noGrp="1"/>
          </p:cNvSpPr>
          <p:nvPr/>
        </p:nvSpPr>
        <p:spPr>
          <a:xfrm>
            <a:off x="6324600" y="1362075"/>
            <a:ext cx="323850" cy="123825"/>
          </a:xfrm>
          <a:prstGeom prst="roundRect">
            <a:avLst>
              <a:gd name="adj" fmla="val 23077"/>
            </a:avLst>
          </a:prstGeom>
          <a:solidFill>
            <a:srgbClr val="DCEAF4"/>
          </a:solidFill>
          <a:ln w="11906">
            <a:solidFill>
              <a:srgbClr val="2B938A"/>
            </a:solidFill>
            <a:prstDash val="solid"/>
          </a:ln>
        </p:spPr>
      </p:sp>
      <p:sp>
        <p:nvSpPr>
          <p:cNvPr id="382" name="d-fixed-L3-label"/>
          <p:cNvSpPr>
            <a:spLocks noGrp="1"/>
          </p:cNvSpPr>
          <p:nvPr/>
        </p:nvSpPr>
        <p:spPr>
          <a:xfrm>
            <a:off x="6324600" y="1352550"/>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L3</a:t>
            </a:r>
            <a:endParaRPr sz="790" b="0" i="0">
              <a:solidFill>
                <a:srgbClr val="202428"/>
              </a:solidFill>
              <a:latin typeface="Arial" panose="020B0704020202020204"/>
              <a:ea typeface="Arial" panose="020B0704020202020204"/>
              <a:cs typeface="Arial" panose="020B0704020202020204"/>
            </a:endParaRPr>
          </a:p>
        </p:txBody>
      </p:sp>
      <p:sp>
        <p:nvSpPr>
          <p:cNvPr id="383" name="d-fixed-L4"/>
          <p:cNvSpPr>
            <a:spLocks noGrp="1"/>
          </p:cNvSpPr>
          <p:nvPr/>
        </p:nvSpPr>
        <p:spPr>
          <a:xfrm>
            <a:off x="6324600" y="1514475"/>
            <a:ext cx="323850" cy="123825"/>
          </a:xfrm>
          <a:prstGeom prst="roundRect">
            <a:avLst>
              <a:gd name="adj" fmla="val 23077"/>
            </a:avLst>
          </a:prstGeom>
          <a:solidFill>
            <a:srgbClr val="E7F4F1"/>
          </a:solidFill>
          <a:ln w="11906">
            <a:solidFill>
              <a:srgbClr val="2B938A"/>
            </a:solidFill>
            <a:prstDash val="solid"/>
          </a:ln>
        </p:spPr>
      </p:sp>
      <p:sp>
        <p:nvSpPr>
          <p:cNvPr id="384" name="d-fixed-L4-label"/>
          <p:cNvSpPr>
            <a:spLocks noGrp="1"/>
          </p:cNvSpPr>
          <p:nvPr/>
        </p:nvSpPr>
        <p:spPr>
          <a:xfrm>
            <a:off x="6324600" y="1504950"/>
            <a:ext cx="323850" cy="142875"/>
          </a:xfrm>
          <a:prstGeom prst="rect">
            <a:avLst/>
          </a:prstGeom>
          <a:noFill/>
          <a:ln w="0">
            <a:noFill/>
          </a:ln>
        </p:spPr>
        <p:txBody>
          <a:bodyPr wrap="square" lIns="19050" tIns="9525" rIns="19050" bIns="9525" anchor="ctr">
            <a:normAutofit/>
          </a:bodyPr>
          <a:lstStyle/>
          <a:p>
            <a:pPr algn="ctr">
              <a:lnSpc>
                <a:spcPct val="92000"/>
              </a:lnSpc>
              <a:buNone/>
              <a:defRPr sz="790" b="0" i="0">
                <a:solidFill>
                  <a:srgbClr val="202428"/>
                </a:solidFill>
                <a:latin typeface="Arial" panose="020B0704020202020204"/>
                <a:ea typeface="Arial" panose="020B0704020202020204"/>
                <a:cs typeface="Arial" panose="020B0704020202020204"/>
              </a:defRPr>
            </a:pPr>
            <a:r>
              <a:rPr sz="790" b="0" i="0">
                <a:solidFill>
                  <a:srgbClr val="202428"/>
                </a:solidFill>
                <a:latin typeface="Arial" panose="020B0704020202020204"/>
                <a:ea typeface="Arial" panose="020B0704020202020204"/>
                <a:cs typeface="Arial" panose="020B0704020202020204"/>
              </a:rPr>
              <a:t>L4</a:t>
            </a:r>
            <a:endParaRPr sz="790" b="0" i="0">
              <a:solidFill>
                <a:srgbClr val="202428"/>
              </a:solidFill>
              <a:latin typeface="Arial" panose="020B0704020202020204"/>
              <a:ea typeface="Arial" panose="020B0704020202020204"/>
              <a:cs typeface="Arial" panose="020B0704020202020204"/>
            </a:endParaRPr>
          </a:p>
        </p:txBody>
      </p:sp>
      <p:sp>
        <p:nvSpPr>
          <p:cNvPr id="385" name="d-fixed-sig"/>
          <p:cNvSpPr>
            <a:spLocks noGrp="1"/>
          </p:cNvSpPr>
          <p:nvPr/>
        </p:nvSpPr>
        <p:spPr>
          <a:xfrm>
            <a:off x="6286500" y="1676400"/>
            <a:ext cx="400050" cy="152400"/>
          </a:xfrm>
          <a:prstGeom prst="rect">
            <a:avLst/>
          </a:prstGeom>
          <a:noFill/>
          <a:ln w="0">
            <a:noFill/>
          </a:ln>
        </p:spPr>
        <p:txBody>
          <a:bodyPr wrap="square" lIns="19050" tIns="9525" rIns="19050" bIns="9525" anchor="ctr">
            <a:normAutofit fontScale="97547"/>
          </a:bodyPr>
          <a:lstStyle/>
          <a:p>
            <a:pPr algn="ctr">
              <a:lnSpc>
                <a:spcPct val="92000"/>
              </a:lnSpc>
              <a:buNone/>
              <a:defRPr sz="975" b="1" i="1">
                <a:solidFill>
                  <a:srgbClr val="2B938A"/>
                </a:solidFill>
                <a:latin typeface="Times New Roman" panose="02020603050405020304"/>
                <a:ea typeface="Times New Roman" panose="02020603050405020304"/>
                <a:cs typeface="Times New Roman" panose="02020603050405020304"/>
              </a:defRPr>
            </a:pPr>
            <a:r>
              <a:rPr sz="975" b="1" i="1">
                <a:solidFill>
                  <a:srgbClr val="2B938A"/>
                </a:solidFill>
                <a:latin typeface="Times New Roman" panose="02020603050405020304"/>
                <a:ea typeface="Times New Roman" panose="02020603050405020304"/>
                <a:cs typeface="Times New Roman" panose="02020603050405020304"/>
              </a:rPr>
              <a:t>G*</a:t>
            </a:r>
            <a:endParaRPr sz="975" b="1" i="1">
              <a:solidFill>
                <a:srgbClr val="2B938A"/>
              </a:solidFill>
              <a:latin typeface="Times New Roman" panose="02020603050405020304"/>
              <a:ea typeface="Times New Roman" panose="02020603050405020304"/>
              <a:cs typeface="Times New Roman" panose="02020603050405020304"/>
            </a:endParaRPr>
          </a:p>
        </p:txBody>
      </p:sp>
      <p:sp>
        <p:nvSpPr>
          <p:cNvPr id="386" name="d-off"/>
          <p:cNvSpPr>
            <a:spLocks noGrp="1"/>
          </p:cNvSpPr>
          <p:nvPr/>
        </p:nvSpPr>
        <p:spPr>
          <a:xfrm>
            <a:off x="6877050" y="1171575"/>
            <a:ext cx="657225" cy="361950"/>
          </a:xfrm>
          <a:prstGeom prst="roundRect">
            <a:avLst>
              <a:gd name="adj" fmla="val 18421"/>
            </a:avLst>
          </a:prstGeom>
          <a:solidFill>
            <a:srgbClr val="F2F3F4"/>
          </a:solidFill>
          <a:ln w="11906">
            <a:solidFill>
              <a:srgbClr val="6F7780"/>
            </a:solidFill>
          </a:ln>
        </p:spPr>
      </p:sp>
      <p:sp>
        <p:nvSpPr>
          <p:cNvPr id="387" name="d-off-label"/>
          <p:cNvSpPr>
            <a:spLocks noGrp="1"/>
          </p:cNvSpPr>
          <p:nvPr/>
        </p:nvSpPr>
        <p:spPr>
          <a:xfrm>
            <a:off x="6896100" y="1200150"/>
            <a:ext cx="619125" cy="285750"/>
          </a:xfrm>
          <a:prstGeom prst="rect">
            <a:avLst/>
          </a:prstGeom>
          <a:noFill/>
          <a:ln w="0">
            <a:noFill/>
          </a:ln>
        </p:spPr>
        <p:txBody>
          <a:bodyPr wrap="square" lIns="19050" tIns="9525" rIns="19050" bIns="9525" anchor="ctr">
            <a:normAutofit/>
          </a:bodyPr>
          <a:lstStyle/>
          <a:p>
            <a:pPr algn="ctr">
              <a:lnSpc>
                <a:spcPct val="92000"/>
              </a:lnSpc>
              <a:buNone/>
              <a:defRPr sz="1125" b="1" i="1">
                <a:solidFill>
                  <a:srgbClr val="176D66"/>
                </a:solidFill>
                <a:latin typeface="Times New Roman" panose="02020603050405020304"/>
                <a:ea typeface="Times New Roman" panose="02020603050405020304"/>
                <a:cs typeface="Times New Roman" panose="02020603050405020304"/>
              </a:defRPr>
            </a:pPr>
            <a:r>
              <a:rPr sz="1125" b="1" i="1">
                <a:solidFill>
                  <a:srgbClr val="176D66"/>
                </a:solidFill>
                <a:latin typeface="Times New Roman" panose="02020603050405020304"/>
                <a:ea typeface="Times New Roman" panose="02020603050405020304"/>
                <a:cs typeface="Times New Roman" panose="02020603050405020304"/>
              </a:rPr>
              <a:t>DLS off</a:t>
            </a:r>
            <a:endParaRPr sz="1125" b="1" i="1">
              <a:solidFill>
                <a:srgbClr val="176D66"/>
              </a:solidFill>
              <a:latin typeface="Times New Roman" panose="02020603050405020304"/>
              <a:ea typeface="Times New Roman" panose="02020603050405020304"/>
              <a:cs typeface="Times New Roman" panose="02020603050405020304"/>
            </a:endParaRPr>
          </a:p>
        </p:txBody>
      </p:sp>
      <p:sp>
        <p:nvSpPr>
          <p:cNvPr id="388" name="d-cache-back2"/>
          <p:cNvSpPr>
            <a:spLocks noGrp="1"/>
          </p:cNvSpPr>
          <p:nvPr/>
        </p:nvSpPr>
        <p:spPr>
          <a:xfrm>
            <a:off x="7829550" y="1238250"/>
            <a:ext cx="552450" cy="361950"/>
          </a:xfrm>
          <a:prstGeom prst="roundRect">
            <a:avLst>
              <a:gd name="adj" fmla="val 15789"/>
            </a:avLst>
          </a:prstGeom>
          <a:solidFill>
            <a:srgbClr val="F3E5BB"/>
          </a:solidFill>
          <a:ln w="10478">
            <a:solidFill>
              <a:srgbClr val="D4B66E"/>
            </a:solidFill>
          </a:ln>
        </p:spPr>
      </p:sp>
      <p:sp>
        <p:nvSpPr>
          <p:cNvPr id="389" name="d-cache-back1"/>
          <p:cNvSpPr>
            <a:spLocks noGrp="1"/>
          </p:cNvSpPr>
          <p:nvPr/>
        </p:nvSpPr>
        <p:spPr>
          <a:xfrm>
            <a:off x="7796213" y="1204913"/>
            <a:ext cx="552450" cy="361950"/>
          </a:xfrm>
          <a:prstGeom prst="roundRect">
            <a:avLst>
              <a:gd name="adj" fmla="val 15789"/>
            </a:avLst>
          </a:prstGeom>
          <a:solidFill>
            <a:srgbClr val="F8E9C2"/>
          </a:solidFill>
          <a:ln w="10478">
            <a:solidFill>
              <a:srgbClr val="C99B40"/>
            </a:solidFill>
          </a:ln>
        </p:spPr>
      </p:sp>
      <p:sp>
        <p:nvSpPr>
          <p:cNvPr id="390" name="d-cache-front"/>
          <p:cNvSpPr>
            <a:spLocks noGrp="1"/>
          </p:cNvSpPr>
          <p:nvPr/>
        </p:nvSpPr>
        <p:spPr>
          <a:xfrm>
            <a:off x="7762875" y="1171575"/>
            <a:ext cx="552450" cy="361950"/>
          </a:xfrm>
          <a:prstGeom prst="roundRect">
            <a:avLst>
              <a:gd name="adj" fmla="val 15789"/>
            </a:avLst>
          </a:prstGeom>
          <a:solidFill>
            <a:srgbClr val="FCF1D8"/>
          </a:solidFill>
          <a:ln w="15240">
            <a:solidFill>
              <a:srgbClr val="BD842A"/>
            </a:solidFill>
          </a:ln>
        </p:spPr>
      </p:sp>
      <p:sp>
        <p:nvSpPr>
          <p:cNvPr id="391" name="d-cache-label"/>
          <p:cNvSpPr>
            <a:spLocks noGrp="1"/>
          </p:cNvSpPr>
          <p:nvPr/>
        </p:nvSpPr>
        <p:spPr>
          <a:xfrm>
            <a:off x="7762875" y="1181100"/>
            <a:ext cx="552450" cy="333375"/>
          </a:xfrm>
          <a:prstGeom prst="rect">
            <a:avLst/>
          </a:prstGeom>
          <a:noFill/>
          <a:ln w="0">
            <a:noFill/>
          </a:ln>
        </p:spPr>
        <p:txBody>
          <a:bodyPr wrap="square" lIns="19050" tIns="9525" rIns="19050" bIns="9525" anchor="ctr">
            <a:normAutofit/>
          </a:bodyPr>
          <a:lstStyle/>
          <a:p>
            <a:pPr algn="ctr">
              <a:lnSpc>
                <a:spcPct val="92000"/>
              </a:lnSpc>
              <a:buNone/>
              <a:defRPr sz="1050" b="1" i="1">
                <a:solidFill>
                  <a:srgbClr val="8C611B"/>
                </a:solidFill>
                <a:latin typeface="Times New Roman" panose="02020603050405020304"/>
                <a:ea typeface="Times New Roman" panose="02020603050405020304"/>
                <a:cs typeface="Times New Roman" panose="02020603050405020304"/>
              </a:defRPr>
            </a:pPr>
            <a:r>
              <a:rPr sz="1050" b="1" i="1">
                <a:solidFill>
                  <a:srgbClr val="8C611B"/>
                </a:solidFill>
                <a:latin typeface="Times New Roman" panose="02020603050405020304"/>
                <a:ea typeface="Times New Roman" panose="02020603050405020304"/>
                <a:cs typeface="Times New Roman" panose="02020603050405020304"/>
              </a:rPr>
              <a:t>KV[G*]</a:t>
            </a:r>
            <a:endParaRPr sz="1050" b="1" i="1">
              <a:solidFill>
                <a:srgbClr val="8C611B"/>
              </a:solidFill>
              <a:latin typeface="Times New Roman" panose="02020603050405020304"/>
              <a:ea typeface="Times New Roman" panose="02020603050405020304"/>
              <a:cs typeface="Times New Roman" panose="02020603050405020304"/>
            </a:endParaRPr>
          </a:p>
        </p:txBody>
      </p:sp>
      <p:sp>
        <p:nvSpPr>
          <p:cNvPr id="392" name="d-reuse"/>
          <p:cNvSpPr>
            <a:spLocks noGrp="1"/>
          </p:cNvSpPr>
          <p:nvPr/>
        </p:nvSpPr>
        <p:spPr>
          <a:xfrm>
            <a:off x="8562975" y="1181100"/>
            <a:ext cx="342900" cy="323850"/>
          </a:xfrm>
          <a:prstGeom prst="roundRect">
            <a:avLst>
              <a:gd name="adj" fmla="val 20588"/>
            </a:avLst>
          </a:prstGeom>
          <a:solidFill>
            <a:srgbClr val="E7F4F1"/>
          </a:solidFill>
          <a:ln w="17145">
            <a:solidFill>
              <a:srgbClr val="2B938A"/>
            </a:solidFill>
          </a:ln>
        </p:spPr>
      </p:sp>
      <p:sp>
        <p:nvSpPr>
          <p:cNvPr id="393" name="d-reuse-label"/>
          <p:cNvSpPr>
            <a:spLocks noGrp="1"/>
          </p:cNvSpPr>
          <p:nvPr/>
        </p:nvSpPr>
        <p:spPr>
          <a:xfrm>
            <a:off x="8562975" y="1190625"/>
            <a:ext cx="342900"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2B938A"/>
                </a:solidFill>
                <a:latin typeface="Arial" panose="020B0704020202020204"/>
                <a:ea typeface="Arial" panose="020B0704020202020204"/>
                <a:cs typeface="Arial" panose="020B0704020202020204"/>
              </a:defRPr>
            </a:pPr>
            <a:r>
              <a:rPr sz="1350" b="1" i="0">
                <a:solidFill>
                  <a:srgbClr val="2B938A"/>
                </a:solidFill>
                <a:latin typeface="Arial" panose="020B0704020202020204"/>
                <a:ea typeface="Arial" panose="020B0704020202020204"/>
                <a:cs typeface="Arial" panose="020B0704020202020204"/>
              </a:rPr>
              <a:t>R</a:t>
            </a:r>
            <a:endParaRPr sz="1350" b="1" i="0">
              <a:solidFill>
                <a:srgbClr val="2B938A"/>
              </a:solidFill>
              <a:latin typeface="Arial" panose="020B0704020202020204"/>
              <a:ea typeface="Arial" panose="020B0704020202020204"/>
              <a:cs typeface="Arial" panose="020B0704020202020204"/>
            </a:endParaRPr>
          </a:p>
        </p:txBody>
      </p:sp>
      <p:sp>
        <p:nvSpPr>
          <p:cNvPr id="394" name="d-graph-off-start"/>
          <p:cNvSpPr>
            <a:spLocks noGrp="1"/>
          </p:cNvSpPr>
          <p:nvPr/>
        </p:nvSpPr>
        <p:spPr>
          <a:xfrm>
            <a:off x="6686550" y="1343025"/>
            <a:ext cx="953" cy="953"/>
          </a:xfrm>
          <a:prstGeom prst="rect">
            <a:avLst/>
          </a:prstGeom>
          <a:noFill/>
          <a:ln w="0">
            <a:noFill/>
          </a:ln>
        </p:spPr>
      </p:sp>
      <p:sp>
        <p:nvSpPr>
          <p:cNvPr id="395" name="d-graph-off-end"/>
          <p:cNvSpPr>
            <a:spLocks noGrp="1"/>
          </p:cNvSpPr>
          <p:nvPr/>
        </p:nvSpPr>
        <p:spPr>
          <a:xfrm>
            <a:off x="6848475" y="1343025"/>
            <a:ext cx="953" cy="953"/>
          </a:xfrm>
          <a:prstGeom prst="rect">
            <a:avLst/>
          </a:prstGeom>
          <a:noFill/>
          <a:ln w="0">
            <a:noFill/>
          </a:ln>
        </p:spPr>
      </p:sp>
      <p:cxnSp>
        <p:nvCxnSpPr>
          <p:cNvPr id="648" name="d-graph-off"/>
          <p:cNvCxnSpPr>
            <a:stCxn id="394" idx="3"/>
            <a:endCxn id="395" idx="1"/>
          </p:cNvCxnSpPr>
          <p:nvPr/>
        </p:nvCxnSpPr>
        <p:spPr>
          <a:xfrm>
            <a:off x="6687503" y="1343502"/>
            <a:ext cx="160972" cy="0"/>
          </a:xfrm>
          <a:prstGeom prst="straightConnector1">
            <a:avLst/>
          </a:prstGeom>
          <a:ln w="16193">
            <a:solidFill>
              <a:srgbClr val="2B938A"/>
            </a:solidFill>
            <a:prstDash val="solid"/>
            <a:tailEnd type="triangle" w="sm" len="sm"/>
          </a:ln>
        </p:spPr>
      </p:cxnSp>
      <p:sp>
        <p:nvSpPr>
          <p:cNvPr id="397" name="d-off-cache-start"/>
          <p:cNvSpPr>
            <a:spLocks noGrp="1"/>
          </p:cNvSpPr>
          <p:nvPr/>
        </p:nvSpPr>
        <p:spPr>
          <a:xfrm>
            <a:off x="7553325" y="1343025"/>
            <a:ext cx="953" cy="953"/>
          </a:xfrm>
          <a:prstGeom prst="rect">
            <a:avLst/>
          </a:prstGeom>
          <a:noFill/>
          <a:ln w="0">
            <a:noFill/>
          </a:ln>
        </p:spPr>
      </p:sp>
      <p:sp>
        <p:nvSpPr>
          <p:cNvPr id="398" name="d-off-cache-end"/>
          <p:cNvSpPr>
            <a:spLocks noGrp="1"/>
          </p:cNvSpPr>
          <p:nvPr/>
        </p:nvSpPr>
        <p:spPr>
          <a:xfrm>
            <a:off x="7734300" y="1343025"/>
            <a:ext cx="953" cy="953"/>
          </a:xfrm>
          <a:prstGeom prst="rect">
            <a:avLst/>
          </a:prstGeom>
          <a:noFill/>
          <a:ln w="0">
            <a:noFill/>
          </a:ln>
        </p:spPr>
      </p:sp>
      <p:cxnSp>
        <p:nvCxnSpPr>
          <p:cNvPr id="651" name="d-off-cache"/>
          <p:cNvCxnSpPr>
            <a:stCxn id="397" idx="3"/>
            <a:endCxn id="398" idx="1"/>
          </p:cNvCxnSpPr>
          <p:nvPr/>
        </p:nvCxnSpPr>
        <p:spPr>
          <a:xfrm>
            <a:off x="7554278" y="1343502"/>
            <a:ext cx="180022" cy="0"/>
          </a:xfrm>
          <a:prstGeom prst="straightConnector1">
            <a:avLst/>
          </a:prstGeom>
          <a:ln w="16193">
            <a:solidFill>
              <a:srgbClr val="BD842A"/>
            </a:solidFill>
            <a:prstDash val="solid"/>
            <a:tailEnd type="triangle" w="sm" len="sm"/>
          </a:ln>
        </p:spPr>
      </p:cxnSp>
      <p:sp>
        <p:nvSpPr>
          <p:cNvPr id="400" name="d-cache-r-start"/>
          <p:cNvSpPr>
            <a:spLocks noGrp="1"/>
          </p:cNvSpPr>
          <p:nvPr/>
        </p:nvSpPr>
        <p:spPr>
          <a:xfrm>
            <a:off x="8401050" y="1343025"/>
            <a:ext cx="953" cy="953"/>
          </a:xfrm>
          <a:prstGeom prst="rect">
            <a:avLst/>
          </a:prstGeom>
          <a:noFill/>
          <a:ln w="0">
            <a:noFill/>
          </a:ln>
        </p:spPr>
      </p:sp>
      <p:sp>
        <p:nvSpPr>
          <p:cNvPr id="401" name="d-cache-r-end"/>
          <p:cNvSpPr>
            <a:spLocks noGrp="1"/>
          </p:cNvSpPr>
          <p:nvPr/>
        </p:nvSpPr>
        <p:spPr>
          <a:xfrm>
            <a:off x="8524875" y="1343025"/>
            <a:ext cx="953" cy="953"/>
          </a:xfrm>
          <a:prstGeom prst="rect">
            <a:avLst/>
          </a:prstGeom>
          <a:noFill/>
          <a:ln w="0">
            <a:noFill/>
          </a:ln>
        </p:spPr>
      </p:sp>
      <p:cxnSp>
        <p:nvCxnSpPr>
          <p:cNvPr id="654" name="d-cache-r"/>
          <p:cNvCxnSpPr>
            <a:stCxn id="400" idx="3"/>
            <a:endCxn id="401" idx="1"/>
          </p:cNvCxnSpPr>
          <p:nvPr/>
        </p:nvCxnSpPr>
        <p:spPr>
          <a:xfrm>
            <a:off x="8402003" y="1343502"/>
            <a:ext cx="122872" cy="0"/>
          </a:xfrm>
          <a:prstGeom prst="straightConnector1">
            <a:avLst/>
          </a:prstGeom>
          <a:ln w="16193">
            <a:solidFill>
              <a:srgbClr val="2B938A"/>
            </a:solidFill>
            <a:prstDash val="solid"/>
            <a:tailEnd type="triangle" w="sm" len="sm"/>
          </a:ln>
        </p:spPr>
      </p:cxnSp>
      <p:sp>
        <p:nvSpPr>
          <p:cNvPr id="403" name="d-ffn-0-0"/>
          <p:cNvSpPr>
            <a:spLocks noGrp="1"/>
          </p:cNvSpPr>
          <p:nvPr/>
        </p:nvSpPr>
        <p:spPr>
          <a:xfrm>
            <a:off x="6877050" y="1685925"/>
            <a:ext cx="47625" cy="47625"/>
          </a:xfrm>
          <a:prstGeom prst="rect">
            <a:avLst/>
          </a:prstGeom>
          <a:solidFill>
            <a:srgbClr val="FFFFFF"/>
          </a:solidFill>
          <a:ln w="6191">
            <a:solidFill>
              <a:srgbClr val="A1A8AF"/>
            </a:solidFill>
          </a:ln>
        </p:spPr>
      </p:sp>
      <p:sp>
        <p:nvSpPr>
          <p:cNvPr id="404" name="d-ffn-0-1"/>
          <p:cNvSpPr>
            <a:spLocks noGrp="1"/>
          </p:cNvSpPr>
          <p:nvPr/>
        </p:nvSpPr>
        <p:spPr>
          <a:xfrm>
            <a:off x="6934200" y="1685925"/>
            <a:ext cx="47625" cy="47625"/>
          </a:xfrm>
          <a:prstGeom prst="rect">
            <a:avLst/>
          </a:prstGeom>
          <a:solidFill>
            <a:srgbClr val="E7F4F1"/>
          </a:solidFill>
          <a:ln w="6191">
            <a:solidFill>
              <a:srgbClr val="2B938A"/>
            </a:solidFill>
          </a:ln>
        </p:spPr>
      </p:sp>
      <p:sp>
        <p:nvSpPr>
          <p:cNvPr id="405" name="d-ffn-0-2"/>
          <p:cNvSpPr>
            <a:spLocks noGrp="1"/>
          </p:cNvSpPr>
          <p:nvPr/>
        </p:nvSpPr>
        <p:spPr>
          <a:xfrm>
            <a:off x="6991350" y="1685925"/>
            <a:ext cx="47625" cy="47625"/>
          </a:xfrm>
          <a:prstGeom prst="rect">
            <a:avLst/>
          </a:prstGeom>
          <a:solidFill>
            <a:srgbClr val="E7F4F1"/>
          </a:solidFill>
          <a:ln w="6191">
            <a:solidFill>
              <a:srgbClr val="2B938A"/>
            </a:solidFill>
          </a:ln>
        </p:spPr>
      </p:sp>
      <p:sp>
        <p:nvSpPr>
          <p:cNvPr id="406" name="d-ffn-0-3"/>
          <p:cNvSpPr>
            <a:spLocks noGrp="1"/>
          </p:cNvSpPr>
          <p:nvPr/>
        </p:nvSpPr>
        <p:spPr>
          <a:xfrm>
            <a:off x="7048500" y="1685925"/>
            <a:ext cx="47625" cy="47625"/>
          </a:xfrm>
          <a:prstGeom prst="rect">
            <a:avLst/>
          </a:prstGeom>
          <a:solidFill>
            <a:srgbClr val="FFFFFF"/>
          </a:solidFill>
          <a:ln w="6191">
            <a:solidFill>
              <a:srgbClr val="A1A8AF"/>
            </a:solidFill>
          </a:ln>
        </p:spPr>
      </p:sp>
      <p:sp>
        <p:nvSpPr>
          <p:cNvPr id="407" name="d-ffn-1-0"/>
          <p:cNvSpPr>
            <a:spLocks noGrp="1"/>
          </p:cNvSpPr>
          <p:nvPr/>
        </p:nvSpPr>
        <p:spPr>
          <a:xfrm>
            <a:off x="6877050" y="1743075"/>
            <a:ext cx="47625" cy="47625"/>
          </a:xfrm>
          <a:prstGeom prst="rect">
            <a:avLst/>
          </a:prstGeom>
          <a:solidFill>
            <a:srgbClr val="E7F4F1"/>
          </a:solidFill>
          <a:ln w="6191">
            <a:solidFill>
              <a:srgbClr val="2B938A"/>
            </a:solidFill>
          </a:ln>
        </p:spPr>
      </p:sp>
      <p:sp>
        <p:nvSpPr>
          <p:cNvPr id="408" name="d-ffn-1-1"/>
          <p:cNvSpPr>
            <a:spLocks noGrp="1"/>
          </p:cNvSpPr>
          <p:nvPr/>
        </p:nvSpPr>
        <p:spPr>
          <a:xfrm>
            <a:off x="6934200" y="1743075"/>
            <a:ext cx="47625" cy="47625"/>
          </a:xfrm>
          <a:prstGeom prst="rect">
            <a:avLst/>
          </a:prstGeom>
          <a:solidFill>
            <a:srgbClr val="E7F4F1"/>
          </a:solidFill>
          <a:ln w="6191">
            <a:solidFill>
              <a:srgbClr val="2B938A"/>
            </a:solidFill>
          </a:ln>
        </p:spPr>
      </p:sp>
      <p:sp>
        <p:nvSpPr>
          <p:cNvPr id="409" name="d-ffn-1-2"/>
          <p:cNvSpPr>
            <a:spLocks noGrp="1"/>
          </p:cNvSpPr>
          <p:nvPr/>
        </p:nvSpPr>
        <p:spPr>
          <a:xfrm>
            <a:off x="6991350" y="1743075"/>
            <a:ext cx="47625" cy="47625"/>
          </a:xfrm>
          <a:prstGeom prst="rect">
            <a:avLst/>
          </a:prstGeom>
          <a:solidFill>
            <a:srgbClr val="FFFFFF"/>
          </a:solidFill>
          <a:ln w="6191">
            <a:solidFill>
              <a:srgbClr val="A1A8AF"/>
            </a:solidFill>
          </a:ln>
        </p:spPr>
      </p:sp>
      <p:sp>
        <p:nvSpPr>
          <p:cNvPr id="410" name="d-ffn-1-3"/>
          <p:cNvSpPr>
            <a:spLocks noGrp="1"/>
          </p:cNvSpPr>
          <p:nvPr/>
        </p:nvSpPr>
        <p:spPr>
          <a:xfrm>
            <a:off x="7048500" y="1743075"/>
            <a:ext cx="47625" cy="47625"/>
          </a:xfrm>
          <a:prstGeom prst="rect">
            <a:avLst/>
          </a:prstGeom>
          <a:solidFill>
            <a:srgbClr val="E7F4F1"/>
          </a:solidFill>
          <a:ln w="6191">
            <a:solidFill>
              <a:srgbClr val="2B938A"/>
            </a:solidFill>
          </a:ln>
        </p:spPr>
      </p:sp>
      <p:sp>
        <p:nvSpPr>
          <p:cNvPr id="411" name="d-ffn-label"/>
          <p:cNvSpPr>
            <a:spLocks noGrp="1"/>
          </p:cNvSpPr>
          <p:nvPr/>
        </p:nvSpPr>
        <p:spPr>
          <a:xfrm>
            <a:off x="7062470" y="1657350"/>
            <a:ext cx="762000" cy="171450"/>
          </a:xfrm>
          <a:prstGeom prst="rect">
            <a:avLst/>
          </a:prstGeom>
          <a:noFill/>
          <a:ln w="0">
            <a:noFill/>
          </a:ln>
        </p:spPr>
        <p:txBody>
          <a:bodyPr wrap="square" lIns="19050" tIns="9525" rIns="19050" bIns="9525" anchor="ctr">
            <a:normAutofit/>
          </a:bodyPr>
          <a:lstStyle/>
          <a:p>
            <a:pPr algn="ctr">
              <a:lnSpc>
                <a:spcPct val="92000"/>
              </a:lnSpc>
              <a:buNone/>
              <a:defRPr sz="865" b="0" i="1">
                <a:solidFill>
                  <a:srgbClr val="176D66"/>
                </a:solidFill>
                <a:latin typeface="Times New Roman" panose="02020603050405020304"/>
                <a:ea typeface="Times New Roman" panose="02020603050405020304"/>
                <a:cs typeface="Times New Roman" panose="02020603050405020304"/>
              </a:defRPr>
            </a:pPr>
            <a:r>
              <a:rPr sz="865" b="0" i="1">
                <a:solidFill>
                  <a:srgbClr val="176D66"/>
                </a:solidFill>
                <a:latin typeface="Times New Roman" panose="02020603050405020304"/>
                <a:ea typeface="Times New Roman" panose="02020603050405020304"/>
                <a:cs typeface="Times New Roman" panose="02020603050405020304"/>
              </a:rPr>
              <a:t>FFN pruning</a:t>
            </a:r>
            <a:endParaRPr sz="865" b="0" i="1">
              <a:solidFill>
                <a:srgbClr val="176D66"/>
              </a:solidFill>
              <a:latin typeface="Times New Roman" panose="02020603050405020304"/>
              <a:ea typeface="Times New Roman" panose="02020603050405020304"/>
              <a:cs typeface="Times New Roman" panose="02020603050405020304"/>
            </a:endParaRPr>
          </a:p>
        </p:txBody>
      </p:sp>
      <p:sp>
        <p:nvSpPr>
          <p:cNvPr id="412" name="d-token0"/>
          <p:cNvSpPr>
            <a:spLocks noGrp="1"/>
          </p:cNvSpPr>
          <p:nvPr/>
        </p:nvSpPr>
        <p:spPr>
          <a:xfrm>
            <a:off x="7953375" y="1704975"/>
            <a:ext cx="47625" cy="85725"/>
          </a:xfrm>
          <a:prstGeom prst="roundRect">
            <a:avLst>
              <a:gd name="adj" fmla="val 20000"/>
            </a:avLst>
          </a:prstGeom>
          <a:solidFill>
            <a:srgbClr val="DCEAF4"/>
          </a:solidFill>
          <a:ln w="7144">
            <a:solidFill>
              <a:srgbClr val="3A74A5"/>
            </a:solidFill>
            <a:prstDash val="solid"/>
          </a:ln>
        </p:spPr>
      </p:sp>
      <p:sp>
        <p:nvSpPr>
          <p:cNvPr id="413" name="d-token1"/>
          <p:cNvSpPr>
            <a:spLocks noGrp="1"/>
          </p:cNvSpPr>
          <p:nvPr/>
        </p:nvSpPr>
        <p:spPr>
          <a:xfrm>
            <a:off x="8020050" y="1704975"/>
            <a:ext cx="47625" cy="85725"/>
          </a:xfrm>
          <a:prstGeom prst="roundRect">
            <a:avLst>
              <a:gd name="adj" fmla="val 20000"/>
            </a:avLst>
          </a:prstGeom>
          <a:solidFill>
            <a:srgbClr val="DCEAF4"/>
          </a:solidFill>
          <a:ln w="7144">
            <a:solidFill>
              <a:srgbClr val="3A74A5"/>
            </a:solidFill>
            <a:prstDash val="solid"/>
          </a:ln>
        </p:spPr>
      </p:sp>
      <p:sp>
        <p:nvSpPr>
          <p:cNvPr id="414" name="d-token2"/>
          <p:cNvSpPr>
            <a:spLocks noGrp="1"/>
          </p:cNvSpPr>
          <p:nvPr/>
        </p:nvSpPr>
        <p:spPr>
          <a:xfrm>
            <a:off x="8086725" y="1704975"/>
            <a:ext cx="47625" cy="85725"/>
          </a:xfrm>
          <a:prstGeom prst="roundRect">
            <a:avLst>
              <a:gd name="adj" fmla="val 20000"/>
            </a:avLst>
          </a:prstGeom>
          <a:noFill/>
          <a:ln w="7144">
            <a:solidFill>
              <a:srgbClr val="A1A8AF"/>
            </a:solidFill>
            <a:prstDash val="dash"/>
          </a:ln>
        </p:spPr>
      </p:sp>
      <p:sp>
        <p:nvSpPr>
          <p:cNvPr id="415" name="d-tokens-label"/>
          <p:cNvSpPr>
            <a:spLocks noGrp="1"/>
          </p:cNvSpPr>
          <p:nvPr/>
        </p:nvSpPr>
        <p:spPr>
          <a:xfrm>
            <a:off x="8100695" y="1657350"/>
            <a:ext cx="828675" cy="171450"/>
          </a:xfrm>
          <a:prstGeom prst="rect">
            <a:avLst/>
          </a:prstGeom>
          <a:noFill/>
          <a:ln w="0">
            <a:noFill/>
          </a:ln>
        </p:spPr>
        <p:txBody>
          <a:bodyPr wrap="square" lIns="19050" tIns="9525" rIns="19050" bIns="9525" anchor="ctr">
            <a:normAutofit/>
          </a:bodyPr>
          <a:lstStyle/>
          <a:p>
            <a:pPr algn="ctr">
              <a:lnSpc>
                <a:spcPct val="92000"/>
              </a:lnSpc>
              <a:buNone/>
              <a:defRPr sz="865" b="0" i="1">
                <a:solidFill>
                  <a:srgbClr val="176D66"/>
                </a:solidFill>
                <a:latin typeface="Times New Roman" panose="02020603050405020304"/>
                <a:ea typeface="Times New Roman" panose="02020603050405020304"/>
                <a:cs typeface="Times New Roman" panose="02020603050405020304"/>
              </a:defRPr>
            </a:pPr>
            <a:r>
              <a:rPr sz="865" b="0" i="1">
                <a:solidFill>
                  <a:srgbClr val="176D66"/>
                </a:solidFill>
                <a:latin typeface="Times New Roman" panose="02020603050405020304"/>
                <a:ea typeface="Times New Roman" panose="02020603050405020304"/>
                <a:cs typeface="Times New Roman" panose="02020603050405020304"/>
              </a:rPr>
              <a:t>token pruning</a:t>
            </a:r>
            <a:endParaRPr sz="865" b="0" i="1">
              <a:solidFill>
                <a:srgbClr val="176D66"/>
              </a:solidFill>
              <a:latin typeface="Times New Roman" panose="02020603050405020304"/>
              <a:ea typeface="Times New Roman" panose="02020603050405020304"/>
              <a:cs typeface="Times New Roman" panose="02020603050405020304"/>
            </a:endParaRPr>
          </a:p>
        </p:txBody>
      </p:sp>
      <p:sp>
        <p:nvSpPr>
          <p:cNvPr id="416" name="d-pruning-note"/>
          <p:cNvSpPr>
            <a:spLocks noGrp="1"/>
          </p:cNvSpPr>
          <p:nvPr/>
        </p:nvSpPr>
        <p:spPr>
          <a:xfrm>
            <a:off x="6886575" y="1847850"/>
            <a:ext cx="2066925" cy="171450"/>
          </a:xfrm>
          <a:prstGeom prst="rect">
            <a:avLst/>
          </a:prstGeom>
          <a:noFill/>
          <a:ln w="0">
            <a:noFill/>
          </a:ln>
        </p:spPr>
        <p:txBody>
          <a:bodyPr wrap="square" lIns="19050" tIns="9525" rIns="19050" bIns="9525" anchor="ctr">
            <a:normAutofit/>
          </a:bodyPr>
          <a:lstStyle/>
          <a:p>
            <a:pPr algn="ctr">
              <a:lnSpc>
                <a:spcPct val="92000"/>
              </a:lnSpc>
              <a:buNone/>
              <a:defRPr sz="900" b="0" i="1">
                <a:solidFill>
                  <a:srgbClr val="6F7780"/>
                </a:solidFill>
                <a:latin typeface="Times New Roman" panose="02020603050405020304"/>
                <a:ea typeface="Times New Roman" panose="02020603050405020304"/>
                <a:cs typeface="Times New Roman" panose="02020603050405020304"/>
              </a:defRPr>
            </a:pPr>
            <a:r>
              <a:rPr sz="900" b="0" i="1">
                <a:solidFill>
                  <a:srgbClr val="6F7780"/>
                </a:solidFill>
                <a:latin typeface="Times New Roman" panose="02020603050405020304"/>
                <a:ea typeface="Times New Roman" panose="02020603050405020304"/>
                <a:cs typeface="Times New Roman" panose="02020603050405020304"/>
              </a:rPr>
              <a:t>selected fixed pruning remains</a:t>
            </a:r>
            <a:endParaRPr sz="900" b="0" i="1">
              <a:solidFill>
                <a:srgbClr val="6F7780"/>
              </a:solidFill>
              <a:latin typeface="Times New Roman" panose="02020603050405020304"/>
              <a:ea typeface="Times New Roman" panose="02020603050405020304"/>
              <a:cs typeface="Times New Roman" panose="02020603050405020304"/>
            </a:endParaRPr>
          </a:p>
        </p:txBody>
      </p:sp>
      <p:sp>
        <p:nvSpPr>
          <p:cNvPr id="417" name="d-time-0"/>
          <p:cNvSpPr>
            <a:spLocks noGrp="1"/>
          </p:cNvSpPr>
          <p:nvPr/>
        </p:nvSpPr>
        <p:spPr>
          <a:xfrm>
            <a:off x="6353175" y="2114550"/>
            <a:ext cx="447675" cy="323850"/>
          </a:xfrm>
          <a:prstGeom prst="roundRect">
            <a:avLst>
              <a:gd name="adj" fmla="val 20588"/>
            </a:avLst>
          </a:prstGeom>
          <a:solidFill>
            <a:srgbClr val="FCF1D8"/>
          </a:solidFill>
          <a:ln w="17145">
            <a:solidFill>
              <a:srgbClr val="BD842A"/>
            </a:solidFill>
          </a:ln>
        </p:spPr>
      </p:sp>
      <p:sp>
        <p:nvSpPr>
          <p:cNvPr id="418" name="d-time-0-label"/>
          <p:cNvSpPr>
            <a:spLocks noGrp="1"/>
          </p:cNvSpPr>
          <p:nvPr/>
        </p:nvSpPr>
        <p:spPr>
          <a:xfrm>
            <a:off x="635317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BD842A"/>
                </a:solidFill>
                <a:latin typeface="Arial" panose="020B0704020202020204"/>
                <a:ea typeface="Arial" panose="020B0704020202020204"/>
                <a:cs typeface="Arial" panose="020B0704020202020204"/>
              </a:defRPr>
            </a:pPr>
            <a:r>
              <a:rPr sz="1350" b="1" i="0">
                <a:solidFill>
                  <a:srgbClr val="BD842A"/>
                </a:solidFill>
                <a:latin typeface="Arial" panose="020B0704020202020204"/>
                <a:ea typeface="Arial" panose="020B0704020202020204"/>
                <a:cs typeface="Arial" panose="020B0704020202020204"/>
              </a:rPr>
              <a:t>F</a:t>
            </a:r>
            <a:endParaRPr sz="1350" b="1" i="0">
              <a:solidFill>
                <a:srgbClr val="BD842A"/>
              </a:solidFill>
              <a:latin typeface="Arial" panose="020B0704020202020204"/>
              <a:ea typeface="Arial" panose="020B0704020202020204"/>
              <a:cs typeface="Arial" panose="020B0704020202020204"/>
            </a:endParaRPr>
          </a:p>
        </p:txBody>
      </p:sp>
      <p:sp>
        <p:nvSpPr>
          <p:cNvPr id="419" name="d-time-0-small"/>
          <p:cNvSpPr>
            <a:spLocks noGrp="1"/>
          </p:cNvSpPr>
          <p:nvPr/>
        </p:nvSpPr>
        <p:spPr>
          <a:xfrm>
            <a:off x="632460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0</a:t>
            </a:r>
            <a:endParaRPr sz="790" b="0" i="1">
              <a:solidFill>
                <a:srgbClr val="6F7780"/>
              </a:solidFill>
              <a:latin typeface="Times New Roman" panose="02020603050405020304"/>
              <a:ea typeface="Times New Roman" panose="02020603050405020304"/>
              <a:cs typeface="Times New Roman" panose="02020603050405020304"/>
            </a:endParaRPr>
          </a:p>
        </p:txBody>
      </p:sp>
      <p:sp>
        <p:nvSpPr>
          <p:cNvPr id="420" name="d-time-1"/>
          <p:cNvSpPr>
            <a:spLocks noGrp="1"/>
          </p:cNvSpPr>
          <p:nvPr/>
        </p:nvSpPr>
        <p:spPr>
          <a:xfrm>
            <a:off x="6962775" y="2114550"/>
            <a:ext cx="447675" cy="323850"/>
          </a:xfrm>
          <a:prstGeom prst="roundRect">
            <a:avLst>
              <a:gd name="adj" fmla="val 20588"/>
            </a:avLst>
          </a:prstGeom>
          <a:solidFill>
            <a:srgbClr val="E7F4F1"/>
          </a:solidFill>
          <a:ln w="17145">
            <a:solidFill>
              <a:srgbClr val="2B938A"/>
            </a:solidFill>
          </a:ln>
        </p:spPr>
      </p:sp>
      <p:sp>
        <p:nvSpPr>
          <p:cNvPr id="421" name="d-time-1-label"/>
          <p:cNvSpPr>
            <a:spLocks noGrp="1"/>
          </p:cNvSpPr>
          <p:nvPr/>
        </p:nvSpPr>
        <p:spPr>
          <a:xfrm>
            <a:off x="696277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2B938A"/>
                </a:solidFill>
                <a:latin typeface="Arial" panose="020B0704020202020204"/>
                <a:ea typeface="Arial" panose="020B0704020202020204"/>
                <a:cs typeface="Arial" panose="020B0704020202020204"/>
              </a:defRPr>
            </a:pPr>
            <a:r>
              <a:rPr sz="1350" b="1" i="0">
                <a:solidFill>
                  <a:srgbClr val="2B938A"/>
                </a:solidFill>
                <a:latin typeface="Arial" panose="020B0704020202020204"/>
                <a:ea typeface="Arial" panose="020B0704020202020204"/>
                <a:cs typeface="Arial" panose="020B0704020202020204"/>
              </a:rPr>
              <a:t>R</a:t>
            </a:r>
            <a:endParaRPr sz="1350" b="1" i="0">
              <a:solidFill>
                <a:srgbClr val="2B938A"/>
              </a:solidFill>
              <a:latin typeface="Arial" panose="020B0704020202020204"/>
              <a:ea typeface="Arial" panose="020B0704020202020204"/>
              <a:cs typeface="Arial" panose="020B0704020202020204"/>
            </a:endParaRPr>
          </a:p>
        </p:txBody>
      </p:sp>
      <p:sp>
        <p:nvSpPr>
          <p:cNvPr id="422" name="d-time-1-small"/>
          <p:cNvSpPr>
            <a:spLocks noGrp="1"/>
          </p:cNvSpPr>
          <p:nvPr/>
        </p:nvSpPr>
        <p:spPr>
          <a:xfrm>
            <a:off x="693420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1</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75" name="d-time-arrow-0-1"/>
          <p:cNvCxnSpPr>
            <a:stCxn id="417" idx="3"/>
            <a:endCxn id="420" idx="1"/>
          </p:cNvCxnSpPr>
          <p:nvPr/>
        </p:nvCxnSpPr>
        <p:spPr>
          <a:xfrm>
            <a:off x="6800850" y="2276475"/>
            <a:ext cx="161925" cy="0"/>
          </a:xfrm>
          <a:prstGeom prst="straightConnector1">
            <a:avLst/>
          </a:prstGeom>
          <a:ln w="15716">
            <a:solidFill>
              <a:srgbClr val="202428"/>
            </a:solidFill>
            <a:prstDash val="solid"/>
            <a:tailEnd type="triangle" w="sm" len="sm"/>
          </a:ln>
        </p:spPr>
      </p:cxnSp>
      <p:sp>
        <p:nvSpPr>
          <p:cNvPr id="424" name="d-time-2"/>
          <p:cNvSpPr>
            <a:spLocks noGrp="1"/>
          </p:cNvSpPr>
          <p:nvPr/>
        </p:nvSpPr>
        <p:spPr>
          <a:xfrm>
            <a:off x="7572375" y="2114550"/>
            <a:ext cx="447675" cy="323850"/>
          </a:xfrm>
          <a:prstGeom prst="roundRect">
            <a:avLst>
              <a:gd name="adj" fmla="val 20588"/>
            </a:avLst>
          </a:prstGeom>
          <a:solidFill>
            <a:srgbClr val="E7F4F1"/>
          </a:solidFill>
          <a:ln w="17145">
            <a:solidFill>
              <a:srgbClr val="2B938A"/>
            </a:solidFill>
          </a:ln>
        </p:spPr>
      </p:sp>
      <p:sp>
        <p:nvSpPr>
          <p:cNvPr id="425" name="d-time-2-label"/>
          <p:cNvSpPr>
            <a:spLocks noGrp="1"/>
          </p:cNvSpPr>
          <p:nvPr/>
        </p:nvSpPr>
        <p:spPr>
          <a:xfrm>
            <a:off x="757237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2B938A"/>
                </a:solidFill>
                <a:latin typeface="Arial" panose="020B0704020202020204"/>
                <a:ea typeface="Arial" panose="020B0704020202020204"/>
                <a:cs typeface="Arial" panose="020B0704020202020204"/>
              </a:defRPr>
            </a:pPr>
            <a:r>
              <a:rPr sz="1350" b="1" i="0">
                <a:solidFill>
                  <a:srgbClr val="2B938A"/>
                </a:solidFill>
                <a:latin typeface="Arial" panose="020B0704020202020204"/>
                <a:ea typeface="Arial" panose="020B0704020202020204"/>
                <a:cs typeface="Arial" panose="020B0704020202020204"/>
              </a:rPr>
              <a:t>R</a:t>
            </a:r>
            <a:endParaRPr sz="1350" b="1" i="0">
              <a:solidFill>
                <a:srgbClr val="2B938A"/>
              </a:solidFill>
              <a:latin typeface="Arial" panose="020B0704020202020204"/>
              <a:ea typeface="Arial" panose="020B0704020202020204"/>
              <a:cs typeface="Arial" panose="020B0704020202020204"/>
            </a:endParaRPr>
          </a:p>
        </p:txBody>
      </p:sp>
      <p:sp>
        <p:nvSpPr>
          <p:cNvPr id="426" name="d-time-2-small"/>
          <p:cNvSpPr>
            <a:spLocks noGrp="1"/>
          </p:cNvSpPr>
          <p:nvPr/>
        </p:nvSpPr>
        <p:spPr>
          <a:xfrm>
            <a:off x="754380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2</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79" name="d-time-arrow-1-2"/>
          <p:cNvCxnSpPr>
            <a:stCxn id="420" idx="3"/>
            <a:endCxn id="424" idx="1"/>
          </p:cNvCxnSpPr>
          <p:nvPr/>
        </p:nvCxnSpPr>
        <p:spPr>
          <a:xfrm>
            <a:off x="7410450" y="2276475"/>
            <a:ext cx="161925" cy="0"/>
          </a:xfrm>
          <a:prstGeom prst="straightConnector1">
            <a:avLst/>
          </a:prstGeom>
          <a:ln w="15716">
            <a:solidFill>
              <a:srgbClr val="202428"/>
            </a:solidFill>
            <a:prstDash val="solid"/>
            <a:tailEnd type="triangle" w="sm" len="sm"/>
          </a:ln>
        </p:spPr>
      </p:cxnSp>
      <p:sp>
        <p:nvSpPr>
          <p:cNvPr id="428" name="d-time-3"/>
          <p:cNvSpPr>
            <a:spLocks noGrp="1"/>
          </p:cNvSpPr>
          <p:nvPr/>
        </p:nvSpPr>
        <p:spPr>
          <a:xfrm>
            <a:off x="8181975" y="2114550"/>
            <a:ext cx="447675" cy="323850"/>
          </a:xfrm>
          <a:prstGeom prst="roundRect">
            <a:avLst>
              <a:gd name="adj" fmla="val 20588"/>
            </a:avLst>
          </a:prstGeom>
          <a:solidFill>
            <a:srgbClr val="E7F4F1"/>
          </a:solidFill>
          <a:ln w="17145">
            <a:solidFill>
              <a:srgbClr val="2B938A"/>
            </a:solidFill>
          </a:ln>
        </p:spPr>
      </p:sp>
      <p:sp>
        <p:nvSpPr>
          <p:cNvPr id="429" name="d-time-3-label"/>
          <p:cNvSpPr>
            <a:spLocks noGrp="1"/>
          </p:cNvSpPr>
          <p:nvPr/>
        </p:nvSpPr>
        <p:spPr>
          <a:xfrm>
            <a:off x="8181975" y="2124075"/>
            <a:ext cx="447675" cy="295275"/>
          </a:xfrm>
          <a:prstGeom prst="rect">
            <a:avLst/>
          </a:prstGeom>
          <a:noFill/>
          <a:ln w="0">
            <a:noFill/>
          </a:ln>
        </p:spPr>
        <p:txBody>
          <a:bodyPr wrap="square" lIns="19050" tIns="9525" rIns="19050" bIns="9525" anchor="ctr">
            <a:normAutofit/>
          </a:bodyPr>
          <a:lstStyle/>
          <a:p>
            <a:pPr algn="ctr">
              <a:lnSpc>
                <a:spcPct val="92000"/>
              </a:lnSpc>
              <a:buNone/>
              <a:defRPr sz="1350" b="1" i="0">
                <a:solidFill>
                  <a:srgbClr val="2B938A"/>
                </a:solidFill>
                <a:latin typeface="Arial" panose="020B0704020202020204"/>
                <a:ea typeface="Arial" panose="020B0704020202020204"/>
                <a:cs typeface="Arial" panose="020B0704020202020204"/>
              </a:defRPr>
            </a:pPr>
            <a:r>
              <a:rPr sz="1350" b="1" i="0">
                <a:solidFill>
                  <a:srgbClr val="2B938A"/>
                </a:solidFill>
                <a:latin typeface="Arial" panose="020B0704020202020204"/>
                <a:ea typeface="Arial" panose="020B0704020202020204"/>
                <a:cs typeface="Arial" panose="020B0704020202020204"/>
              </a:rPr>
              <a:t>R</a:t>
            </a:r>
            <a:endParaRPr sz="1350" b="1" i="0">
              <a:solidFill>
                <a:srgbClr val="2B938A"/>
              </a:solidFill>
              <a:latin typeface="Arial" panose="020B0704020202020204"/>
              <a:ea typeface="Arial" panose="020B0704020202020204"/>
              <a:cs typeface="Arial" panose="020B0704020202020204"/>
            </a:endParaRPr>
          </a:p>
        </p:txBody>
      </p:sp>
      <p:sp>
        <p:nvSpPr>
          <p:cNvPr id="430" name="d-time-3-small"/>
          <p:cNvSpPr>
            <a:spLocks noGrp="1"/>
          </p:cNvSpPr>
          <p:nvPr/>
        </p:nvSpPr>
        <p:spPr>
          <a:xfrm>
            <a:off x="8153400" y="2438400"/>
            <a:ext cx="504825" cy="133350"/>
          </a:xfrm>
          <a:prstGeom prst="rect">
            <a:avLst/>
          </a:prstGeom>
          <a:noFill/>
          <a:ln w="0">
            <a:noFill/>
          </a:ln>
        </p:spPr>
        <p:txBody>
          <a:bodyPr wrap="square" lIns="19050" tIns="9525" rIns="19050" bIns="9525" anchor="ctr">
            <a:normAutofit/>
          </a:bodyPr>
          <a:lstStyle/>
          <a:p>
            <a:pPr algn="ctr">
              <a:lnSpc>
                <a:spcPct val="92000"/>
              </a:lnSpc>
              <a:buNone/>
              <a:defRPr sz="790" b="0" i="1">
                <a:solidFill>
                  <a:srgbClr val="6F7780"/>
                </a:solidFill>
                <a:latin typeface="Times New Roman" panose="02020603050405020304"/>
                <a:ea typeface="Times New Roman" panose="02020603050405020304"/>
                <a:cs typeface="Times New Roman" panose="02020603050405020304"/>
              </a:defRPr>
            </a:pPr>
            <a:r>
              <a:rPr sz="790" b="0" i="1">
                <a:solidFill>
                  <a:srgbClr val="6F7780"/>
                </a:solidFill>
                <a:latin typeface="Times New Roman" panose="02020603050405020304"/>
                <a:ea typeface="Times New Roman" panose="02020603050405020304"/>
                <a:cs typeface="Times New Roman" panose="02020603050405020304"/>
              </a:rPr>
              <a:t>…</a:t>
            </a:r>
            <a:endParaRPr sz="790" b="0" i="1">
              <a:solidFill>
                <a:srgbClr val="6F7780"/>
              </a:solidFill>
              <a:latin typeface="Times New Roman" panose="02020603050405020304"/>
              <a:ea typeface="Times New Roman" panose="02020603050405020304"/>
              <a:cs typeface="Times New Roman" panose="02020603050405020304"/>
            </a:endParaRPr>
          </a:p>
        </p:txBody>
      </p:sp>
      <p:cxnSp>
        <p:nvCxnSpPr>
          <p:cNvPr id="683" name="d-time-arrow-2-3"/>
          <p:cNvCxnSpPr>
            <a:stCxn id="424" idx="3"/>
            <a:endCxn id="428" idx="1"/>
          </p:cNvCxnSpPr>
          <p:nvPr/>
        </p:nvCxnSpPr>
        <p:spPr>
          <a:xfrm>
            <a:off x="8020050" y="2276475"/>
            <a:ext cx="161925" cy="0"/>
          </a:xfrm>
          <a:prstGeom prst="straightConnector1">
            <a:avLst/>
          </a:prstGeom>
          <a:ln w="15716">
            <a:solidFill>
              <a:srgbClr val="202428"/>
            </a:solidFill>
            <a:prstDash val="solid"/>
            <a:tailEnd type="triangle" w="sm" len="sm"/>
          </a:ln>
        </p:spPr>
      </p:cxnSp>
      <p:sp>
        <p:nvSpPr>
          <p:cNvPr id="432" name="d-time-note"/>
          <p:cNvSpPr>
            <a:spLocks noGrp="1"/>
          </p:cNvSpPr>
          <p:nvPr/>
        </p:nvSpPr>
        <p:spPr>
          <a:xfrm>
            <a:off x="6296025" y="2600325"/>
            <a:ext cx="2647950" cy="171450"/>
          </a:xfrm>
          <a:prstGeom prst="rect">
            <a:avLst/>
          </a:prstGeom>
          <a:noFill/>
          <a:ln w="0">
            <a:noFill/>
          </a:ln>
        </p:spPr>
        <p:txBody>
          <a:bodyPr wrap="square" lIns="19050" tIns="9525" rIns="19050" bIns="9525" anchor="ctr">
            <a:normAutofit/>
          </a:bodyPr>
          <a:lstStyle/>
          <a:p>
            <a:pPr algn="ctr">
              <a:lnSpc>
                <a:spcPct val="92000"/>
              </a:lnSpc>
              <a:buNone/>
              <a:defRPr sz="975" b="0" i="1">
                <a:solidFill>
                  <a:srgbClr val="176D66"/>
                </a:solidFill>
                <a:latin typeface="Times New Roman" panose="02020603050405020304"/>
                <a:ea typeface="Times New Roman" panose="02020603050405020304"/>
                <a:cs typeface="Times New Roman" panose="02020603050405020304"/>
              </a:defRPr>
            </a:pPr>
            <a:r>
              <a:rPr sz="975" b="0" i="1">
                <a:solidFill>
                  <a:srgbClr val="176D66"/>
                </a:solidFill>
                <a:latin typeface="Times New Roman" panose="02020603050405020304"/>
                <a:ea typeface="Times New Roman" panose="02020603050405020304"/>
                <a:cs typeface="Times New Roman" panose="02020603050405020304"/>
              </a:rPr>
              <a:t>fixed graph, incremental continuation</a:t>
            </a:r>
            <a:endParaRPr sz="975" b="0" i="1">
              <a:solidFill>
                <a:srgbClr val="176D66"/>
              </a:solidFill>
              <a:latin typeface="Times New Roman" panose="02020603050405020304"/>
              <a:ea typeface="Times New Roman" panose="02020603050405020304"/>
              <a:cs typeface="Times New Roman" panose="02020603050405020304"/>
            </a:endParaRPr>
          </a:p>
        </p:txBody>
      </p:sp>
      <p:sp>
        <p:nvSpPr>
          <p:cNvPr id="433" name="d-policy-bg"/>
          <p:cNvSpPr>
            <a:spLocks noGrp="1"/>
          </p:cNvSpPr>
          <p:nvPr/>
        </p:nvSpPr>
        <p:spPr>
          <a:xfrm>
            <a:off x="6296025" y="2876550"/>
            <a:ext cx="1066800" cy="295275"/>
          </a:xfrm>
          <a:prstGeom prst="roundRect">
            <a:avLst>
              <a:gd name="adj" fmla="val 29032"/>
            </a:avLst>
          </a:prstGeom>
          <a:solidFill>
            <a:srgbClr val="F9E7E4"/>
          </a:solidFill>
          <a:ln w="14288">
            <a:solidFill>
              <a:srgbClr val="C54B3F"/>
            </a:solidFill>
          </a:ln>
        </p:spPr>
      </p:sp>
      <p:sp>
        <p:nvSpPr>
          <p:cNvPr id="434" name="d-policy-text"/>
          <p:cNvSpPr>
            <a:spLocks noGrp="1"/>
          </p:cNvSpPr>
          <p:nvPr/>
        </p:nvSpPr>
        <p:spPr>
          <a:xfrm>
            <a:off x="6334125" y="2886075"/>
            <a:ext cx="990600" cy="276225"/>
          </a:xfrm>
          <a:prstGeom prst="rect">
            <a:avLst/>
          </a:prstGeom>
          <a:noFill/>
          <a:ln w="0">
            <a:noFill/>
          </a:ln>
        </p:spPr>
        <p:txBody>
          <a:bodyPr wrap="square" lIns="19050" tIns="9525" rIns="19050" bIns="9525" anchor="ctr">
            <a:normAutofit/>
          </a:bodyPr>
          <a:lstStyle/>
          <a:p>
            <a:pPr algn="ctr">
              <a:lnSpc>
                <a:spcPct val="92000"/>
              </a:lnSpc>
              <a:buNone/>
              <a:defRPr sz="1165" b="1" i="1">
                <a:solidFill>
                  <a:srgbClr val="C54B3F"/>
                </a:solidFill>
                <a:latin typeface="Times New Roman" panose="02020603050405020304"/>
                <a:ea typeface="Times New Roman" panose="02020603050405020304"/>
                <a:cs typeface="Times New Roman" panose="02020603050405020304"/>
              </a:defRPr>
            </a:pPr>
            <a:r>
              <a:rPr sz="1165" b="1" i="1">
                <a:solidFill>
                  <a:srgbClr val="C54B3F"/>
                </a:solidFill>
                <a:latin typeface="Times New Roman" panose="02020603050405020304"/>
                <a:ea typeface="Times New Roman" panose="02020603050405020304"/>
                <a:cs typeface="Times New Roman" panose="02020603050405020304"/>
              </a:rPr>
              <a:t>Policy changed</a:t>
            </a:r>
            <a:endParaRPr sz="1165" b="1" i="1">
              <a:solidFill>
                <a:srgbClr val="C54B3F"/>
              </a:solidFill>
              <a:latin typeface="Times New Roman" panose="02020603050405020304"/>
              <a:ea typeface="Times New Roman" panose="02020603050405020304"/>
              <a:cs typeface="Times New Roman" panose="02020603050405020304"/>
            </a:endParaRPr>
          </a:p>
        </p:txBody>
      </p:sp>
      <p:sp>
        <p:nvSpPr>
          <p:cNvPr id="435" name="d-output-bg"/>
          <p:cNvSpPr>
            <a:spLocks noGrp="1"/>
          </p:cNvSpPr>
          <p:nvPr/>
        </p:nvSpPr>
        <p:spPr>
          <a:xfrm>
            <a:off x="7439025" y="2876550"/>
            <a:ext cx="1476375" cy="295275"/>
          </a:xfrm>
          <a:prstGeom prst="roundRect">
            <a:avLst>
              <a:gd name="adj" fmla="val 29032"/>
            </a:avLst>
          </a:prstGeom>
          <a:solidFill>
            <a:srgbClr val="E7F4F1"/>
          </a:solidFill>
          <a:ln w="14288">
            <a:solidFill>
              <a:srgbClr val="2B938A"/>
            </a:solidFill>
          </a:ln>
        </p:spPr>
      </p:sp>
      <p:sp>
        <p:nvSpPr>
          <p:cNvPr id="436" name="d-output-text"/>
          <p:cNvSpPr>
            <a:spLocks noGrp="1"/>
          </p:cNvSpPr>
          <p:nvPr/>
        </p:nvSpPr>
        <p:spPr>
          <a:xfrm>
            <a:off x="7477125" y="2886075"/>
            <a:ext cx="1400175" cy="276225"/>
          </a:xfrm>
          <a:prstGeom prst="rect">
            <a:avLst/>
          </a:prstGeom>
          <a:noFill/>
          <a:ln w="0">
            <a:noFill/>
          </a:ln>
        </p:spPr>
        <p:txBody>
          <a:bodyPr wrap="square" lIns="19050" tIns="9525" rIns="19050" bIns="9525" anchor="ctr">
            <a:normAutofit/>
          </a:bodyPr>
          <a:lstStyle/>
          <a:p>
            <a:pPr algn="ctr">
              <a:lnSpc>
                <a:spcPct val="92000"/>
              </a:lnSpc>
              <a:buNone/>
              <a:defRPr sz="1165" b="1" i="1">
                <a:solidFill>
                  <a:srgbClr val="176D66"/>
                </a:solidFill>
                <a:latin typeface="Times New Roman" panose="02020603050405020304"/>
                <a:ea typeface="Times New Roman" panose="02020603050405020304"/>
                <a:cs typeface="Times New Roman" panose="02020603050405020304"/>
              </a:defRPr>
            </a:pPr>
            <a:r>
              <a:rPr sz="1165" b="1" i="1">
                <a:solidFill>
                  <a:srgbClr val="176D66"/>
                </a:solidFill>
                <a:latin typeface="Times New Roman" panose="02020603050405020304"/>
                <a:ea typeface="Times New Roman" panose="02020603050405020304"/>
                <a:cs typeface="Times New Roman" panose="02020603050405020304"/>
              </a:rPr>
              <a:t>Outputs may differ</a:t>
            </a:r>
            <a:endParaRPr sz="1165" b="1" i="1">
              <a:solidFill>
                <a:srgbClr val="176D66"/>
              </a:solidFill>
              <a:latin typeface="Times New Roman" panose="02020603050405020304"/>
              <a:ea typeface="Times New Roman" panose="02020603050405020304"/>
              <a:cs typeface="Times New Roman" panose="02020603050405020304"/>
            </a:endParaRPr>
          </a:p>
        </p:txBody>
      </p:sp>
      <p:sp>
        <p:nvSpPr>
          <p:cNvPr id="437" name="legend-rule"/>
          <p:cNvSpPr>
            <a:spLocks noGrp="1"/>
          </p:cNvSpPr>
          <p:nvPr/>
        </p:nvSpPr>
        <p:spPr>
          <a:xfrm>
            <a:off x="133350" y="3305175"/>
            <a:ext cx="8905875" cy="0"/>
          </a:xfrm>
          <a:prstGeom prst="line">
            <a:avLst/>
          </a:prstGeom>
          <a:noFill/>
          <a:ln w="10478">
            <a:solidFill>
              <a:srgbClr val="C8CCCF"/>
            </a:solidFill>
            <a:prstDash val="solid"/>
          </a:ln>
        </p:spPr>
      </p:sp>
      <p:sp>
        <p:nvSpPr>
          <p:cNvPr id="438" name="legend-F"/>
          <p:cNvSpPr>
            <a:spLocks noGrp="1"/>
          </p:cNvSpPr>
          <p:nvPr/>
        </p:nvSpPr>
        <p:spPr>
          <a:xfrm>
            <a:off x="190500" y="3371850"/>
            <a:ext cx="266700" cy="238125"/>
          </a:xfrm>
          <a:prstGeom prst="roundRect">
            <a:avLst>
              <a:gd name="adj" fmla="val 20000"/>
            </a:avLst>
          </a:prstGeom>
          <a:solidFill>
            <a:srgbClr val="FCF1D8"/>
          </a:solidFill>
          <a:ln w="12383">
            <a:solidFill>
              <a:srgbClr val="BD842A"/>
            </a:solidFill>
          </a:ln>
        </p:spPr>
      </p:sp>
      <p:sp>
        <p:nvSpPr>
          <p:cNvPr id="439" name="legend-F-symbol"/>
          <p:cNvSpPr>
            <a:spLocks noGrp="1"/>
          </p:cNvSpPr>
          <p:nvPr/>
        </p:nvSpPr>
        <p:spPr>
          <a:xfrm>
            <a:off x="190500" y="3371850"/>
            <a:ext cx="266700" cy="238125"/>
          </a:xfrm>
          <a:prstGeom prst="rect">
            <a:avLst/>
          </a:prstGeom>
          <a:noFill/>
          <a:ln w="0">
            <a:noFill/>
          </a:ln>
        </p:spPr>
        <p:txBody>
          <a:bodyPr wrap="square" lIns="19050" tIns="9525" rIns="19050" bIns="9525" anchor="ctr">
            <a:normAutofit/>
          </a:bodyPr>
          <a:lstStyle/>
          <a:p>
            <a:pPr algn="ctr">
              <a:lnSpc>
                <a:spcPct val="92000"/>
              </a:lnSpc>
              <a:buNone/>
              <a:defRPr sz="1200" b="1" i="0">
                <a:solidFill>
                  <a:srgbClr val="BD842A"/>
                </a:solidFill>
                <a:latin typeface="Arial" panose="020B0704020202020204"/>
                <a:ea typeface="Arial" panose="020B0704020202020204"/>
                <a:cs typeface="Arial" panose="020B0704020202020204"/>
              </a:defRPr>
            </a:pPr>
            <a:r>
              <a:rPr sz="1200" b="1" i="0">
                <a:solidFill>
                  <a:srgbClr val="BD842A"/>
                </a:solidFill>
                <a:latin typeface="Arial" panose="020B0704020202020204"/>
                <a:ea typeface="Arial" panose="020B0704020202020204"/>
                <a:cs typeface="Arial" panose="020B0704020202020204"/>
              </a:rPr>
              <a:t>F</a:t>
            </a:r>
            <a:endParaRPr sz="1200" b="1" i="0">
              <a:solidFill>
                <a:srgbClr val="BD842A"/>
              </a:solidFill>
              <a:latin typeface="Arial" panose="020B0704020202020204"/>
              <a:ea typeface="Arial" panose="020B0704020202020204"/>
              <a:cs typeface="Arial" panose="020B0704020202020204"/>
            </a:endParaRPr>
          </a:p>
        </p:txBody>
      </p:sp>
      <p:sp>
        <p:nvSpPr>
          <p:cNvPr id="440" name="legend-F-text"/>
          <p:cNvSpPr>
            <a:spLocks noGrp="1"/>
          </p:cNvSpPr>
          <p:nvPr/>
        </p:nvSpPr>
        <p:spPr>
          <a:xfrm>
            <a:off x="523875" y="3371850"/>
            <a:ext cx="1495425" cy="238125"/>
          </a:xfrm>
          <a:prstGeom prst="rect">
            <a:avLst/>
          </a:prstGeom>
          <a:noFill/>
          <a:ln w="0">
            <a:noFill/>
          </a:ln>
        </p:spPr>
        <p:txBody>
          <a:bodyPr wrap="square" lIns="19050" tIns="9525" rIns="19050" bIns="9525" anchor="ctr">
            <a:normAutofit/>
          </a:bodyPr>
          <a:lstStyle/>
          <a:p>
            <a:pPr algn="l">
              <a:lnSpc>
                <a:spcPct val="92000"/>
              </a:lnSpc>
              <a:buNone/>
              <a:defRPr sz="975" b="0" i="0">
                <a:solidFill>
                  <a:srgbClr val="6F7780"/>
                </a:solidFill>
                <a:latin typeface="Arial" panose="020B0704020202020204"/>
                <a:ea typeface="Arial" panose="020B0704020202020204"/>
                <a:cs typeface="Arial" panose="020B0704020202020204"/>
              </a:defRPr>
            </a:pPr>
            <a:r>
              <a:rPr sz="975" b="0" i="0">
                <a:solidFill>
                  <a:srgbClr val="6F7780"/>
                </a:solidFill>
                <a:latin typeface="Arial" panose="020B0704020202020204"/>
                <a:ea typeface="Arial" panose="020B0704020202020204"/>
                <a:cs typeface="Arial" panose="020B0704020202020204"/>
              </a:rPr>
              <a:t>full-prefix forward</a:t>
            </a:r>
            <a:endParaRPr sz="975" b="0" i="0">
              <a:solidFill>
                <a:srgbClr val="6F7780"/>
              </a:solidFill>
              <a:latin typeface="Arial" panose="020B0704020202020204"/>
              <a:ea typeface="Arial" panose="020B0704020202020204"/>
              <a:cs typeface="Arial" panose="020B0704020202020204"/>
            </a:endParaRPr>
          </a:p>
        </p:txBody>
      </p:sp>
      <p:sp>
        <p:nvSpPr>
          <p:cNvPr id="441" name="legend-R"/>
          <p:cNvSpPr>
            <a:spLocks noGrp="1"/>
          </p:cNvSpPr>
          <p:nvPr/>
        </p:nvSpPr>
        <p:spPr>
          <a:xfrm>
            <a:off x="1895475" y="3371850"/>
            <a:ext cx="266700" cy="238125"/>
          </a:xfrm>
          <a:prstGeom prst="roundRect">
            <a:avLst>
              <a:gd name="adj" fmla="val 20000"/>
            </a:avLst>
          </a:prstGeom>
          <a:solidFill>
            <a:srgbClr val="DCEAF4"/>
          </a:solidFill>
          <a:ln w="12383">
            <a:solidFill>
              <a:srgbClr val="3A74A5"/>
            </a:solidFill>
          </a:ln>
        </p:spPr>
      </p:sp>
      <p:sp>
        <p:nvSpPr>
          <p:cNvPr id="442" name="legend-R-symbol"/>
          <p:cNvSpPr>
            <a:spLocks noGrp="1"/>
          </p:cNvSpPr>
          <p:nvPr/>
        </p:nvSpPr>
        <p:spPr>
          <a:xfrm>
            <a:off x="1895475" y="3371850"/>
            <a:ext cx="266700" cy="238125"/>
          </a:xfrm>
          <a:prstGeom prst="rect">
            <a:avLst/>
          </a:prstGeom>
          <a:noFill/>
          <a:ln w="0">
            <a:noFill/>
          </a:ln>
        </p:spPr>
        <p:txBody>
          <a:bodyPr wrap="square" lIns="19050" tIns="9525" rIns="19050" bIns="9525" anchor="ctr">
            <a:normAutofit/>
          </a:bodyPr>
          <a:lstStyle/>
          <a:p>
            <a:pPr algn="ctr">
              <a:lnSpc>
                <a:spcPct val="92000"/>
              </a:lnSpc>
              <a:buNone/>
              <a:defRPr sz="1200" b="1" i="0">
                <a:solidFill>
                  <a:srgbClr val="3A74A5"/>
                </a:solidFill>
                <a:latin typeface="Arial" panose="020B0704020202020204"/>
                <a:ea typeface="Arial" panose="020B0704020202020204"/>
                <a:cs typeface="Arial" panose="020B0704020202020204"/>
              </a:defRPr>
            </a:pPr>
            <a:r>
              <a:rPr sz="1200" b="1" i="0">
                <a:solidFill>
                  <a:srgbClr val="3A74A5"/>
                </a:solidFill>
                <a:latin typeface="Arial" panose="020B0704020202020204"/>
                <a:ea typeface="Arial" panose="020B0704020202020204"/>
                <a:cs typeface="Arial" panose="020B0704020202020204"/>
              </a:rPr>
              <a:t>R</a:t>
            </a:r>
            <a:endParaRPr sz="1200" b="1" i="0">
              <a:solidFill>
                <a:srgbClr val="3A74A5"/>
              </a:solidFill>
              <a:latin typeface="Arial" panose="020B0704020202020204"/>
              <a:ea typeface="Arial" panose="020B0704020202020204"/>
              <a:cs typeface="Arial" panose="020B0704020202020204"/>
            </a:endParaRPr>
          </a:p>
        </p:txBody>
      </p:sp>
      <p:sp>
        <p:nvSpPr>
          <p:cNvPr id="443" name="legend-R-text"/>
          <p:cNvSpPr>
            <a:spLocks noGrp="1"/>
          </p:cNvSpPr>
          <p:nvPr/>
        </p:nvSpPr>
        <p:spPr>
          <a:xfrm>
            <a:off x="2228850" y="3371850"/>
            <a:ext cx="1428750" cy="238125"/>
          </a:xfrm>
          <a:prstGeom prst="rect">
            <a:avLst/>
          </a:prstGeom>
          <a:noFill/>
          <a:ln w="0">
            <a:noFill/>
          </a:ln>
        </p:spPr>
        <p:txBody>
          <a:bodyPr wrap="square" lIns="19050" tIns="9525" rIns="19050" bIns="9525" anchor="ctr">
            <a:normAutofit/>
          </a:bodyPr>
          <a:lstStyle/>
          <a:p>
            <a:pPr algn="l">
              <a:lnSpc>
                <a:spcPct val="92000"/>
              </a:lnSpc>
              <a:buNone/>
              <a:defRPr sz="975" b="0" i="0">
                <a:solidFill>
                  <a:srgbClr val="6F7780"/>
                </a:solidFill>
                <a:latin typeface="Arial" panose="020B0704020202020204"/>
                <a:ea typeface="Arial" panose="020B0704020202020204"/>
                <a:cs typeface="Arial" panose="020B0704020202020204"/>
              </a:defRPr>
            </a:pPr>
            <a:r>
              <a:rPr sz="975" b="0" i="0">
                <a:solidFill>
                  <a:srgbClr val="6F7780"/>
                </a:solidFill>
                <a:latin typeface="Arial" panose="020B0704020202020204"/>
                <a:ea typeface="Arial" panose="020B0704020202020204"/>
                <a:cs typeface="Arial" panose="020B0704020202020204"/>
              </a:rPr>
              <a:t>new-token KV forward</a:t>
            </a:r>
            <a:endParaRPr sz="975" b="0" i="0">
              <a:solidFill>
                <a:srgbClr val="6F7780"/>
              </a:solidFill>
              <a:latin typeface="Arial" panose="020B0704020202020204"/>
              <a:ea typeface="Arial" panose="020B0704020202020204"/>
              <a:cs typeface="Arial" panose="020B0704020202020204"/>
            </a:endParaRPr>
          </a:p>
        </p:txBody>
      </p:sp>
      <p:sp>
        <p:nvSpPr>
          <p:cNvPr id="444" name="legend-skip"/>
          <p:cNvSpPr>
            <a:spLocks noGrp="1"/>
          </p:cNvSpPr>
          <p:nvPr/>
        </p:nvSpPr>
        <p:spPr>
          <a:xfrm>
            <a:off x="3867150" y="3409950"/>
            <a:ext cx="285750" cy="161925"/>
          </a:xfrm>
          <a:prstGeom prst="roundRect">
            <a:avLst>
              <a:gd name="adj" fmla="val 11765"/>
            </a:avLst>
          </a:prstGeom>
          <a:solidFill>
            <a:srgbClr val="F2F3F4"/>
          </a:solidFill>
          <a:ln w="9525">
            <a:solidFill>
              <a:srgbClr val="A1A8AF"/>
            </a:solidFill>
            <a:prstDash val="dash"/>
          </a:ln>
        </p:spPr>
      </p:sp>
      <p:sp>
        <p:nvSpPr>
          <p:cNvPr id="445" name="legend-skip-symbol"/>
          <p:cNvSpPr>
            <a:spLocks noGrp="1"/>
          </p:cNvSpPr>
          <p:nvPr/>
        </p:nvSpPr>
        <p:spPr>
          <a:xfrm>
            <a:off x="3867150" y="3400425"/>
            <a:ext cx="285750" cy="171450"/>
          </a:xfrm>
          <a:prstGeom prst="rect">
            <a:avLst/>
          </a:prstGeom>
          <a:noFill/>
          <a:ln w="0">
            <a:noFill/>
          </a:ln>
        </p:spPr>
        <p:txBody>
          <a:bodyPr wrap="square" lIns="19050" tIns="9525" rIns="19050" bIns="9525" anchor="ctr">
            <a:normAutofit/>
          </a:bodyPr>
          <a:lstStyle/>
          <a:p>
            <a:pPr algn="ctr">
              <a:lnSpc>
                <a:spcPct val="92000"/>
              </a:lnSpc>
              <a:buNone/>
              <a:defRPr sz="750" b="0" i="1">
                <a:solidFill>
                  <a:srgbClr val="6F7780"/>
                </a:solidFill>
                <a:latin typeface="Arial" panose="020B0704020202020204"/>
                <a:ea typeface="Arial" panose="020B0704020202020204"/>
                <a:cs typeface="Arial" panose="020B0704020202020204"/>
              </a:defRPr>
            </a:pPr>
            <a:r>
              <a:rPr sz="750" b="0" i="1">
                <a:solidFill>
                  <a:srgbClr val="6F7780"/>
                </a:solidFill>
                <a:latin typeface="Arial" panose="020B0704020202020204"/>
                <a:ea typeface="Arial" panose="020B0704020202020204"/>
                <a:cs typeface="Arial" panose="020B0704020202020204"/>
              </a:rPr>
              <a:t>skip</a:t>
            </a:r>
            <a:endParaRPr sz="750" b="0" i="1">
              <a:solidFill>
                <a:srgbClr val="6F7780"/>
              </a:solidFill>
              <a:latin typeface="Arial" panose="020B0704020202020204"/>
              <a:ea typeface="Arial" panose="020B0704020202020204"/>
              <a:cs typeface="Arial" panose="020B0704020202020204"/>
            </a:endParaRPr>
          </a:p>
        </p:txBody>
      </p:sp>
      <p:sp>
        <p:nvSpPr>
          <p:cNvPr id="446" name="legend-skip-text"/>
          <p:cNvSpPr>
            <a:spLocks noGrp="1"/>
          </p:cNvSpPr>
          <p:nvPr/>
        </p:nvSpPr>
        <p:spPr>
          <a:xfrm>
            <a:off x="4219575" y="3371850"/>
            <a:ext cx="1057275" cy="238125"/>
          </a:xfrm>
          <a:prstGeom prst="rect">
            <a:avLst/>
          </a:prstGeom>
          <a:noFill/>
          <a:ln w="0">
            <a:noFill/>
          </a:ln>
        </p:spPr>
        <p:txBody>
          <a:bodyPr wrap="square" lIns="19050" tIns="9525" rIns="19050" bIns="9525" anchor="ctr">
            <a:normAutofit/>
          </a:bodyPr>
          <a:lstStyle/>
          <a:p>
            <a:pPr algn="l">
              <a:lnSpc>
                <a:spcPct val="92000"/>
              </a:lnSpc>
              <a:buNone/>
              <a:defRPr sz="975" b="0" i="0">
                <a:solidFill>
                  <a:srgbClr val="6F7780"/>
                </a:solidFill>
                <a:latin typeface="Arial" panose="020B0704020202020204"/>
                <a:ea typeface="Arial" panose="020B0704020202020204"/>
                <a:cs typeface="Arial" panose="020B0704020202020204"/>
              </a:defRPr>
            </a:pPr>
            <a:r>
              <a:rPr sz="975" b="0" i="0">
                <a:solidFill>
                  <a:srgbClr val="6F7780"/>
                </a:solidFill>
                <a:latin typeface="Arial" panose="020B0704020202020204"/>
                <a:ea typeface="Arial" panose="020B0704020202020204"/>
                <a:cs typeface="Arial" panose="020B0704020202020204"/>
              </a:rPr>
              <a:t>DLS layer skip</a:t>
            </a:r>
            <a:endParaRPr sz="975" b="0" i="0">
              <a:solidFill>
                <a:srgbClr val="6F7780"/>
              </a:solidFill>
              <a:latin typeface="Arial" panose="020B0704020202020204"/>
              <a:ea typeface="Arial" panose="020B0704020202020204"/>
              <a:cs typeface="Arial" panose="020B0704020202020204"/>
            </a:endParaRPr>
          </a:p>
        </p:txBody>
      </p:sp>
      <p:sp>
        <p:nvSpPr>
          <p:cNvPr id="450" name="projection-note"/>
          <p:cNvSpPr>
            <a:spLocks noGrp="1"/>
          </p:cNvSpPr>
          <p:nvPr/>
        </p:nvSpPr>
        <p:spPr>
          <a:xfrm>
            <a:off x="5943600" y="3352800"/>
            <a:ext cx="3095625" cy="285750"/>
          </a:xfrm>
          <a:prstGeom prst="roundRect">
            <a:avLst>
              <a:gd name="adj" fmla="val 23333"/>
            </a:avLst>
          </a:prstGeom>
          <a:solidFill>
            <a:srgbClr val="F1F3F4"/>
          </a:solidFill>
          <a:ln w="9525">
            <a:solidFill>
              <a:srgbClr val="A8AFB5"/>
            </a:solidFill>
          </a:ln>
        </p:spPr>
      </p:sp>
      <p:sp>
        <p:nvSpPr>
          <p:cNvPr id="451" name="projection-text"/>
          <p:cNvSpPr>
            <a:spLocks noGrp="1"/>
          </p:cNvSpPr>
          <p:nvPr/>
        </p:nvSpPr>
        <p:spPr>
          <a:xfrm>
            <a:off x="6000750" y="3362325"/>
            <a:ext cx="2981325" cy="257175"/>
          </a:xfrm>
          <a:prstGeom prst="rect">
            <a:avLst/>
          </a:prstGeom>
          <a:noFill/>
          <a:ln w="0">
            <a:noFill/>
          </a:ln>
        </p:spPr>
        <p:txBody>
          <a:bodyPr wrap="square" lIns="19050" tIns="9525" rIns="19050" bIns="9525" anchor="ctr">
            <a:normAutofit/>
          </a:bodyPr>
          <a:lstStyle/>
          <a:p>
            <a:pPr algn="ctr">
              <a:lnSpc>
                <a:spcPct val="92000"/>
              </a:lnSpc>
              <a:buNone/>
              <a:defRPr sz="990" b="0" i="1">
                <a:solidFill>
                  <a:srgbClr val="202428"/>
                </a:solidFill>
                <a:latin typeface="Times New Roman" panose="02020603050405020304"/>
                <a:ea typeface="Times New Roman" panose="02020603050405020304"/>
                <a:cs typeface="Times New Roman" panose="02020603050405020304"/>
              </a:defRPr>
            </a:pPr>
            <a:r>
              <a:rPr sz="990" b="0" i="1">
                <a:solidFill>
                  <a:srgbClr val="202428"/>
                </a:solidFill>
                <a:latin typeface="Times New Roman" panose="02020603050405020304"/>
                <a:ea typeface="Times New Roman" panose="02020603050405020304"/>
                <a:cs typeface="Times New Roman" panose="02020603050405020304"/>
              </a:rPr>
              <a:t>(b, c): last-position vocabulary projection</a:t>
            </a:r>
            <a:endParaRPr sz="990" b="0" i="1">
              <a:solidFill>
                <a:srgbClr val="202428"/>
              </a:solidFill>
              <a:latin typeface="Times New Roman" panose="02020603050405020304"/>
              <a:ea typeface="Times New Roman" panose="02020603050405020304"/>
              <a:cs typeface="Times New Roman" panose="02020603050405020304"/>
            </a:endParaRPr>
          </a:p>
        </p:txBody>
      </p:sp>
      <p:sp>
        <p:nvSpPr>
          <p:cNvPr id="452" name="scope-note"/>
          <p:cNvSpPr>
            <a:spLocks noGrp="1"/>
          </p:cNvSpPr>
          <p:nvPr/>
        </p:nvSpPr>
        <p:spPr>
          <a:xfrm>
            <a:off x="171450" y="3648075"/>
            <a:ext cx="8829675" cy="142875"/>
          </a:xfrm>
          <a:prstGeom prst="rect">
            <a:avLst/>
          </a:prstGeom>
          <a:noFill/>
          <a:ln w="0">
            <a:noFill/>
          </a:ln>
        </p:spPr>
        <p:txBody>
          <a:bodyPr wrap="square" lIns="19050" tIns="9525" rIns="19050" bIns="9525" anchor="ctr">
            <a:normAutofit/>
          </a:bodyPr>
          <a:lstStyle/>
          <a:p>
            <a:pPr algn="ctr">
              <a:lnSpc>
                <a:spcPct val="92000"/>
              </a:lnSpc>
              <a:buNone/>
              <a:defRPr sz="865" b="0" i="0">
                <a:solidFill>
                  <a:srgbClr val="6F7780"/>
                </a:solidFill>
                <a:latin typeface="Times New Roman" panose="02020603050405020304"/>
                <a:ea typeface="Times New Roman" panose="02020603050405020304"/>
                <a:cs typeface="Times New Roman" panose="02020603050405020304"/>
              </a:defRPr>
            </a:pPr>
            <a:r>
              <a:rPr sz="865" b="0" i="0">
                <a:solidFill>
                  <a:srgbClr val="6F7780"/>
                </a:solidFill>
                <a:latin typeface="Times New Roman" panose="02020603050405020304"/>
                <a:ea typeface="Times New Roman" panose="02020603050405020304"/>
                <a:cs typeface="Times New Roman" panose="02020603050405020304"/>
              </a:rPr>
              <a:t>(b, c) are alternative KV policies under pruning. F/R stop at EOS. T = DLS interval.</a:t>
            </a:r>
            <a:endParaRPr sz="865" b="0" i="0">
              <a:solidFill>
                <a:srgbClr val="6F778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1132</Words>
  <Application>WPS Spreadsheets</Application>
  <PresentationFormat>Converted Presentation</PresentationFormat>
  <Paragraphs>220</Paragraphs>
  <Slides>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vt:i4>
      </vt:variant>
    </vt:vector>
  </HeadingPairs>
  <TitlesOfParts>
    <vt:vector size="16" baseType="lpstr">
      <vt:lpstr>Arial</vt:lpstr>
      <vt:lpstr>宋体</vt:lpstr>
      <vt:lpstr>Wingdings</vt:lpstr>
      <vt:lpstr>Times New Roman</vt:lpstr>
      <vt:lpstr>Arial</vt:lpstr>
      <vt:lpstr>宋体-简</vt:lpstr>
      <vt:lpstr>微软雅黑</vt:lpstr>
      <vt:lpstr>汉仪旗黑</vt:lpstr>
      <vt:lpstr>宋体</vt:lpstr>
      <vt:lpstr>Arial Unicode MS</vt:lpstr>
      <vt:lpstr>Calibri</vt:lpstr>
      <vt:lpstr>Helvetica Neue</vt:lpstr>
      <vt:lpstr>汉仪书宋二KW</vt:lpstr>
      <vt:lpstr>Times New Roman</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anthony</cp:lastModifiedBy>
  <cp:revision>1</cp:revision>
  <dcterms:created xsi:type="dcterms:W3CDTF">2026-09-22T04:26:31Z</dcterms:created>
  <dcterms:modified xsi:type="dcterms:W3CDTF">2026-09-22T04:26:31Z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366CB135114719997703B26A286BA1FC_42</vt:lpwstr>
  </property>
  <property fmtid="{D5CDD505-2E9C-101B-9397-08002B2CF9AE}" pid="3" name="KSOProductBuildVer">
    <vt:lpwstr>1033-6.14.0.8924</vt:lpwstr>
  </property>
</Properties>
</file>