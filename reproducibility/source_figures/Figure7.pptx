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7620000" cy="390525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w val="1"/>
          <c:h val="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'1p5b'!$B$1</c:f>
              <c:strCache>
                <c:ptCount val="1"/>
                <c:pt idx="0">
                  <c:v>Upstream</c:v>
                </c:pt>
              </c:strCache>
            </c:strRef>
          </c:tx>
          <c:spPr>
            <a:solidFill>
              <a:srgbClr val="2A6F9D"/>
            </a:solidFill>
            <a:ln w="0">
              <a:noFill/>
            </a:ln>
          </c:spPr>
          <c:invertIfNegative val="0"/>
          <c:dLbls>
            <c:delete val="1"/>
          </c:dLbls>
          <c:cat>
            <c:strRef>
              <c:f>'1p5b'!$A$2:$A$5</c:f>
              <c:strCache>
                <c:ptCount val="4"/>
                <c:pt idx="0">
                  <c:v>Reference</c:v>
                </c:pt>
                <c:pt idx="1">
                  <c:v>+ CADD</c:v>
                </c:pt>
                <c:pt idx="2">
                  <c:v>+ Bypass</c:v>
                </c:pt>
                <c:pt idx="3">
                  <c:v>+ Both</c:v>
                </c:pt>
              </c:strCache>
            </c:strRef>
          </c:cat>
          <c:val>
            <c:numRef>
              <c:f>'1p5b'!$B$2:$B$5</c:f>
              <c:numCache>
                <c:formatCode>0</c:formatCode>
                <c:ptCount val="4"/>
                <c:pt idx="0">
                  <c:v>1.71072008575151</c:v>
                </c:pt>
                <c:pt idx="1">
                  <c:v>1.06081015357773</c:v>
                </c:pt>
                <c:pt idx="2">
                  <c:v>1.70936555495337</c:v>
                </c:pt>
                <c:pt idx="3">
                  <c:v>1.06246720857893</c:v>
                </c:pt>
              </c:numCache>
            </c:numRef>
          </c:val>
        </c:ser>
        <c:ser>
          <c:idx val="1"/>
          <c:order val="1"/>
          <c:tx>
            <c:strRef>
              <c:f>'1p5b'!$C$1</c:f>
              <c:strCache>
                <c:ptCount val="1"/>
                <c:pt idx="0">
                  <c:v>Vocabulary</c:v>
                </c:pt>
              </c:strCache>
            </c:strRef>
          </c:tx>
          <c:spPr>
            <a:solidFill>
              <a:srgbClr val="C29B4F"/>
            </a:solidFill>
            <a:ln w="0">
              <a:noFill/>
            </a:ln>
          </c:spPr>
          <c:invertIfNegative val="0"/>
          <c:dLbls>
            <c:delete val="1"/>
          </c:dLbls>
          <c:cat>
            <c:strRef>
              <c:f>'1p5b'!$A$2:$A$5</c:f>
              <c:strCache>
                <c:ptCount val="4"/>
                <c:pt idx="0">
                  <c:v>Reference</c:v>
                </c:pt>
                <c:pt idx="1">
                  <c:v>+ CADD</c:v>
                </c:pt>
                <c:pt idx="2">
                  <c:v>+ Bypass</c:v>
                </c:pt>
                <c:pt idx="3">
                  <c:v>+ Both</c:v>
                </c:pt>
              </c:strCache>
            </c:strRef>
          </c:cat>
          <c:val>
            <c:numRef>
              <c:f>'1p5b'!$C$2:$C$5</c:f>
              <c:numCache>
                <c:formatCode>0</c:formatCode>
                <c:ptCount val="4"/>
                <c:pt idx="0">
                  <c:v>0.476383658456802</c:v>
                </c:pt>
                <c:pt idx="1">
                  <c:v>0.280266632668177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'1p5b'!$D$1</c:f>
              <c:strCache>
                <c:ptCount val="1"/>
                <c:pt idx="0">
                  <c:v>Remaining</c:v>
                </c:pt>
              </c:strCache>
            </c:strRef>
          </c:tx>
          <c:spPr>
            <a:solidFill>
              <a:srgbClr val="D3D3D3"/>
            </a:solidFill>
            <a:ln w="0">
              <a:noFill/>
            </a:ln>
          </c:spPr>
          <c:invertIfNegative val="0"/>
          <c:dLbls>
            <c:delete val="1"/>
          </c:dLbls>
          <c:cat>
            <c:strRef>
              <c:f>'1p5b'!$A$2:$A$5</c:f>
              <c:strCache>
                <c:ptCount val="4"/>
                <c:pt idx="0">
                  <c:v>Reference</c:v>
                </c:pt>
                <c:pt idx="1">
                  <c:v>+ CADD</c:v>
                </c:pt>
                <c:pt idx="2">
                  <c:v>+ Bypass</c:v>
                </c:pt>
                <c:pt idx="3">
                  <c:v>+ Both</c:v>
                </c:pt>
              </c:strCache>
            </c:strRef>
          </c:cat>
          <c:val>
            <c:numRef>
              <c:f>'1p5b'!$D$2:$D$5</c:f>
              <c:numCache>
                <c:formatCode>0</c:formatCode>
                <c:ptCount val="4"/>
                <c:pt idx="0">
                  <c:v>0.722478478285174</c:v>
                </c:pt>
                <c:pt idx="1">
                  <c:v>0.725039880420764</c:v>
                </c:pt>
                <c:pt idx="2">
                  <c:v>0.718390198627363</c:v>
                </c:pt>
                <c:pt idx="3">
                  <c:v>0.725531702960779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350" b="0" i="0" u="none" strike="noStrike" kern="1200" baseline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3.6"/>
          <c:min val="0"/>
        </c:scaling>
        <c:delete val="1"/>
        <c:axPos val="l"/>
        <c:numFmt formatCode="0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425" b="0" i="0" u="none" strike="noStrike" kern="1200" baseline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50112"/>
        <c:crosses val="autoZero"/>
        <c:crossBetween val="between"/>
        <c:majorUnit val="1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c8d4ca4-4794-47a7-89a3-de7e9a10266c}"/>
      </c:ext>
    </c:extLst>
  </c:chart>
  <c:spPr>
    <a:noFill/>
    <a:ln w="0"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w val="1"/>
          <c:h val="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'7b'!$B$1</c:f>
              <c:strCache>
                <c:ptCount val="1"/>
                <c:pt idx="0">
                  <c:v>Upstream</c:v>
                </c:pt>
              </c:strCache>
            </c:strRef>
          </c:tx>
          <c:spPr>
            <a:solidFill>
              <a:srgbClr val="2A6F9D"/>
            </a:solidFill>
            <a:ln w="0">
              <a:noFill/>
            </a:ln>
          </c:spPr>
          <c:invertIfNegative val="0"/>
          <c:dLbls>
            <c:delete val="1"/>
          </c:dLbls>
          <c:cat>
            <c:strRef>
              <c:f>'7b'!$A$2:$A$5</c:f>
              <c:strCache>
                <c:ptCount val="4"/>
                <c:pt idx="0">
                  <c:v>Reference</c:v>
                </c:pt>
                <c:pt idx="1">
                  <c:v>+ CADD</c:v>
                </c:pt>
                <c:pt idx="2">
                  <c:v>+ Bypass</c:v>
                </c:pt>
                <c:pt idx="3">
                  <c:v>+ Both</c:v>
                </c:pt>
              </c:strCache>
            </c:strRef>
          </c:cat>
          <c:val>
            <c:numRef>
              <c:f>'7b'!$B$2:$B$5</c:f>
              <c:numCache>
                <c:formatCode>0</c:formatCode>
                <c:ptCount val="4"/>
                <c:pt idx="0">
                  <c:v>4.62801081979821</c:v>
                </c:pt>
                <c:pt idx="1">
                  <c:v>2.91556683395108</c:v>
                </c:pt>
                <c:pt idx="2">
                  <c:v>4.64020942241053</c:v>
                </c:pt>
                <c:pt idx="3">
                  <c:v>2.92160566746394</c:v>
                </c:pt>
              </c:numCache>
            </c:numRef>
          </c:val>
        </c:ser>
        <c:ser>
          <c:idx val="1"/>
          <c:order val="1"/>
          <c:tx>
            <c:strRef>
              <c:f>'7b'!$C$1</c:f>
              <c:strCache>
                <c:ptCount val="1"/>
                <c:pt idx="0">
                  <c:v>Vocabulary</c:v>
                </c:pt>
              </c:strCache>
            </c:strRef>
          </c:tx>
          <c:spPr>
            <a:solidFill>
              <a:srgbClr val="C29B4F"/>
            </a:solidFill>
            <a:ln w="0">
              <a:noFill/>
            </a:ln>
          </c:spPr>
          <c:invertIfNegative val="0"/>
          <c:dLbls>
            <c:delete val="1"/>
          </c:dLbls>
          <c:cat>
            <c:strRef>
              <c:f>'7b'!$A$2:$A$5</c:f>
              <c:strCache>
                <c:ptCount val="4"/>
                <c:pt idx="0">
                  <c:v>Reference</c:v>
                </c:pt>
                <c:pt idx="1">
                  <c:v>+ CADD</c:v>
                </c:pt>
                <c:pt idx="2">
                  <c:v>+ Bypass</c:v>
                </c:pt>
                <c:pt idx="3">
                  <c:v>+ Both</c:v>
                </c:pt>
              </c:strCache>
            </c:strRef>
          </c:cat>
          <c:val>
            <c:numRef>
              <c:f>'7b'!$C$2:$C$5</c:f>
              <c:numCache>
                <c:formatCode>0</c:formatCode>
                <c:ptCount val="4"/>
                <c:pt idx="0">
                  <c:v>1.15625591475169</c:v>
                </c:pt>
                <c:pt idx="1">
                  <c:v>0.680124535942078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'7b'!$D$1</c:f>
              <c:strCache>
                <c:ptCount val="1"/>
                <c:pt idx="0">
                  <c:v>Remaining</c:v>
                </c:pt>
              </c:strCache>
            </c:strRef>
          </c:tx>
          <c:spPr>
            <a:solidFill>
              <a:srgbClr val="D3D3D3"/>
            </a:solidFill>
            <a:ln w="0">
              <a:noFill/>
            </a:ln>
          </c:spPr>
          <c:invertIfNegative val="0"/>
          <c:dLbls>
            <c:delete val="1"/>
          </c:dLbls>
          <c:cat>
            <c:strRef>
              <c:f>'7b'!$A$2:$A$5</c:f>
              <c:strCache>
                <c:ptCount val="4"/>
                <c:pt idx="0">
                  <c:v>Reference</c:v>
                </c:pt>
                <c:pt idx="1">
                  <c:v>+ CADD</c:v>
                </c:pt>
                <c:pt idx="2">
                  <c:v>+ Bypass</c:v>
                </c:pt>
                <c:pt idx="3">
                  <c:v>+ Both</c:v>
                </c:pt>
              </c:strCache>
            </c:strRef>
          </c:cat>
          <c:val>
            <c:numRef>
              <c:f>'7b'!$D$2:$D$5</c:f>
              <c:numCache>
                <c:formatCode>0</c:formatCode>
                <c:ptCount val="4"/>
                <c:pt idx="0">
                  <c:v>0.748120488757392</c:v>
                </c:pt>
                <c:pt idx="1">
                  <c:v>0.749129959859451</c:v>
                </c:pt>
                <c:pt idx="2">
                  <c:v>0.758558351026972</c:v>
                </c:pt>
                <c:pt idx="3">
                  <c:v>0.754143758805593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overlap val="100"/>
        <c:axId val="48650112"/>
        <c:axId val="48672768"/>
      </c:bar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350" b="0" i="0" u="none" strike="noStrike" kern="1200" baseline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8"/>
          <c:min val="0"/>
        </c:scaling>
        <c:delete val="1"/>
        <c:axPos val="l"/>
        <c:numFmt formatCode="0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425" b="0" i="0" u="none" strike="noStrike" kern="1200" baseline="0">
                <a:solidFill>
                  <a:srgbClr val="66666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</a:p>
        </c:txPr>
        <c:crossAx val="48650112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6adaaad7-d296-481c-997f-7bbe732979c0}"/>
      </c:ext>
    </c:extLst>
  </c:chart>
  <c:spPr>
    <a:noFill/>
    <a:ln w="0"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w val="1"/>
          <c:h val="1"/>
        </c:manualLayout>
      </c:layout>
      <c:scatterChart>
        <c:scatterStyle val="marker"/>
        <c:varyColors val="0"/>
        <c:ser>
          <c:idx val="0"/>
          <c:order val="0"/>
          <c:tx>
            <c:strRef>
              <c:f>'Zero hit'!$B$1</c:f>
              <c:strCache>
                <c:ptCount val="1"/>
                <c:pt idx="0">
                  <c:v>Overhead (%)</c:v>
                </c:pt>
              </c:strCache>
            </c:strRef>
          </c:tx>
          <c:spPr>
            <a:ln w="0" cap="rnd">
              <a:noFill/>
              <a:prstDash val="solid"/>
              <a:round/>
            </a:ln>
          </c:spPr>
          <c:marker>
            <c:symbol val="circle"/>
            <c:size val="6"/>
            <c:spPr>
              <a:solidFill>
                <a:srgbClr val="2A6F9D"/>
              </a:solidFill>
              <a:ln w="0">
                <a:noFill/>
                <a:prstDash val="solid"/>
                <a:round/>
              </a:ln>
            </c:spPr>
          </c:marker>
          <c:dLbls>
            <c:delete val="1"/>
          </c:dLbls>
          <c:xVal>
            <c:numRef>
              <c:f>'Zero hit'!$A$2:$A$16</c:f>
              <c:numCache>
                <c:formatCode>General</c:formatCode>
                <c:ptCount val="1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</c:numCache>
            </c:numRef>
          </c:xVal>
          <c:yVal>
            <c:numRef>
              <c:f>'Zero hit'!$B$2:$B$16</c:f>
              <c:numCache>
                <c:formatCode>0.0</c:formatCode>
                <c:ptCount val="15"/>
                <c:pt idx="0">
                  <c:v>0.0377366225181142</c:v>
                </c:pt>
                <c:pt idx="1">
                  <c:v>-0.110549487346445</c:v>
                </c:pt>
                <c:pt idx="2">
                  <c:v>0.100557779880206</c:v>
                </c:pt>
                <c:pt idx="3">
                  <c:v>0.0190758889621279</c:v>
                </c:pt>
                <c:pt idx="4">
                  <c:v>0.0256524110500589</c:v>
                </c:pt>
                <c:pt idx="5">
                  <c:v>-0.0707366241074037</c:v>
                </c:pt>
                <c:pt idx="6">
                  <c:v>0.128183697449291</c:v>
                </c:pt>
                <c:pt idx="7">
                  <c:v>0.0567488547872586</c:v>
                </c:pt>
                <c:pt idx="8">
                  <c:v>-0.123211963037229</c:v>
                </c:pt>
                <c:pt idx="9">
                  <c:v>0.0620774517470002</c:v>
                </c:pt>
                <c:pt idx="10">
                  <c:v>0.0018756961786659</c:v>
                </c:pt>
                <c:pt idx="11">
                  <c:v>0.0664846362912197</c:v>
                </c:pt>
                <c:pt idx="12">
                  <c:v>0.0965942359270278</c:v>
                </c:pt>
                <c:pt idx="13">
                  <c:v>-0.0559988475589357</c:v>
                </c:pt>
                <c:pt idx="14">
                  <c:v>-0.0172202917853914</c:v>
                </c:pt>
              </c:numCache>
            </c:numRef>
          </c:y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50112"/>
        <c:scaling>
          <c:orientation val="minMax"/>
          <c:max val="15.5"/>
          <c:min val="0.5"/>
        </c:scaling>
        <c:delete val="1"/>
        <c:axPos val="b"/>
        <c:numFmt formatCode="General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72768"/>
        <c:crosses val="autoZero"/>
        <c:crossBetween val="midCat"/>
        <c:majorUnit val="1"/>
      </c:valAx>
      <c:valAx>
        <c:axId val="48672768"/>
        <c:scaling>
          <c:orientation val="minMax"/>
          <c:max val="0.15"/>
          <c:min val="-0.15"/>
        </c:scaling>
        <c:delete val="1"/>
        <c:axPos val="l"/>
        <c:numFmt formatCode="0.0" sourceLinked="1"/>
        <c:majorTickMark val="none"/>
        <c:minorTickMark val="none"/>
        <c:tickLblPos val="none"/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pPr>
          </a:p>
        </c:txPr>
        <c:crossAx val="48650112"/>
        <c:crosses val="autoZero"/>
        <c:crossBetween val="midCat"/>
        <c:majorUnit val="0.1"/>
      </c:valAx>
      <c:spPr>
        <a:noFill/>
        <a:ln w="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bf2515fc-7f31-45d5-9d67-c1408d34df22}"/>
      </c:ext>
    </c:extLst>
  </c:chart>
  <c:spPr>
    <a:noFill/>
    <a:ln w="0">
      <a:noFill/>
    </a:ln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7. Generation execution cost and guard overhead. (a,b) Mean exclusive CUDA-stream time per image for Show-o2-1.5B and 7B, 20 fixed DPG prompts and three process repetitions per configuration. Four configurations use the same selected pruning/cache policy. Reference is the frozen FlashU policy, not native Show-o2. +Bypass denotes VocabBypass; +Both enables CADD and VocabBypass (DepGraph-U). Upstream includes feature extraction, Qwen trunk and diffusion input projection. Vocabulary is vocabulary projection. Remaining includes diffusion Head A/Head B and residual head logic, VAE decoding and other stream intervals. Stack heights and red multipliers are computed from the same profiling measurements; separate uninstrumented Table 4 timings are not used here. Stream intervals include launch gaps and are not pure GPU-kernel times. Native outputs, recorded intermediate state and RNG checks match under this fixed policy. (c) 15 prompt-seed groups (five prompts, seeds 42/43/44), 510 paired synchronized model calls with zero CADD hits. Gray zero line and red aggregate ratio line; negative outcomes retained. This measures model-call overhead, not end-to-end inference overhead. Overall overhead is a ratio of total times, not a mean of the 15 ratios.</a:t>
            </a:r>
          </a:p>
          <a:p>
            <a:r>
              <a:t>Style reference: OmniFit Figure 8, PDF p7. Times New Roman, gray/blue/gold, fine dotted horizontal grid, red curved arrows and ratios.</a:t>
            </a:r>
          </a:p>
          <a:p>
            <a:r>
              <a:t>Data source hashes: {"/Users/anthony/Documents/CCF-A Paper/remote_experiments/execution_cost_20260922/attempt03/evidence_final/PLOT_COST_COMPONENTS.csv":"e5916624fdb3066997ed45af17b46a871a30a1a8aa7651171315219f8f1360c8","/Users/anthony/Documents/CCF-A Paper/remote_experiments/execution_cost_20260922/attempt03/evidence_final/LOCAL_VERIFIED.json":"b94b4b9c54a1452ede80c426be0523fb56f1748d5d905b30f11da38a8b5c8820","/Users/anthony/Documents/CCF-A Paper/remote_experiments/guard_boundaries_20260922/evidence_final/ZERO_HIT_PAIRED_TIMINGS.csv":"297aa6696f08e2db919640a01a5ab66edb18d9f7f0769d0f913ca71f9e523b12","/Users/anthony/Documents/CCF-A Paper/remote_experiments/guard_boundaries_20260922/evidence_final/LOCAL_VERIFIED.json":"1b4b74bd01b0d3a627fd93dc196eff0b5b52a7b37985226fe006610a3edc08b8"}</a:t>
            </a:r>
          </a:p>
          <a:p>
            <a:r>
              <a:t>Exclusive CUDA-stream intervals include launch gaps. All four arms share the frozen selected pruning/cache policy. Mean of 20 fixed prompts and three fresh-process repeats per scale. Zero-hit data cover 15 prompt-seed groups and 510 synchronized paired model calls, not end-to-end generation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" name="title-a"/>
          <p:cNvSpPr>
            <a:spLocks noGrp="1"/>
          </p:cNvSpPr>
          <p:nvPr/>
        </p:nvSpPr>
        <p:spPr>
          <a:xfrm>
            <a:off x="466090" y="0"/>
            <a:ext cx="30384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 Show-o2-1.5B</a:t>
            </a:r>
            <a:endParaRPr sz="187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" name="title-b"/>
          <p:cNvSpPr>
            <a:spLocks noGrp="1"/>
          </p:cNvSpPr>
          <p:nvPr/>
        </p:nvSpPr>
        <p:spPr>
          <a:xfrm>
            <a:off x="4295140" y="0"/>
            <a:ext cx="3038475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8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 Show-o2-7B</a:t>
            </a:r>
            <a:endParaRPr sz="187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key-0"/>
          <p:cNvSpPr>
            <a:spLocks noGrp="1"/>
          </p:cNvSpPr>
          <p:nvPr/>
        </p:nvSpPr>
        <p:spPr>
          <a:xfrm>
            <a:off x="1381125" y="333375"/>
            <a:ext cx="133350" cy="114300"/>
          </a:xfrm>
          <a:prstGeom prst="rect">
            <a:avLst/>
          </a:prstGeom>
          <a:solidFill>
            <a:srgbClr val="2A6F9D"/>
          </a:solidFill>
          <a:ln w="0">
            <a:noFill/>
          </a:ln>
        </p:spPr>
      </p:sp>
      <p:sp>
        <p:nvSpPr>
          <p:cNvPr id="4" name="legend-0"/>
          <p:cNvSpPr>
            <a:spLocks noGrp="1"/>
          </p:cNvSpPr>
          <p:nvPr/>
        </p:nvSpPr>
        <p:spPr>
          <a:xfrm>
            <a:off x="1571625" y="2667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Upstream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key-1"/>
          <p:cNvSpPr>
            <a:spLocks noGrp="1"/>
          </p:cNvSpPr>
          <p:nvPr/>
        </p:nvSpPr>
        <p:spPr>
          <a:xfrm>
            <a:off x="3152775" y="333375"/>
            <a:ext cx="133350" cy="114300"/>
          </a:xfrm>
          <a:prstGeom prst="rect">
            <a:avLst/>
          </a:prstGeom>
          <a:solidFill>
            <a:srgbClr val="C29B4F"/>
          </a:solidFill>
          <a:ln w="0">
            <a:noFill/>
          </a:ln>
        </p:spPr>
      </p:sp>
      <p:sp>
        <p:nvSpPr>
          <p:cNvPr id="6" name="legend-1"/>
          <p:cNvSpPr>
            <a:spLocks noGrp="1"/>
          </p:cNvSpPr>
          <p:nvPr/>
        </p:nvSpPr>
        <p:spPr>
          <a:xfrm>
            <a:off x="3343275" y="266700"/>
            <a:ext cx="131445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Vocabulary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key-2"/>
          <p:cNvSpPr>
            <a:spLocks noGrp="1"/>
          </p:cNvSpPr>
          <p:nvPr/>
        </p:nvSpPr>
        <p:spPr>
          <a:xfrm>
            <a:off x="5238750" y="333375"/>
            <a:ext cx="133350" cy="114300"/>
          </a:xfrm>
          <a:prstGeom prst="rect">
            <a:avLst/>
          </a:prstGeom>
          <a:solidFill>
            <a:srgbClr val="D3D3D3"/>
          </a:solidFill>
          <a:ln w="0">
            <a:noFill/>
          </a:ln>
        </p:spPr>
      </p:sp>
      <p:sp>
        <p:nvSpPr>
          <p:cNvPr id="8" name="legend-2"/>
          <p:cNvSpPr>
            <a:spLocks noGrp="1"/>
          </p:cNvSpPr>
          <p:nvPr/>
        </p:nvSpPr>
        <p:spPr>
          <a:xfrm>
            <a:off x="5429250" y="266700"/>
            <a:ext cx="12192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Remaining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frame-1p5b"/>
          <p:cNvSpPr>
            <a:spLocks noGrp="1"/>
          </p:cNvSpPr>
          <p:nvPr/>
        </p:nvSpPr>
        <p:spPr>
          <a:xfrm>
            <a:off x="609600" y="561975"/>
            <a:ext cx="3038475" cy="170497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</p:sp>
      <p:sp>
        <p:nvSpPr>
          <p:cNvPr id="10" name="ytick-1p5b-0"/>
          <p:cNvSpPr>
            <a:spLocks noGrp="1"/>
          </p:cNvSpPr>
          <p:nvPr/>
        </p:nvSpPr>
        <p:spPr>
          <a:xfrm>
            <a:off x="266700" y="21526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grid-1p5b-1"/>
          <p:cNvSpPr>
            <a:spLocks noGrp="1"/>
          </p:cNvSpPr>
          <p:nvPr/>
        </p:nvSpPr>
        <p:spPr>
          <a:xfrm>
            <a:off x="609600" y="1793346"/>
            <a:ext cx="3038475" cy="0"/>
          </a:xfrm>
          <a:prstGeom prst="line">
            <a:avLst/>
          </a:prstGeom>
          <a:noFill/>
          <a:ln w="6191">
            <a:solidFill>
              <a:srgbClr val="AFAFAF"/>
            </a:solidFill>
            <a:prstDash val="dot"/>
          </a:ln>
        </p:spPr>
      </p:sp>
      <p:sp>
        <p:nvSpPr>
          <p:cNvPr id="12" name="ytick-1p5b-1"/>
          <p:cNvSpPr>
            <a:spLocks noGrp="1"/>
          </p:cNvSpPr>
          <p:nvPr/>
        </p:nvSpPr>
        <p:spPr>
          <a:xfrm>
            <a:off x="266700" y="1679046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" name="grid-1p5b-2"/>
          <p:cNvSpPr>
            <a:spLocks noGrp="1"/>
          </p:cNvSpPr>
          <p:nvPr/>
        </p:nvSpPr>
        <p:spPr>
          <a:xfrm>
            <a:off x="609600" y="1319742"/>
            <a:ext cx="3038475" cy="0"/>
          </a:xfrm>
          <a:prstGeom prst="line">
            <a:avLst/>
          </a:prstGeom>
          <a:noFill/>
          <a:ln w="6191">
            <a:solidFill>
              <a:srgbClr val="AFAFAF"/>
            </a:solidFill>
            <a:prstDash val="dot"/>
          </a:ln>
        </p:spPr>
      </p:sp>
      <p:sp>
        <p:nvSpPr>
          <p:cNvPr id="14" name="ytick-1p5b-2"/>
          <p:cNvSpPr>
            <a:spLocks noGrp="1"/>
          </p:cNvSpPr>
          <p:nvPr/>
        </p:nvSpPr>
        <p:spPr>
          <a:xfrm>
            <a:off x="266700" y="1205442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5" name="grid-1p5b-3"/>
          <p:cNvSpPr>
            <a:spLocks noGrp="1"/>
          </p:cNvSpPr>
          <p:nvPr/>
        </p:nvSpPr>
        <p:spPr>
          <a:xfrm>
            <a:off x="609600" y="846138"/>
            <a:ext cx="3038475" cy="0"/>
          </a:xfrm>
          <a:prstGeom prst="line">
            <a:avLst/>
          </a:prstGeom>
          <a:noFill/>
          <a:ln w="6191">
            <a:solidFill>
              <a:srgbClr val="AFAFAF"/>
            </a:solidFill>
            <a:prstDash val="dot"/>
          </a:ln>
        </p:spPr>
      </p:sp>
      <p:sp>
        <p:nvSpPr>
          <p:cNvPr id="16" name="ytick-1p5b-3"/>
          <p:cNvSpPr>
            <a:spLocks noGrp="1"/>
          </p:cNvSpPr>
          <p:nvPr/>
        </p:nvSpPr>
        <p:spPr>
          <a:xfrm>
            <a:off x="266700" y="731838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7" name="axis-1p5b"/>
          <p:cNvSpPr>
            <a:spLocks noGrp="1"/>
          </p:cNvSpPr>
          <p:nvPr/>
        </p:nvSpPr>
        <p:spPr>
          <a:xfrm rot="16200000">
            <a:off x="-728662" y="1290638"/>
            <a:ext cx="17049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(s)</a:t>
            </a:r>
            <a:endParaRPr sz="157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" name="cat-1p5b-0"/>
          <p:cNvSpPr>
            <a:spLocks noGrp="1"/>
          </p:cNvSpPr>
          <p:nvPr/>
        </p:nvSpPr>
        <p:spPr>
          <a:xfrm>
            <a:off x="600075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9" name="cat-1p5b-1"/>
          <p:cNvSpPr>
            <a:spLocks noGrp="1"/>
          </p:cNvSpPr>
          <p:nvPr/>
        </p:nvSpPr>
        <p:spPr>
          <a:xfrm>
            <a:off x="1359694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CADD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cat-1p5b-2"/>
          <p:cNvSpPr>
            <a:spLocks noGrp="1"/>
          </p:cNvSpPr>
          <p:nvPr/>
        </p:nvSpPr>
        <p:spPr>
          <a:xfrm>
            <a:off x="2119313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Bypass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" name="cat-1p5b-3"/>
          <p:cNvSpPr>
            <a:spLocks noGrp="1"/>
          </p:cNvSpPr>
          <p:nvPr/>
        </p:nvSpPr>
        <p:spPr>
          <a:xfrm>
            <a:off x="2878931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Both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82" name="Chart"/>
          <p:cNvGraphicFramePr/>
          <p:nvPr/>
        </p:nvGraphicFramePr>
        <p:xfrm>
          <a:off x="609600" y="561975"/>
          <a:ext cx="3038475" cy="1704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3" name="gain-1p5b"/>
          <p:cNvSpPr>
            <a:spLocks noGrp="1"/>
          </p:cNvSpPr>
          <p:nvPr/>
        </p:nvSpPr>
        <p:spPr>
          <a:xfrm>
            <a:off x="989409" y="571500"/>
            <a:ext cx="2278856" cy="810546"/>
          </a:xfrm>
          <a:custGeom>
            <a:avLst/>
            <a:gdLst/>
            <a:ahLst/>
            <a:cxnLst/>
            <a:pathLst>
              <a:path w="2278856" h="810546">
                <a:moveTo>
                  <a:pt x="0" y="288885"/>
                </a:moveTo>
                <a:lnTo>
                  <a:pt x="47476" y="277325"/>
                </a:lnTo>
                <a:lnTo>
                  <a:pt x="94952" y="266720"/>
                </a:lnTo>
                <a:lnTo>
                  <a:pt x="142429" y="257069"/>
                </a:lnTo>
                <a:lnTo>
                  <a:pt x="189905" y="248372"/>
                </a:lnTo>
                <a:lnTo>
                  <a:pt x="237381" y="240630"/>
                </a:lnTo>
                <a:lnTo>
                  <a:pt x="284857" y="233842"/>
                </a:lnTo>
                <a:lnTo>
                  <a:pt x="332333" y="228009"/>
                </a:lnTo>
                <a:lnTo>
                  <a:pt x="379809" y="223130"/>
                </a:lnTo>
                <a:lnTo>
                  <a:pt x="427286" y="219205"/>
                </a:lnTo>
                <a:lnTo>
                  <a:pt x="474762" y="216234"/>
                </a:lnTo>
                <a:lnTo>
                  <a:pt x="522238" y="214218"/>
                </a:lnTo>
                <a:lnTo>
                  <a:pt x="569714" y="213157"/>
                </a:lnTo>
                <a:lnTo>
                  <a:pt x="617190" y="213050"/>
                </a:lnTo>
                <a:lnTo>
                  <a:pt x="664666" y="213897"/>
                </a:lnTo>
                <a:lnTo>
                  <a:pt x="712143" y="215698"/>
                </a:lnTo>
                <a:lnTo>
                  <a:pt x="759619" y="218454"/>
                </a:lnTo>
                <a:lnTo>
                  <a:pt x="807095" y="222164"/>
                </a:lnTo>
                <a:lnTo>
                  <a:pt x="854571" y="226829"/>
                </a:lnTo>
                <a:lnTo>
                  <a:pt x="902047" y="232448"/>
                </a:lnTo>
                <a:lnTo>
                  <a:pt x="949523" y="239021"/>
                </a:lnTo>
                <a:lnTo>
                  <a:pt x="997000" y="246549"/>
                </a:lnTo>
                <a:lnTo>
                  <a:pt x="1044476" y="255031"/>
                </a:lnTo>
                <a:lnTo>
                  <a:pt x="1091952" y="264467"/>
                </a:lnTo>
                <a:lnTo>
                  <a:pt x="1139428" y="274858"/>
                </a:lnTo>
                <a:lnTo>
                  <a:pt x="1186904" y="286203"/>
                </a:lnTo>
                <a:lnTo>
                  <a:pt x="1234380" y="298502"/>
                </a:lnTo>
                <a:lnTo>
                  <a:pt x="1281857" y="311756"/>
                </a:lnTo>
                <a:lnTo>
                  <a:pt x="1329333" y="325964"/>
                </a:lnTo>
                <a:lnTo>
                  <a:pt x="1376809" y="341127"/>
                </a:lnTo>
                <a:lnTo>
                  <a:pt x="1424285" y="357244"/>
                </a:lnTo>
                <a:lnTo>
                  <a:pt x="1471761" y="374315"/>
                </a:lnTo>
                <a:lnTo>
                  <a:pt x="1519238" y="392341"/>
                </a:lnTo>
                <a:lnTo>
                  <a:pt x="1566714" y="411321"/>
                </a:lnTo>
                <a:lnTo>
                  <a:pt x="1614190" y="431256"/>
                </a:lnTo>
                <a:lnTo>
                  <a:pt x="1661666" y="452144"/>
                </a:lnTo>
                <a:lnTo>
                  <a:pt x="1709142" y="473988"/>
                </a:lnTo>
                <a:lnTo>
                  <a:pt x="1756618" y="496785"/>
                </a:lnTo>
                <a:lnTo>
                  <a:pt x="1804095" y="520537"/>
                </a:lnTo>
                <a:lnTo>
                  <a:pt x="1851571" y="545243"/>
                </a:lnTo>
                <a:lnTo>
                  <a:pt x="1899047" y="570904"/>
                </a:lnTo>
                <a:lnTo>
                  <a:pt x="1946523" y="597519"/>
                </a:lnTo>
                <a:lnTo>
                  <a:pt x="1993999" y="625088"/>
                </a:lnTo>
                <a:lnTo>
                  <a:pt x="2041475" y="653612"/>
                </a:lnTo>
                <a:lnTo>
                  <a:pt x="2088952" y="683090"/>
                </a:lnTo>
                <a:lnTo>
                  <a:pt x="2136428" y="713523"/>
                </a:lnTo>
                <a:lnTo>
                  <a:pt x="2183904" y="744909"/>
                </a:lnTo>
                <a:lnTo>
                  <a:pt x="2231380" y="777251"/>
                </a:lnTo>
                <a:lnTo>
                  <a:pt x="2278856" y="810546"/>
                </a:lnTo>
              </a:path>
            </a:pathLst>
          </a:custGeom>
          <a:noFill/>
          <a:ln w="10001">
            <a:solidFill>
              <a:srgbClr val="E00000"/>
            </a:solidFill>
          </a:ln>
        </p:spPr>
      </p:sp>
      <p:sp>
        <p:nvSpPr>
          <p:cNvPr id="24" name="gain-1p5b-tip"/>
          <p:cNvSpPr>
            <a:spLocks noGrp="1"/>
          </p:cNvSpPr>
          <p:nvPr/>
        </p:nvSpPr>
        <p:spPr>
          <a:xfrm>
            <a:off x="3185643" y="1309440"/>
            <a:ext cx="82623" cy="72607"/>
          </a:xfrm>
          <a:custGeom>
            <a:avLst/>
            <a:gdLst/>
            <a:ahLst/>
            <a:cxnLst/>
            <a:pathLst>
              <a:path w="82623" h="72607">
                <a:moveTo>
                  <a:pt x="82623" y="72607"/>
                </a:moveTo>
                <a:lnTo>
                  <a:pt x="40471" y="0"/>
                </a:lnTo>
                <a:lnTo>
                  <a:pt x="0" y="57708"/>
                </a:lnTo>
                <a:close/>
              </a:path>
            </a:pathLst>
          </a:custGeom>
          <a:solidFill>
            <a:srgbClr val="E00000"/>
          </a:solidFill>
          <a:ln w="0">
            <a:noFill/>
          </a:ln>
        </p:spPr>
      </p:sp>
      <p:sp>
        <p:nvSpPr>
          <p:cNvPr id="25" name="gain-label-1p5b"/>
          <p:cNvSpPr>
            <a:spLocks noGrp="1"/>
          </p:cNvSpPr>
          <p:nvPr/>
        </p:nvSpPr>
        <p:spPr>
          <a:xfrm>
            <a:off x="2085975" y="628650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E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E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1.63×</a:t>
            </a:r>
            <a:endParaRPr sz="1650" b="1">
              <a:solidFill>
                <a:srgbClr val="E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frame-7b"/>
          <p:cNvSpPr>
            <a:spLocks noGrp="1"/>
          </p:cNvSpPr>
          <p:nvPr/>
        </p:nvSpPr>
        <p:spPr>
          <a:xfrm>
            <a:off x="4438650" y="561975"/>
            <a:ext cx="3038475" cy="170497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</p:sp>
      <p:sp>
        <p:nvSpPr>
          <p:cNvPr id="27" name="ytick-7b-0"/>
          <p:cNvSpPr>
            <a:spLocks noGrp="1"/>
          </p:cNvSpPr>
          <p:nvPr/>
        </p:nvSpPr>
        <p:spPr>
          <a:xfrm>
            <a:off x="4095750" y="2152650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grid-7b-2"/>
          <p:cNvSpPr>
            <a:spLocks noGrp="1"/>
          </p:cNvSpPr>
          <p:nvPr/>
        </p:nvSpPr>
        <p:spPr>
          <a:xfrm>
            <a:off x="4438650" y="1840706"/>
            <a:ext cx="3038475" cy="0"/>
          </a:xfrm>
          <a:prstGeom prst="line">
            <a:avLst/>
          </a:prstGeom>
          <a:noFill/>
          <a:ln w="6191">
            <a:solidFill>
              <a:srgbClr val="AFAFAF"/>
            </a:solidFill>
            <a:prstDash val="dot"/>
          </a:ln>
        </p:spPr>
      </p:sp>
      <p:sp>
        <p:nvSpPr>
          <p:cNvPr id="29" name="ytick-7b-2"/>
          <p:cNvSpPr>
            <a:spLocks noGrp="1"/>
          </p:cNvSpPr>
          <p:nvPr/>
        </p:nvSpPr>
        <p:spPr>
          <a:xfrm>
            <a:off x="4095750" y="1726406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grid-7b-4"/>
          <p:cNvSpPr>
            <a:spLocks noGrp="1"/>
          </p:cNvSpPr>
          <p:nvPr/>
        </p:nvSpPr>
        <p:spPr>
          <a:xfrm>
            <a:off x="4438650" y="1414463"/>
            <a:ext cx="3038475" cy="0"/>
          </a:xfrm>
          <a:prstGeom prst="line">
            <a:avLst/>
          </a:prstGeom>
          <a:noFill/>
          <a:ln w="6191">
            <a:solidFill>
              <a:srgbClr val="AFAFAF"/>
            </a:solidFill>
            <a:prstDash val="dot"/>
          </a:ln>
        </p:spPr>
      </p:sp>
      <p:sp>
        <p:nvSpPr>
          <p:cNvPr id="31" name="ytick-7b-4"/>
          <p:cNvSpPr>
            <a:spLocks noGrp="1"/>
          </p:cNvSpPr>
          <p:nvPr/>
        </p:nvSpPr>
        <p:spPr>
          <a:xfrm>
            <a:off x="4095750" y="1300163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grid-7b-6"/>
          <p:cNvSpPr>
            <a:spLocks noGrp="1"/>
          </p:cNvSpPr>
          <p:nvPr/>
        </p:nvSpPr>
        <p:spPr>
          <a:xfrm>
            <a:off x="4438650" y="988219"/>
            <a:ext cx="3038475" cy="0"/>
          </a:xfrm>
          <a:prstGeom prst="line">
            <a:avLst/>
          </a:prstGeom>
          <a:noFill/>
          <a:ln w="6191">
            <a:solidFill>
              <a:srgbClr val="AFAFAF"/>
            </a:solidFill>
            <a:prstDash val="dot"/>
          </a:ln>
        </p:spPr>
      </p:sp>
      <p:sp>
        <p:nvSpPr>
          <p:cNvPr id="33" name="ytick-7b-6"/>
          <p:cNvSpPr>
            <a:spLocks noGrp="1"/>
          </p:cNvSpPr>
          <p:nvPr/>
        </p:nvSpPr>
        <p:spPr>
          <a:xfrm>
            <a:off x="4095750" y="873919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ytick-7b-8"/>
          <p:cNvSpPr>
            <a:spLocks noGrp="1"/>
          </p:cNvSpPr>
          <p:nvPr/>
        </p:nvSpPr>
        <p:spPr>
          <a:xfrm>
            <a:off x="4095750" y="447675"/>
            <a:ext cx="2857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5" name="axis-7b"/>
          <p:cNvSpPr>
            <a:spLocks noGrp="1"/>
          </p:cNvSpPr>
          <p:nvPr/>
        </p:nvSpPr>
        <p:spPr>
          <a:xfrm rot="16200000">
            <a:off x="3100388" y="1290638"/>
            <a:ext cx="1704975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7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Time (s)</a:t>
            </a:r>
            <a:endParaRPr sz="157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cat-7b-0"/>
          <p:cNvSpPr>
            <a:spLocks noGrp="1"/>
          </p:cNvSpPr>
          <p:nvPr/>
        </p:nvSpPr>
        <p:spPr>
          <a:xfrm>
            <a:off x="4429125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7" name="cat-7b-1"/>
          <p:cNvSpPr>
            <a:spLocks noGrp="1"/>
          </p:cNvSpPr>
          <p:nvPr/>
        </p:nvSpPr>
        <p:spPr>
          <a:xfrm>
            <a:off x="5188744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CADD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8" name="cat-7b-2"/>
          <p:cNvSpPr>
            <a:spLocks noGrp="1"/>
          </p:cNvSpPr>
          <p:nvPr/>
        </p:nvSpPr>
        <p:spPr>
          <a:xfrm>
            <a:off x="5948363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Bypass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9" name="cat-7b-3"/>
          <p:cNvSpPr>
            <a:spLocks noGrp="1"/>
          </p:cNvSpPr>
          <p:nvPr/>
        </p:nvSpPr>
        <p:spPr>
          <a:xfrm>
            <a:off x="6707981" y="2276475"/>
            <a:ext cx="778669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 Both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100" name="Chart"/>
          <p:cNvGraphicFramePr/>
          <p:nvPr/>
        </p:nvGraphicFramePr>
        <p:xfrm>
          <a:off x="4438650" y="561975"/>
          <a:ext cx="3038475" cy="17049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1" name="gain-7b"/>
          <p:cNvSpPr>
            <a:spLocks noGrp="1"/>
          </p:cNvSpPr>
          <p:nvPr/>
        </p:nvSpPr>
        <p:spPr>
          <a:xfrm>
            <a:off x="4818459" y="571500"/>
            <a:ext cx="2278856" cy="873967"/>
          </a:xfrm>
          <a:custGeom>
            <a:avLst/>
            <a:gdLst/>
            <a:ahLst/>
            <a:cxnLst/>
            <a:pathLst>
              <a:path w="2278856" h="873967">
                <a:moveTo>
                  <a:pt x="0" y="274680"/>
                </a:moveTo>
                <a:lnTo>
                  <a:pt x="47476" y="263734"/>
                </a:lnTo>
                <a:lnTo>
                  <a:pt x="94952" y="253785"/>
                </a:lnTo>
                <a:lnTo>
                  <a:pt x="142429" y="244832"/>
                </a:lnTo>
                <a:lnTo>
                  <a:pt x="189905" y="236877"/>
                </a:lnTo>
                <a:lnTo>
                  <a:pt x="237381" y="229919"/>
                </a:lnTo>
                <a:lnTo>
                  <a:pt x="284857" y="223958"/>
                </a:lnTo>
                <a:lnTo>
                  <a:pt x="332333" y="218994"/>
                </a:lnTo>
                <a:lnTo>
                  <a:pt x="379809" y="215027"/>
                </a:lnTo>
                <a:lnTo>
                  <a:pt x="427286" y="212057"/>
                </a:lnTo>
                <a:lnTo>
                  <a:pt x="474762" y="210085"/>
                </a:lnTo>
                <a:lnTo>
                  <a:pt x="522238" y="209109"/>
                </a:lnTo>
                <a:lnTo>
                  <a:pt x="569714" y="209131"/>
                </a:lnTo>
                <a:lnTo>
                  <a:pt x="617190" y="210149"/>
                </a:lnTo>
                <a:lnTo>
                  <a:pt x="664666" y="212165"/>
                </a:lnTo>
                <a:lnTo>
                  <a:pt x="712143" y="215178"/>
                </a:lnTo>
                <a:lnTo>
                  <a:pt x="759619" y="219188"/>
                </a:lnTo>
                <a:lnTo>
                  <a:pt x="807095" y="224195"/>
                </a:lnTo>
                <a:lnTo>
                  <a:pt x="854571" y="230199"/>
                </a:lnTo>
                <a:lnTo>
                  <a:pt x="902047" y="237200"/>
                </a:lnTo>
                <a:lnTo>
                  <a:pt x="949523" y="245198"/>
                </a:lnTo>
                <a:lnTo>
                  <a:pt x="997000" y="254193"/>
                </a:lnTo>
                <a:lnTo>
                  <a:pt x="1044476" y="264186"/>
                </a:lnTo>
                <a:lnTo>
                  <a:pt x="1091952" y="275175"/>
                </a:lnTo>
                <a:lnTo>
                  <a:pt x="1139428" y="287162"/>
                </a:lnTo>
                <a:lnTo>
                  <a:pt x="1186904" y="300146"/>
                </a:lnTo>
                <a:lnTo>
                  <a:pt x="1234380" y="314126"/>
                </a:lnTo>
                <a:lnTo>
                  <a:pt x="1281857" y="329104"/>
                </a:lnTo>
                <a:lnTo>
                  <a:pt x="1329333" y="345079"/>
                </a:lnTo>
                <a:lnTo>
                  <a:pt x="1376809" y="362051"/>
                </a:lnTo>
                <a:lnTo>
                  <a:pt x="1424285" y="380020"/>
                </a:lnTo>
                <a:lnTo>
                  <a:pt x="1471761" y="398987"/>
                </a:lnTo>
                <a:lnTo>
                  <a:pt x="1519238" y="418950"/>
                </a:lnTo>
                <a:lnTo>
                  <a:pt x="1566714" y="439910"/>
                </a:lnTo>
                <a:lnTo>
                  <a:pt x="1614190" y="461868"/>
                </a:lnTo>
                <a:lnTo>
                  <a:pt x="1661666" y="484822"/>
                </a:lnTo>
                <a:lnTo>
                  <a:pt x="1709142" y="508774"/>
                </a:lnTo>
                <a:lnTo>
                  <a:pt x="1756618" y="533723"/>
                </a:lnTo>
                <a:lnTo>
                  <a:pt x="1804095" y="559669"/>
                </a:lnTo>
                <a:lnTo>
                  <a:pt x="1851571" y="586612"/>
                </a:lnTo>
                <a:lnTo>
                  <a:pt x="1899047" y="614552"/>
                </a:lnTo>
                <a:lnTo>
                  <a:pt x="1946523" y="643489"/>
                </a:lnTo>
                <a:lnTo>
                  <a:pt x="1993999" y="673423"/>
                </a:lnTo>
                <a:lnTo>
                  <a:pt x="2041475" y="704354"/>
                </a:lnTo>
                <a:lnTo>
                  <a:pt x="2088952" y="736283"/>
                </a:lnTo>
                <a:lnTo>
                  <a:pt x="2136428" y="769208"/>
                </a:lnTo>
                <a:lnTo>
                  <a:pt x="2183904" y="803131"/>
                </a:lnTo>
                <a:lnTo>
                  <a:pt x="2231380" y="838051"/>
                </a:lnTo>
                <a:lnTo>
                  <a:pt x="2278856" y="873967"/>
                </a:lnTo>
              </a:path>
            </a:pathLst>
          </a:custGeom>
          <a:noFill/>
          <a:ln w="10001">
            <a:solidFill>
              <a:srgbClr val="E00000"/>
            </a:solidFill>
          </a:ln>
        </p:spPr>
      </p:sp>
      <p:sp>
        <p:nvSpPr>
          <p:cNvPr id="42" name="gain-7b-tip"/>
          <p:cNvSpPr>
            <a:spLocks noGrp="1"/>
          </p:cNvSpPr>
          <p:nvPr/>
        </p:nvSpPr>
        <p:spPr>
          <a:xfrm>
            <a:off x="7015284" y="1371388"/>
            <a:ext cx="82032" cy="74079"/>
          </a:xfrm>
          <a:custGeom>
            <a:avLst/>
            <a:gdLst/>
            <a:ahLst/>
            <a:cxnLst/>
            <a:pathLst>
              <a:path w="82032" h="74079">
                <a:moveTo>
                  <a:pt x="82032" y="74079"/>
                </a:moveTo>
                <a:lnTo>
                  <a:pt x="42525" y="0"/>
                </a:lnTo>
                <a:lnTo>
                  <a:pt x="0" y="56212"/>
                </a:lnTo>
                <a:close/>
              </a:path>
            </a:pathLst>
          </a:custGeom>
          <a:solidFill>
            <a:srgbClr val="E00000"/>
          </a:solidFill>
          <a:ln w="0">
            <a:noFill/>
          </a:ln>
        </p:spPr>
      </p:sp>
      <p:sp>
        <p:nvSpPr>
          <p:cNvPr id="43" name="gain-label-7b"/>
          <p:cNvSpPr>
            <a:spLocks noGrp="1"/>
          </p:cNvSpPr>
          <p:nvPr/>
        </p:nvSpPr>
        <p:spPr>
          <a:xfrm>
            <a:off x="5915025" y="628650"/>
            <a:ext cx="8286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E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650" b="1">
                <a:solidFill>
                  <a:srgbClr val="E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1.78×</a:t>
            </a:r>
            <a:endParaRPr sz="1650" b="1">
              <a:solidFill>
                <a:srgbClr val="E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4" name="title-c"/>
          <p:cNvSpPr>
            <a:spLocks noGrp="1"/>
          </p:cNvSpPr>
          <p:nvPr/>
        </p:nvSpPr>
        <p:spPr>
          <a:xfrm>
            <a:off x="609600" y="2562225"/>
            <a:ext cx="29527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7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(c) Zero-hit overhead</a:t>
            </a:r>
            <a:endParaRPr sz="17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5" name="mean-overhead"/>
          <p:cNvSpPr>
            <a:spLocks noGrp="1"/>
          </p:cNvSpPr>
          <p:nvPr/>
        </p:nvSpPr>
        <p:spPr>
          <a:xfrm>
            <a:off x="4762500" y="2571750"/>
            <a:ext cx="27051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500" b="0">
                <a:solidFill>
                  <a:srgbClr val="E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E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Overall: +0.0145%</a:t>
            </a:r>
            <a:endParaRPr sz="1500" b="0">
              <a:solidFill>
                <a:srgbClr val="E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6" name="zero-frame"/>
          <p:cNvSpPr>
            <a:spLocks noGrp="1"/>
          </p:cNvSpPr>
          <p:nvPr/>
        </p:nvSpPr>
        <p:spPr>
          <a:xfrm>
            <a:off x="609600" y="2867025"/>
            <a:ext cx="6867525" cy="657225"/>
          </a:xfrm>
          <a:prstGeom prst="rect">
            <a:avLst/>
          </a:prstGeom>
          <a:solidFill>
            <a:srgbClr val="FFFFFF"/>
          </a:solidFill>
          <a:ln w="7620">
            <a:solidFill>
              <a:srgbClr val="000000"/>
            </a:solidFill>
          </a:ln>
        </p:spPr>
      </p:sp>
      <p:sp>
        <p:nvSpPr>
          <p:cNvPr id="47" name="zero-grid--0.1"/>
          <p:cNvSpPr>
            <a:spLocks noGrp="1"/>
          </p:cNvSpPr>
          <p:nvPr/>
        </p:nvSpPr>
        <p:spPr>
          <a:xfrm>
            <a:off x="609600" y="3414713"/>
            <a:ext cx="6867525" cy="0"/>
          </a:xfrm>
          <a:prstGeom prst="line">
            <a:avLst/>
          </a:prstGeom>
          <a:noFill/>
          <a:ln w="5239">
            <a:solidFill>
              <a:srgbClr val="BDBDBD"/>
            </a:solidFill>
            <a:prstDash val="dot"/>
          </a:ln>
        </p:spPr>
      </p:sp>
      <p:sp>
        <p:nvSpPr>
          <p:cNvPr id="48" name="zero-y--0.1"/>
          <p:cNvSpPr>
            <a:spLocks noGrp="1"/>
          </p:cNvSpPr>
          <p:nvPr/>
        </p:nvSpPr>
        <p:spPr>
          <a:xfrm>
            <a:off x="190500" y="3319463"/>
            <a:ext cx="35242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−0.1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49" name="zero-grid-0"/>
          <p:cNvSpPr>
            <a:spLocks noGrp="1"/>
          </p:cNvSpPr>
          <p:nvPr/>
        </p:nvSpPr>
        <p:spPr>
          <a:xfrm>
            <a:off x="609600" y="3195638"/>
            <a:ext cx="6867525" cy="0"/>
          </a:xfrm>
          <a:prstGeom prst="line">
            <a:avLst/>
          </a:prstGeom>
          <a:noFill/>
          <a:ln w="7620">
            <a:solidFill>
              <a:srgbClr val="777777"/>
            </a:solidFill>
            <a:prstDash val="dot"/>
          </a:ln>
        </p:spPr>
      </p:sp>
      <p:sp>
        <p:nvSpPr>
          <p:cNvPr id="50" name="zero-y-0"/>
          <p:cNvSpPr>
            <a:spLocks noGrp="1"/>
          </p:cNvSpPr>
          <p:nvPr/>
        </p:nvSpPr>
        <p:spPr>
          <a:xfrm>
            <a:off x="190500" y="3100388"/>
            <a:ext cx="35242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1" name="zero-grid-0.1"/>
          <p:cNvSpPr>
            <a:spLocks noGrp="1"/>
          </p:cNvSpPr>
          <p:nvPr/>
        </p:nvSpPr>
        <p:spPr>
          <a:xfrm>
            <a:off x="609600" y="2976563"/>
            <a:ext cx="6867525" cy="0"/>
          </a:xfrm>
          <a:prstGeom prst="line">
            <a:avLst/>
          </a:prstGeom>
          <a:noFill/>
          <a:ln w="5239">
            <a:solidFill>
              <a:srgbClr val="BDBDBD"/>
            </a:solidFill>
            <a:prstDash val="dot"/>
          </a:ln>
        </p:spPr>
      </p:sp>
      <p:sp>
        <p:nvSpPr>
          <p:cNvPr id="52" name="zero-y-0.1"/>
          <p:cNvSpPr>
            <a:spLocks noGrp="1"/>
          </p:cNvSpPr>
          <p:nvPr/>
        </p:nvSpPr>
        <p:spPr>
          <a:xfrm>
            <a:off x="190500" y="2881313"/>
            <a:ext cx="352425" cy="190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+0.1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3" name="zero-axis"/>
          <p:cNvSpPr>
            <a:spLocks noGrp="1"/>
          </p:cNvSpPr>
          <p:nvPr/>
        </p:nvSpPr>
        <p:spPr>
          <a:xfrm rot="16200000">
            <a:off x="-438150" y="3081338"/>
            <a:ext cx="112395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425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Δ time (%)</a:t>
            </a:r>
            <a:endParaRPr sz="1425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4" name="zero-x-1"/>
          <p:cNvSpPr>
            <a:spLocks noGrp="1"/>
          </p:cNvSpPr>
          <p:nvPr/>
        </p:nvSpPr>
        <p:spPr>
          <a:xfrm>
            <a:off x="667068" y="3533775"/>
            <a:ext cx="3429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5" name="zero-x-5"/>
          <p:cNvSpPr>
            <a:spLocks noGrp="1"/>
          </p:cNvSpPr>
          <p:nvPr/>
        </p:nvSpPr>
        <p:spPr>
          <a:xfrm>
            <a:off x="2498408" y="3533775"/>
            <a:ext cx="3429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5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6" name="zero-x-10"/>
          <p:cNvSpPr>
            <a:spLocks noGrp="1"/>
          </p:cNvSpPr>
          <p:nvPr/>
        </p:nvSpPr>
        <p:spPr>
          <a:xfrm>
            <a:off x="4787583" y="3533775"/>
            <a:ext cx="3429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7" name="zero-x-15"/>
          <p:cNvSpPr>
            <a:spLocks noGrp="1"/>
          </p:cNvSpPr>
          <p:nvPr/>
        </p:nvSpPr>
        <p:spPr>
          <a:xfrm>
            <a:off x="7076758" y="3533775"/>
            <a:ext cx="342900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35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15</a:t>
            </a:r>
            <a:endParaRPr sz="135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8" name="zero-x-axis"/>
          <p:cNvSpPr>
            <a:spLocks noGrp="1"/>
          </p:cNvSpPr>
          <p:nvPr/>
        </p:nvSpPr>
        <p:spPr>
          <a:xfrm>
            <a:off x="609600" y="3695700"/>
            <a:ext cx="68675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defRPr>
            </a:pPr>
            <a:r>
              <a:rPr sz="1500" b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Prompt–seed pair</a:t>
            </a:r>
            <a:endParaRPr sz="1500" b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9" name="overall-overhead-line"/>
          <p:cNvSpPr>
            <a:spLocks noGrp="1"/>
          </p:cNvSpPr>
          <p:nvPr/>
        </p:nvSpPr>
        <p:spPr>
          <a:xfrm>
            <a:off x="609600" y="3163860"/>
            <a:ext cx="6867525" cy="0"/>
          </a:xfrm>
          <a:prstGeom prst="line">
            <a:avLst/>
          </a:prstGeom>
          <a:noFill/>
          <a:ln w="8573">
            <a:solidFill>
              <a:srgbClr val="E00000"/>
            </a:solidFill>
            <a:prstDash val="dash"/>
          </a:ln>
        </p:spPr>
      </p:sp>
      <p:graphicFrame>
        <p:nvGraphicFramePr>
          <p:cNvPr id="120" name="Chart"/>
          <p:cNvGraphicFramePr/>
          <p:nvPr/>
        </p:nvGraphicFramePr>
        <p:xfrm>
          <a:off x="609600" y="2867025"/>
          <a:ext cx="6867525" cy="65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229</Words>
  <Application>WPS Spreadsheets</Application>
  <PresentationFormat>Converted Presentation</PresentationFormat>
  <Paragraphs>74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Times New Roman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Times New Roman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anthony</cp:lastModifiedBy>
  <cp:revision>1</cp:revision>
  <dcterms:created xsi:type="dcterms:W3CDTF">2026-09-23T07:18:44Z</dcterms:created>
  <dcterms:modified xsi:type="dcterms:W3CDTF">2026-09-23T07:18:44Z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5B606A7ACB069435547DB36A37EADC14_42</vt:lpwstr>
  </property>
  <property fmtid="{D5CDD505-2E9C-101B-9397-08002B2CF9AE}" pid="3" name="KSOProductBuildVer">
    <vt:lpwstr>1033-6.14.0.8924</vt:lpwstr>
  </property>
</Properties>
</file>