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16764000" cy="5715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DepGraph-U overview on Show-o2. The model architecture, selected acceleration policies, and execution rewrites are distinct layers of the diagram.</a:t>
            </a:r>
          </a:p>
          <a:p>
            <a:r>
              <a:t>The left upper example assumes a selected Head-A caching policy with cache selection after upstream producers. It is not an intrinsic cache of the unmodified model. CADD moves the eligible decision before those producers while preserving the selected cache policy and required state effects.</a:t>
            </a:r>
          </a:p>
          <a:p>
            <a:r>
              <a:t>The left lower example concerns compatible KV management under periodic dynamic layer skipping (DLS). Selection and rebuilding can consume all calls of a short answer before incremental reuse becomes reachable. It is not a universal property of standard fixed-graph KV.</a:t>
            </a:r>
          </a:p>
          <a:p>
            <a:r>
              <a:t>The evaluated cache, DLS, permanent FFN pruning and token pruning policies were instantiated using FlashU. Their provenance must remain cited in the accompanying paper. CADD and policy-compatible KV management are the execution changes shown here. Standard KV and the adopted policies are not new contributions.</a:t>
            </a:r>
          </a:p>
          <a:p>
            <a:r>
              <a:t>CADD checks the implemented enablement/configuration, eligible cache hit, DLS-recalibration and guidance conditions. It preserves Head B's cache input, current timestep, modality spans, output transform and sampler. Fallback retains policy computation and state updates. Any operator with required state or RNG effects remains live.</a:t>
            </a:r>
          </a:p>
          <a:p>
            <a:r>
              <a:t>VocabBypass applies to remaining image calls that execute the trunk and do not require text logits. Exact-DLS preserves the selected DLS policy. Stable-Graph disables DLS while retaining selected fixed FFN/token pruning, so outputs can change.</a:t>
            </a:r>
          </a:p>
          <a:p>
            <a:r>
              <a:t>Sources: paper_rewrite_20260908/evidence/executed_generation_patch.py; paper_rewrite_20260908/appendix_sync_v6_20260922/source/sec/3_method.tex; remote_experiments/understanding_audit_20260904/method_code/modeling_showo2_qwen2_5.py.</a:t>
            </a:r>
          </a:p>
          <a:p>
            <a:r>
              <a:t>The figure reports no measured speedup relative to native Show-o2 and makes no claim of automatic graph discovery.</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38" name="title-a"/>
          <p:cNvSpPr>
            <a:spLocks noGrp="1"/>
          </p:cNvSpPr>
          <p:nvPr/>
        </p:nvSpPr>
        <p:spPr>
          <a:xfrm>
            <a:off x="228600" y="114300"/>
            <a:ext cx="4838700" cy="361950"/>
          </a:xfrm>
          <a:prstGeom prst="rect">
            <a:avLst/>
          </a:prstGeom>
          <a:noFill/>
          <a:ln w="0">
            <a:noFill/>
            <a:prstDash val="solid"/>
          </a:ln>
        </p:spPr>
        <p:txBody>
          <a:bodyPr wrap="none" lIns="0" tIns="0" rIns="0" bIns="0" anchor="ctr">
            <a:noAutofit/>
          </a:bodyPr>
          <a:lstStyle/>
          <a:p>
            <a:pPr algn="l">
              <a:defRPr sz="2325" b="1" i="1">
                <a:solidFill>
                  <a:srgbClr val="202428"/>
                </a:solidFill>
                <a:latin typeface="Times New Roman" panose="02020603050405020304"/>
                <a:ea typeface="Times New Roman" panose="02020603050405020304"/>
                <a:cs typeface="Times New Roman" panose="02020603050405020304"/>
              </a:defRPr>
            </a:pPr>
            <a:r>
              <a:rPr sz="2325" b="1" i="1">
                <a:solidFill>
                  <a:srgbClr val="202428"/>
                </a:solidFill>
                <a:latin typeface="Times New Roman" panose="02020603050405020304"/>
                <a:ea typeface="Times New Roman" panose="02020603050405020304"/>
                <a:cs typeface="Times New Roman" panose="02020603050405020304"/>
              </a:rPr>
              <a:t>(a) Task- and policy-dependent work</a:t>
            </a:r>
            <a:endParaRPr sz="2325" b="1" i="1">
              <a:solidFill>
                <a:srgbClr val="202428"/>
              </a:solidFill>
              <a:latin typeface="Times New Roman" panose="02020603050405020304"/>
              <a:ea typeface="Times New Roman" panose="02020603050405020304"/>
              <a:cs typeface="Times New Roman" panose="02020603050405020304"/>
            </a:endParaRPr>
          </a:p>
        </p:txBody>
      </p:sp>
      <p:sp>
        <p:nvSpPr>
          <p:cNvPr id="2" name="title-b"/>
          <p:cNvSpPr>
            <a:spLocks noGrp="1"/>
          </p:cNvSpPr>
          <p:nvPr/>
        </p:nvSpPr>
        <p:spPr>
          <a:xfrm>
            <a:off x="10953750" y="114300"/>
            <a:ext cx="5600700" cy="361950"/>
          </a:xfrm>
          <a:prstGeom prst="rect">
            <a:avLst/>
          </a:prstGeom>
          <a:noFill/>
          <a:ln w="0">
            <a:noFill/>
            <a:prstDash val="solid"/>
          </a:ln>
        </p:spPr>
        <p:txBody>
          <a:bodyPr wrap="none" lIns="0" tIns="0" rIns="0" bIns="0" anchor="ctr">
            <a:noAutofit/>
          </a:bodyPr>
          <a:lstStyle/>
          <a:p>
            <a:pPr algn="l">
              <a:defRPr sz="2325" b="1" i="1">
                <a:solidFill>
                  <a:srgbClr val="202428"/>
                </a:solidFill>
                <a:latin typeface="Times New Roman" panose="02020603050405020304"/>
                <a:ea typeface="Times New Roman" panose="02020603050405020304"/>
                <a:cs typeface="Times New Roman" panose="02020603050405020304"/>
              </a:defRPr>
            </a:pPr>
            <a:r>
              <a:rPr sz="2325" b="1" i="1">
                <a:solidFill>
                  <a:srgbClr val="202428"/>
                </a:solidFill>
                <a:latin typeface="Times New Roman" panose="02020603050405020304"/>
                <a:ea typeface="Times New Roman" panose="02020603050405020304"/>
                <a:cs typeface="Times New Roman" panose="02020603050405020304"/>
              </a:rPr>
              <a:t>(b) DepGraph-U: guarded execution</a:t>
            </a:r>
            <a:endParaRPr sz="2325" b="1" i="1">
              <a:solidFill>
                <a:srgbClr val="202428"/>
              </a:solidFill>
              <a:latin typeface="Times New Roman" panose="02020603050405020304"/>
              <a:ea typeface="Times New Roman" panose="02020603050405020304"/>
              <a:cs typeface="Times New Roman" panose="02020603050405020304"/>
            </a:endParaRPr>
          </a:p>
        </p:txBody>
      </p:sp>
      <p:sp>
        <p:nvSpPr>
          <p:cNvPr id="3" name="legend-text"/>
          <p:cNvSpPr>
            <a:spLocks noGrp="1"/>
          </p:cNvSpPr>
          <p:nvPr/>
        </p:nvSpPr>
        <p:spPr>
          <a:xfrm>
            <a:off x="5353050" y="171450"/>
            <a:ext cx="200025" cy="180975"/>
          </a:xfrm>
          <a:prstGeom prst="roundRect">
            <a:avLst>
              <a:gd name="adj" fmla="val 5263"/>
            </a:avLst>
          </a:prstGeom>
          <a:solidFill>
            <a:srgbClr val="80B7B0"/>
          </a:solidFill>
          <a:ln w="9525">
            <a:solidFill>
              <a:srgbClr val="008D85"/>
            </a:solidFill>
            <a:prstDash val="solid"/>
          </a:ln>
        </p:spPr>
      </p:sp>
      <p:sp>
        <p:nvSpPr>
          <p:cNvPr id="4" name="legend-text-text"/>
          <p:cNvSpPr>
            <a:spLocks noGrp="1"/>
          </p:cNvSpPr>
          <p:nvPr/>
        </p:nvSpPr>
        <p:spPr>
          <a:xfrm>
            <a:off x="5648325" y="133350"/>
            <a:ext cx="695325" cy="266700"/>
          </a:xfrm>
          <a:prstGeom prst="rect">
            <a:avLst/>
          </a:prstGeom>
          <a:noFill/>
          <a:ln w="0">
            <a:noFill/>
            <a:prstDash val="solid"/>
          </a:ln>
        </p:spPr>
        <p:txBody>
          <a:bodyPr wrap="none" lIns="0" tIns="0" rIns="0" bIns="0" anchor="ctr">
            <a:noAutofit/>
          </a:bodyPr>
          <a:lstStyle/>
          <a:p>
            <a:pPr algn="l">
              <a:defRPr sz="1800" b="0" i="0">
                <a:solidFill>
                  <a:srgbClr val="202428"/>
                </a:solidFill>
                <a:latin typeface="Times New Roman" panose="02020603050405020304"/>
                <a:ea typeface="Times New Roman" panose="02020603050405020304"/>
                <a:cs typeface="Times New Roman" panose="02020603050405020304"/>
              </a:defRPr>
            </a:pPr>
            <a:r>
              <a:rPr sz="1800" b="0" i="0">
                <a:solidFill>
                  <a:srgbClr val="202428"/>
                </a:solidFill>
                <a:latin typeface="Times New Roman" panose="02020603050405020304"/>
                <a:ea typeface="Times New Roman" panose="02020603050405020304"/>
                <a:cs typeface="Times New Roman" panose="02020603050405020304"/>
              </a:rPr>
              <a:t>text</a:t>
            </a:r>
            <a:endParaRPr sz="1800" b="0" i="0">
              <a:solidFill>
                <a:srgbClr val="202428"/>
              </a:solidFill>
              <a:latin typeface="Times New Roman" panose="02020603050405020304"/>
              <a:ea typeface="Times New Roman" panose="02020603050405020304"/>
              <a:cs typeface="Times New Roman" panose="02020603050405020304"/>
            </a:endParaRPr>
          </a:p>
        </p:txBody>
      </p:sp>
      <p:sp>
        <p:nvSpPr>
          <p:cNvPr id="5" name="legend-vision"/>
          <p:cNvSpPr>
            <a:spLocks noGrp="1"/>
          </p:cNvSpPr>
          <p:nvPr/>
        </p:nvSpPr>
        <p:spPr>
          <a:xfrm>
            <a:off x="6410325" y="171450"/>
            <a:ext cx="200025" cy="180975"/>
          </a:xfrm>
          <a:prstGeom prst="roundRect">
            <a:avLst>
              <a:gd name="adj" fmla="val 5263"/>
            </a:avLst>
          </a:prstGeom>
          <a:solidFill>
            <a:srgbClr val="91B9D3"/>
          </a:solidFill>
          <a:ln w="9525">
            <a:solidFill>
              <a:srgbClr val="2876A4"/>
            </a:solidFill>
            <a:prstDash val="solid"/>
          </a:ln>
        </p:spPr>
      </p:sp>
      <p:sp>
        <p:nvSpPr>
          <p:cNvPr id="6" name="legend-vision-text"/>
          <p:cNvSpPr>
            <a:spLocks noGrp="1"/>
          </p:cNvSpPr>
          <p:nvPr/>
        </p:nvSpPr>
        <p:spPr>
          <a:xfrm>
            <a:off x="6705600" y="133350"/>
            <a:ext cx="933450" cy="266700"/>
          </a:xfrm>
          <a:prstGeom prst="rect">
            <a:avLst/>
          </a:prstGeom>
          <a:noFill/>
          <a:ln w="0">
            <a:noFill/>
            <a:prstDash val="solid"/>
          </a:ln>
        </p:spPr>
        <p:txBody>
          <a:bodyPr wrap="none" lIns="0" tIns="0" rIns="0" bIns="0" anchor="ctr">
            <a:noAutofit/>
          </a:bodyPr>
          <a:lstStyle/>
          <a:p>
            <a:pPr algn="l">
              <a:defRPr sz="1800" b="0" i="0">
                <a:solidFill>
                  <a:srgbClr val="202428"/>
                </a:solidFill>
                <a:latin typeface="Times New Roman" panose="02020603050405020304"/>
                <a:ea typeface="Times New Roman" panose="02020603050405020304"/>
                <a:cs typeface="Times New Roman" panose="02020603050405020304"/>
              </a:defRPr>
            </a:pPr>
            <a:r>
              <a:rPr sz="1800" b="0" i="0">
                <a:solidFill>
                  <a:srgbClr val="202428"/>
                </a:solidFill>
                <a:latin typeface="Times New Roman" panose="02020603050405020304"/>
                <a:ea typeface="Times New Roman" panose="02020603050405020304"/>
                <a:cs typeface="Times New Roman" panose="02020603050405020304"/>
              </a:rPr>
              <a:t>vision</a:t>
            </a:r>
            <a:endParaRPr sz="1800" b="0" i="0">
              <a:solidFill>
                <a:srgbClr val="202428"/>
              </a:solidFill>
              <a:latin typeface="Times New Roman" panose="02020603050405020304"/>
              <a:ea typeface="Times New Roman" panose="02020603050405020304"/>
              <a:cs typeface="Times New Roman" panose="02020603050405020304"/>
            </a:endParaRPr>
          </a:p>
        </p:txBody>
      </p:sp>
      <p:sp>
        <p:nvSpPr>
          <p:cNvPr id="7" name="legend-cached state"/>
          <p:cNvSpPr>
            <a:spLocks noGrp="1"/>
          </p:cNvSpPr>
          <p:nvPr/>
        </p:nvSpPr>
        <p:spPr>
          <a:xfrm>
            <a:off x="7734300" y="171450"/>
            <a:ext cx="200025" cy="180975"/>
          </a:xfrm>
          <a:prstGeom prst="roundRect">
            <a:avLst>
              <a:gd name="adj" fmla="val 5263"/>
            </a:avLst>
          </a:prstGeom>
          <a:solidFill>
            <a:srgbClr val="E2CEA0"/>
          </a:solidFill>
          <a:ln w="9525">
            <a:solidFill>
              <a:srgbClr val="B88B34"/>
            </a:solidFill>
            <a:prstDash val="solid"/>
          </a:ln>
        </p:spPr>
      </p:sp>
      <p:sp>
        <p:nvSpPr>
          <p:cNvPr id="8" name="legend-cached state-text"/>
          <p:cNvSpPr>
            <a:spLocks noGrp="1"/>
          </p:cNvSpPr>
          <p:nvPr/>
        </p:nvSpPr>
        <p:spPr>
          <a:xfrm>
            <a:off x="8029575" y="133350"/>
            <a:ext cx="1543050" cy="266700"/>
          </a:xfrm>
          <a:prstGeom prst="rect">
            <a:avLst/>
          </a:prstGeom>
          <a:noFill/>
          <a:ln w="0">
            <a:noFill/>
            <a:prstDash val="solid"/>
          </a:ln>
        </p:spPr>
        <p:txBody>
          <a:bodyPr wrap="none" lIns="0" tIns="0" rIns="0" bIns="0" anchor="ctr">
            <a:noAutofit/>
          </a:bodyPr>
          <a:lstStyle/>
          <a:p>
            <a:pPr algn="l">
              <a:defRPr sz="1800" b="0" i="0">
                <a:solidFill>
                  <a:srgbClr val="202428"/>
                </a:solidFill>
                <a:latin typeface="Times New Roman" panose="02020603050405020304"/>
                <a:ea typeface="Times New Roman" panose="02020603050405020304"/>
                <a:cs typeface="Times New Roman" panose="02020603050405020304"/>
              </a:defRPr>
            </a:pPr>
            <a:r>
              <a:rPr sz="1800" b="0" i="0">
                <a:solidFill>
                  <a:srgbClr val="202428"/>
                </a:solidFill>
                <a:latin typeface="Times New Roman" panose="02020603050405020304"/>
                <a:ea typeface="Times New Roman" panose="02020603050405020304"/>
                <a:cs typeface="Times New Roman" panose="02020603050405020304"/>
              </a:rPr>
              <a:t>cached state</a:t>
            </a:r>
            <a:endParaRPr sz="1800" b="0" i="0">
              <a:solidFill>
                <a:srgbClr val="202428"/>
              </a:solidFill>
              <a:latin typeface="Times New Roman" panose="02020603050405020304"/>
              <a:ea typeface="Times New Roman" panose="02020603050405020304"/>
              <a:cs typeface="Times New Roman" panose="02020603050405020304"/>
            </a:endParaRPr>
          </a:p>
        </p:txBody>
      </p:sp>
      <p:sp>
        <p:nvSpPr>
          <p:cNvPr id="9" name="observation-hit"/>
          <p:cNvSpPr>
            <a:spLocks noGrp="1"/>
          </p:cNvSpPr>
          <p:nvPr/>
        </p:nvSpPr>
        <p:spPr>
          <a:xfrm>
            <a:off x="228600" y="609600"/>
            <a:ext cx="4591050" cy="1933575"/>
          </a:xfrm>
          <a:prstGeom prst="roundRect">
            <a:avLst>
              <a:gd name="adj" fmla="val 1478"/>
            </a:avLst>
          </a:prstGeom>
          <a:solidFill>
            <a:srgbClr val="FCFCFC"/>
          </a:solidFill>
          <a:ln w="14288">
            <a:solidFill>
              <a:srgbClr val="A5ABB0"/>
            </a:solidFill>
            <a:prstDash val="dash"/>
          </a:ln>
        </p:spPr>
      </p:sp>
      <p:sp>
        <p:nvSpPr>
          <p:cNvPr id="10" name="hit-title"/>
          <p:cNvSpPr>
            <a:spLocks noGrp="1"/>
          </p:cNvSpPr>
          <p:nvPr/>
        </p:nvSpPr>
        <p:spPr>
          <a:xfrm>
            <a:off x="371475" y="666750"/>
            <a:ext cx="4305300" cy="276225"/>
          </a:xfrm>
          <a:prstGeom prst="rect">
            <a:avLst/>
          </a:prstGeom>
          <a:noFill/>
          <a:ln w="0">
            <a:noFill/>
            <a:prstDash val="solid"/>
          </a:ln>
        </p:spPr>
        <p:txBody>
          <a:bodyPr wrap="none" lIns="0" tIns="0" rIns="0" bIns="0" anchor="ctr">
            <a:noAutofit/>
          </a:bodyPr>
          <a:lstStyle/>
          <a:p>
            <a:pPr algn="ctr">
              <a:defRPr sz="1950" b="1" i="0">
                <a:solidFill>
                  <a:srgbClr val="62696E"/>
                </a:solidFill>
                <a:latin typeface="Times New Roman" panose="02020603050405020304"/>
                <a:ea typeface="Times New Roman" panose="02020603050405020304"/>
                <a:cs typeface="Times New Roman" panose="02020603050405020304"/>
              </a:defRPr>
            </a:pPr>
            <a:r>
              <a:rPr sz="1950" b="1" i="0">
                <a:solidFill>
                  <a:srgbClr val="62696E"/>
                </a:solidFill>
                <a:latin typeface="Times New Roman" panose="02020603050405020304"/>
                <a:ea typeface="Times New Roman" panose="02020603050405020304"/>
                <a:cs typeface="Times New Roman" panose="02020603050405020304"/>
              </a:rPr>
              <a:t>Cache reuse: computed ≠ consumed</a:t>
            </a:r>
            <a:endParaRPr sz="1950" b="1" i="0">
              <a:solidFill>
                <a:srgbClr val="62696E"/>
              </a:solidFill>
              <a:latin typeface="Times New Roman" panose="02020603050405020304"/>
              <a:ea typeface="Times New Roman" panose="02020603050405020304"/>
              <a:cs typeface="Times New Roman" panose="02020603050405020304"/>
            </a:endParaRPr>
          </a:p>
        </p:txBody>
      </p:sp>
      <p:sp>
        <p:nvSpPr>
          <p:cNvPr id="11" name="hit-col0"/>
          <p:cNvSpPr>
            <a:spLocks noGrp="1"/>
          </p:cNvSpPr>
          <p:nvPr/>
        </p:nvSpPr>
        <p:spPr>
          <a:xfrm>
            <a:off x="1590675" y="1009650"/>
            <a:ext cx="895350" cy="257175"/>
          </a:xfrm>
          <a:prstGeom prst="rect">
            <a:avLst/>
          </a:prstGeom>
          <a:noFill/>
          <a:ln w="0">
            <a:noFill/>
            <a:prstDash val="solid"/>
          </a:ln>
        </p:spPr>
        <p:txBody>
          <a:bodyPr wrap="none" lIns="0" tIns="0" rIns="0" bIns="0" anchor="ctr">
            <a:noAutofit/>
          </a:bodyPr>
          <a:lstStyle/>
          <a:p>
            <a:pPr algn="ctr">
              <a:defRPr sz="1875" b="0" i="0">
                <a:solidFill>
                  <a:srgbClr val="202428"/>
                </a:solidFill>
                <a:latin typeface="Times New Roman" panose="02020603050405020304"/>
                <a:ea typeface="Times New Roman" panose="02020603050405020304"/>
                <a:cs typeface="Times New Roman" panose="02020603050405020304"/>
              </a:defRPr>
            </a:pPr>
            <a:r>
              <a:rPr sz="1875" b="0" i="0">
                <a:solidFill>
                  <a:srgbClr val="202428"/>
                </a:solidFill>
                <a:latin typeface="Times New Roman" panose="02020603050405020304"/>
                <a:ea typeface="Times New Roman" panose="02020603050405020304"/>
                <a:cs typeface="Times New Roman" panose="02020603050405020304"/>
              </a:rPr>
              <a:t>Trunk</a:t>
            </a:r>
            <a:endParaRPr sz="1875" b="0" i="0">
              <a:solidFill>
                <a:srgbClr val="202428"/>
              </a:solidFill>
              <a:latin typeface="Times New Roman" panose="02020603050405020304"/>
              <a:ea typeface="Times New Roman" panose="02020603050405020304"/>
              <a:cs typeface="Times New Roman" panose="02020603050405020304"/>
            </a:endParaRPr>
          </a:p>
        </p:txBody>
      </p:sp>
      <p:sp>
        <p:nvSpPr>
          <p:cNvPr id="12" name="hit-col1"/>
          <p:cNvSpPr>
            <a:spLocks noGrp="1"/>
          </p:cNvSpPr>
          <p:nvPr/>
        </p:nvSpPr>
        <p:spPr>
          <a:xfrm>
            <a:off x="2486025" y="1009650"/>
            <a:ext cx="895350" cy="257175"/>
          </a:xfrm>
          <a:prstGeom prst="rect">
            <a:avLst/>
          </a:prstGeom>
          <a:noFill/>
          <a:ln w="0">
            <a:noFill/>
            <a:prstDash val="solid"/>
          </a:ln>
        </p:spPr>
        <p:txBody>
          <a:bodyPr wrap="none" lIns="0" tIns="0" rIns="0" bIns="0" anchor="ctr">
            <a:noAutofit/>
          </a:bodyPr>
          <a:lstStyle/>
          <a:p>
            <a:pPr algn="ctr">
              <a:defRPr sz="1875" b="0" i="0">
                <a:solidFill>
                  <a:srgbClr val="202428"/>
                </a:solidFill>
                <a:latin typeface="Times New Roman" panose="02020603050405020304"/>
                <a:ea typeface="Times New Roman" panose="02020603050405020304"/>
                <a:cs typeface="Times New Roman" panose="02020603050405020304"/>
              </a:defRPr>
            </a:pPr>
            <a:r>
              <a:rPr sz="1875" b="0" i="0">
                <a:solidFill>
                  <a:srgbClr val="202428"/>
                </a:solidFill>
                <a:latin typeface="Times New Roman" panose="02020603050405020304"/>
                <a:ea typeface="Times New Roman" panose="02020603050405020304"/>
                <a:cs typeface="Times New Roman" panose="02020603050405020304"/>
              </a:rPr>
              <a:t>Head B</a:t>
            </a:r>
            <a:endParaRPr sz="1875" b="0" i="0">
              <a:solidFill>
                <a:srgbClr val="202428"/>
              </a:solidFill>
              <a:latin typeface="Times New Roman" panose="02020603050405020304"/>
              <a:ea typeface="Times New Roman" panose="02020603050405020304"/>
              <a:cs typeface="Times New Roman" panose="02020603050405020304"/>
            </a:endParaRPr>
          </a:p>
        </p:txBody>
      </p:sp>
      <p:sp>
        <p:nvSpPr>
          <p:cNvPr id="13" name="hit-col2"/>
          <p:cNvSpPr>
            <a:spLocks noGrp="1"/>
          </p:cNvSpPr>
          <p:nvPr/>
        </p:nvSpPr>
        <p:spPr>
          <a:xfrm>
            <a:off x="3476625" y="1009650"/>
            <a:ext cx="895350" cy="257175"/>
          </a:xfrm>
          <a:prstGeom prst="rect">
            <a:avLst/>
          </a:prstGeom>
          <a:noFill/>
          <a:ln w="0">
            <a:noFill/>
            <a:prstDash val="solid"/>
          </a:ln>
        </p:spPr>
        <p:txBody>
          <a:bodyPr wrap="none" lIns="0" tIns="0" rIns="0" bIns="0" anchor="ctr">
            <a:noAutofit/>
          </a:bodyPr>
          <a:lstStyle/>
          <a:p>
            <a:pPr algn="ctr">
              <a:defRPr sz="1875" b="0" i="0">
                <a:solidFill>
                  <a:srgbClr val="202428"/>
                </a:solidFill>
                <a:latin typeface="Times New Roman" panose="02020603050405020304"/>
                <a:ea typeface="Times New Roman" panose="02020603050405020304"/>
                <a:cs typeface="Times New Roman" panose="02020603050405020304"/>
              </a:defRPr>
            </a:pPr>
            <a:r>
              <a:rPr sz="1875" b="0" i="0">
                <a:solidFill>
                  <a:srgbClr val="202428"/>
                </a:solidFill>
                <a:latin typeface="Times New Roman" panose="02020603050405020304"/>
                <a:ea typeface="Times New Roman" panose="02020603050405020304"/>
                <a:cs typeface="Times New Roman" panose="02020603050405020304"/>
              </a:rPr>
              <a:t>Vocab.</a:t>
            </a:r>
            <a:endParaRPr sz="1875" b="0" i="0">
              <a:solidFill>
                <a:srgbClr val="202428"/>
              </a:solidFill>
              <a:latin typeface="Times New Roman" panose="02020603050405020304"/>
              <a:ea typeface="Times New Roman" panose="02020603050405020304"/>
              <a:cs typeface="Times New Roman" panose="02020603050405020304"/>
            </a:endParaRPr>
          </a:p>
        </p:txBody>
      </p:sp>
      <p:sp>
        <p:nvSpPr>
          <p:cNvPr id="14" name="executed"/>
          <p:cNvSpPr>
            <a:spLocks noGrp="1"/>
          </p:cNvSpPr>
          <p:nvPr/>
        </p:nvSpPr>
        <p:spPr>
          <a:xfrm>
            <a:off x="390525" y="1352550"/>
            <a:ext cx="1209675" cy="257175"/>
          </a:xfrm>
          <a:prstGeom prst="rect">
            <a:avLst/>
          </a:prstGeom>
          <a:noFill/>
          <a:ln w="0">
            <a:noFill/>
            <a:prstDash val="solid"/>
          </a:ln>
        </p:spPr>
        <p:txBody>
          <a:bodyPr wrap="none" lIns="0" tIns="0" rIns="0" bIns="0" anchor="ctr">
            <a:noAutofit/>
          </a:bodyPr>
          <a:lstStyle/>
          <a:p>
            <a:pPr algn="l">
              <a:defRPr sz="1875" b="0" i="0">
                <a:solidFill>
                  <a:srgbClr val="202428"/>
                </a:solidFill>
                <a:latin typeface="Times New Roman" panose="02020603050405020304"/>
                <a:ea typeface="Times New Roman" panose="02020603050405020304"/>
                <a:cs typeface="Times New Roman" panose="02020603050405020304"/>
              </a:defRPr>
            </a:pPr>
            <a:r>
              <a:rPr sz="1875" b="0" i="0">
                <a:solidFill>
                  <a:srgbClr val="202428"/>
                </a:solidFill>
                <a:latin typeface="Times New Roman" panose="02020603050405020304"/>
                <a:ea typeface="Times New Roman" panose="02020603050405020304"/>
                <a:cs typeface="Times New Roman" panose="02020603050405020304"/>
              </a:rPr>
              <a:t>Executed</a:t>
            </a:r>
            <a:endParaRPr sz="1875" b="0" i="0">
              <a:solidFill>
                <a:srgbClr val="202428"/>
              </a:solidFill>
              <a:latin typeface="Times New Roman" panose="02020603050405020304"/>
              <a:ea typeface="Times New Roman" panose="02020603050405020304"/>
              <a:cs typeface="Times New Roman" panose="02020603050405020304"/>
            </a:endParaRPr>
          </a:p>
        </p:txBody>
      </p:sp>
      <p:sp>
        <p:nvSpPr>
          <p:cNvPr id="15" name="cache-policy-baseline"/>
          <p:cNvSpPr>
            <a:spLocks noGrp="1"/>
          </p:cNvSpPr>
          <p:nvPr/>
        </p:nvSpPr>
        <p:spPr>
          <a:xfrm>
            <a:off x="390525" y="1600200"/>
            <a:ext cx="1333500" cy="190500"/>
          </a:xfrm>
          <a:prstGeom prst="rect">
            <a:avLst/>
          </a:prstGeom>
          <a:noFill/>
          <a:ln w="0">
            <a:noFill/>
            <a:prstDash val="solid"/>
          </a:ln>
        </p:spPr>
        <p:txBody>
          <a:bodyPr wrap="none" lIns="0" tIns="0" rIns="0" bIns="0" anchor="ctr">
            <a:noAutofit/>
          </a:bodyPr>
          <a:lstStyle/>
          <a:p>
            <a:pPr algn="l">
              <a:defRPr sz="1425" b="0" i="1">
                <a:solidFill>
                  <a:srgbClr val="62696E"/>
                </a:solidFill>
                <a:latin typeface="Times New Roman" panose="02020603050405020304"/>
                <a:ea typeface="Times New Roman" panose="02020603050405020304"/>
                <a:cs typeface="Times New Roman" panose="02020603050405020304"/>
              </a:defRPr>
            </a:pPr>
            <a:r>
              <a:rPr sz="1425" b="0" i="1">
                <a:solidFill>
                  <a:srgbClr val="62696E"/>
                </a:solidFill>
                <a:latin typeface="Times New Roman" panose="02020603050405020304"/>
                <a:ea typeface="Times New Roman" panose="02020603050405020304"/>
                <a:cs typeface="Times New Roman" panose="02020603050405020304"/>
              </a:rPr>
              <a:t>(late dispatch)</a:t>
            </a:r>
            <a:endParaRPr sz="1425" b="0" i="1">
              <a:solidFill>
                <a:srgbClr val="62696E"/>
              </a:solidFill>
              <a:latin typeface="Times New Roman" panose="02020603050405020304"/>
              <a:ea typeface="Times New Roman" panose="02020603050405020304"/>
              <a:cs typeface="Times New Roman" panose="02020603050405020304"/>
            </a:endParaRPr>
          </a:p>
        </p:txBody>
      </p:sp>
      <p:sp>
        <p:nvSpPr>
          <p:cNvPr id="16" name="executed-0"/>
          <p:cNvSpPr>
            <a:spLocks noGrp="1"/>
          </p:cNvSpPr>
          <p:nvPr/>
        </p:nvSpPr>
        <p:spPr>
          <a:xfrm>
            <a:off x="1790700" y="1352550"/>
            <a:ext cx="485775" cy="276225"/>
          </a:xfrm>
          <a:prstGeom prst="roundRect">
            <a:avLst>
              <a:gd name="adj" fmla="val 3448"/>
            </a:avLst>
          </a:prstGeom>
          <a:solidFill>
            <a:srgbClr val="D2D5D7"/>
          </a:solidFill>
          <a:ln w="11430">
            <a:solidFill>
              <a:srgbClr val="7F8589"/>
            </a:solidFill>
            <a:prstDash val="solid"/>
          </a:ln>
        </p:spPr>
      </p:sp>
      <p:sp>
        <p:nvSpPr>
          <p:cNvPr id="17" name="executed-1"/>
          <p:cNvSpPr>
            <a:spLocks noGrp="1"/>
          </p:cNvSpPr>
          <p:nvPr/>
        </p:nvSpPr>
        <p:spPr>
          <a:xfrm>
            <a:off x="2686050" y="1352550"/>
            <a:ext cx="485775" cy="276225"/>
          </a:xfrm>
          <a:prstGeom prst="roundRect">
            <a:avLst>
              <a:gd name="adj" fmla="val 3448"/>
            </a:avLst>
          </a:prstGeom>
          <a:solidFill>
            <a:srgbClr val="D2D5D7"/>
          </a:solidFill>
          <a:ln w="11430">
            <a:solidFill>
              <a:srgbClr val="7F8589"/>
            </a:solidFill>
            <a:prstDash val="solid"/>
          </a:ln>
        </p:spPr>
      </p:sp>
      <p:sp>
        <p:nvSpPr>
          <p:cNvPr id="18" name="executed-2"/>
          <p:cNvSpPr>
            <a:spLocks noGrp="1"/>
          </p:cNvSpPr>
          <p:nvPr/>
        </p:nvSpPr>
        <p:spPr>
          <a:xfrm>
            <a:off x="3676650" y="1352550"/>
            <a:ext cx="485775" cy="276225"/>
          </a:xfrm>
          <a:prstGeom prst="roundRect">
            <a:avLst>
              <a:gd name="adj" fmla="val 3448"/>
            </a:avLst>
          </a:prstGeom>
          <a:solidFill>
            <a:srgbClr val="D2D5D7"/>
          </a:solidFill>
          <a:ln w="11430">
            <a:solidFill>
              <a:srgbClr val="7F8589"/>
            </a:solidFill>
            <a:prstDash val="solid"/>
          </a:ln>
        </p:spPr>
      </p:sp>
      <p:sp>
        <p:nvSpPr>
          <p:cNvPr id="19" name="cache-source"/>
          <p:cNvSpPr>
            <a:spLocks noGrp="1"/>
          </p:cNvSpPr>
          <p:nvPr/>
        </p:nvSpPr>
        <p:spPr>
          <a:xfrm>
            <a:off x="2447925" y="1714500"/>
            <a:ext cx="1114425" cy="228600"/>
          </a:xfrm>
          <a:prstGeom prst="roundRect">
            <a:avLst>
              <a:gd name="adj" fmla="val 12500"/>
            </a:avLst>
          </a:prstGeom>
          <a:solidFill>
            <a:srgbClr val="F4E7C8"/>
          </a:solidFill>
          <a:ln w="14288">
            <a:solidFill>
              <a:srgbClr val="B88B34"/>
            </a:solidFill>
            <a:prstDash val="solid"/>
          </a:ln>
        </p:spPr>
      </p:sp>
      <p:sp>
        <p:nvSpPr>
          <p:cNvPr id="20" name="cache-source-label"/>
          <p:cNvSpPr>
            <a:spLocks noGrp="1"/>
          </p:cNvSpPr>
          <p:nvPr/>
        </p:nvSpPr>
        <p:spPr>
          <a:xfrm>
            <a:off x="2476500" y="1724025"/>
            <a:ext cx="1057275" cy="209550"/>
          </a:xfrm>
          <a:prstGeom prst="rect">
            <a:avLst/>
          </a:prstGeom>
          <a:noFill/>
          <a:ln w="0">
            <a:noFill/>
            <a:prstDash val="solid"/>
          </a:ln>
        </p:spPr>
        <p:txBody>
          <a:bodyPr wrap="none" lIns="0" tIns="0" rIns="0" bIns="0" anchor="ctr">
            <a:noAutofit/>
          </a:bodyPr>
          <a:lstStyle/>
          <a:p>
            <a:pPr algn="ctr">
              <a:defRPr sz="1500" b="0" i="0">
                <a:solidFill>
                  <a:srgbClr val="202428"/>
                </a:solidFill>
                <a:latin typeface="Times New Roman" panose="02020603050405020304"/>
                <a:ea typeface="Times New Roman" panose="02020603050405020304"/>
                <a:cs typeface="Times New Roman" panose="02020603050405020304"/>
              </a:defRPr>
            </a:pPr>
            <a:r>
              <a:rPr sz="1500" b="0" i="0">
                <a:solidFill>
                  <a:srgbClr val="202428"/>
                </a:solidFill>
                <a:latin typeface="Times New Roman" panose="02020603050405020304"/>
                <a:ea typeface="Times New Roman" panose="02020603050405020304"/>
                <a:cs typeface="Times New Roman" panose="02020603050405020304"/>
              </a:rPr>
              <a:t>Head-A cache</a:t>
            </a:r>
            <a:endParaRPr sz="1500" b="0" i="0">
              <a:solidFill>
                <a:srgbClr val="202428"/>
              </a:solidFill>
              <a:latin typeface="Times New Roman" panose="02020603050405020304"/>
              <a:ea typeface="Times New Roman" panose="02020603050405020304"/>
              <a:cs typeface="Times New Roman" panose="02020603050405020304"/>
            </a:endParaRPr>
          </a:p>
        </p:txBody>
      </p:sp>
      <p:sp>
        <p:nvSpPr>
          <p:cNvPr id="21" name="cache-to-needed-a"/>
          <p:cNvSpPr>
            <a:spLocks noGrp="1"/>
          </p:cNvSpPr>
          <p:nvPr/>
        </p:nvSpPr>
        <p:spPr>
          <a:xfrm>
            <a:off x="3000375" y="1952625"/>
            <a:ext cx="953" cy="953"/>
          </a:xfrm>
          <a:prstGeom prst="rect">
            <a:avLst/>
          </a:prstGeom>
          <a:noFill/>
          <a:ln w="0">
            <a:noFill/>
            <a:prstDash val="solid"/>
          </a:ln>
        </p:spPr>
      </p:sp>
      <p:sp>
        <p:nvSpPr>
          <p:cNvPr id="22" name="cache-to-needed-b"/>
          <p:cNvSpPr>
            <a:spLocks noGrp="1"/>
          </p:cNvSpPr>
          <p:nvPr/>
        </p:nvSpPr>
        <p:spPr>
          <a:xfrm>
            <a:off x="3000375" y="2038350"/>
            <a:ext cx="953" cy="953"/>
          </a:xfrm>
          <a:prstGeom prst="rect">
            <a:avLst/>
          </a:prstGeom>
          <a:noFill/>
          <a:ln w="0">
            <a:noFill/>
            <a:prstDash val="solid"/>
          </a:ln>
        </p:spPr>
      </p:sp>
      <p:cxnSp>
        <p:nvCxnSpPr>
          <p:cNvPr id="260" name="cache-to-needed"/>
          <p:cNvCxnSpPr>
            <a:stCxn id="21" idx="3"/>
            <a:endCxn id="22" idx="1"/>
          </p:cNvCxnSpPr>
          <p:nvPr/>
        </p:nvCxnSpPr>
        <p:spPr>
          <a:xfrm flipH="1">
            <a:off x="3000375" y="1953102"/>
            <a:ext cx="953" cy="85725"/>
          </a:xfrm>
          <a:prstGeom prst="straightConnector1">
            <a:avLst/>
          </a:prstGeom>
          <a:ln w="15240">
            <a:solidFill>
              <a:srgbClr val="B88B34"/>
            </a:solidFill>
            <a:prstDash val="solid"/>
            <a:tailEnd type="triangle" w="sm" len="sm"/>
          </a:ln>
        </p:spPr>
      </p:cxnSp>
      <p:sp>
        <p:nvSpPr>
          <p:cNvPr id="24" name="needed"/>
          <p:cNvSpPr>
            <a:spLocks noGrp="1"/>
          </p:cNvSpPr>
          <p:nvPr/>
        </p:nvSpPr>
        <p:spPr>
          <a:xfrm>
            <a:off x="390525" y="2038350"/>
            <a:ext cx="1209675" cy="266700"/>
          </a:xfrm>
          <a:prstGeom prst="rect">
            <a:avLst/>
          </a:prstGeom>
          <a:noFill/>
          <a:ln w="0">
            <a:noFill/>
            <a:prstDash val="solid"/>
          </a:ln>
        </p:spPr>
        <p:txBody>
          <a:bodyPr wrap="none" lIns="0" tIns="0" rIns="0" bIns="0" anchor="ctr">
            <a:noAutofit/>
          </a:bodyPr>
          <a:lstStyle/>
          <a:p>
            <a:pPr algn="l">
              <a:defRPr sz="1875" b="0" i="0">
                <a:solidFill>
                  <a:srgbClr val="202428"/>
                </a:solidFill>
                <a:latin typeface="Times New Roman" panose="02020603050405020304"/>
                <a:ea typeface="Times New Roman" panose="02020603050405020304"/>
                <a:cs typeface="Times New Roman" panose="02020603050405020304"/>
              </a:defRPr>
            </a:pPr>
            <a:r>
              <a:rPr sz="1875" b="0" i="0">
                <a:solidFill>
                  <a:srgbClr val="202428"/>
                </a:solidFill>
                <a:latin typeface="Times New Roman" panose="02020603050405020304"/>
                <a:ea typeface="Times New Roman" panose="02020603050405020304"/>
                <a:cs typeface="Times New Roman" panose="02020603050405020304"/>
              </a:rPr>
              <a:t>Required</a:t>
            </a:r>
            <a:endParaRPr sz="1875" b="0" i="0">
              <a:solidFill>
                <a:srgbClr val="202428"/>
              </a:solidFill>
              <a:latin typeface="Times New Roman" panose="02020603050405020304"/>
              <a:ea typeface="Times New Roman" panose="02020603050405020304"/>
              <a:cs typeface="Times New Roman" panose="02020603050405020304"/>
            </a:endParaRPr>
          </a:p>
        </p:txBody>
      </p:sp>
      <p:sp>
        <p:nvSpPr>
          <p:cNvPr id="25" name="needed-0"/>
          <p:cNvSpPr>
            <a:spLocks noGrp="1"/>
          </p:cNvSpPr>
          <p:nvPr/>
        </p:nvSpPr>
        <p:spPr>
          <a:xfrm>
            <a:off x="1790700" y="2057400"/>
            <a:ext cx="485775" cy="266700"/>
          </a:xfrm>
          <a:prstGeom prst="roundRect">
            <a:avLst>
              <a:gd name="adj" fmla="val 3571"/>
            </a:avLst>
          </a:prstGeom>
          <a:solidFill>
            <a:srgbClr val="FFFFFF"/>
          </a:solidFill>
          <a:ln w="10478">
            <a:solidFill>
              <a:srgbClr val="A5ABB0"/>
            </a:solidFill>
            <a:prstDash val="dash"/>
          </a:ln>
        </p:spPr>
      </p:sp>
      <p:sp>
        <p:nvSpPr>
          <p:cNvPr id="26" name="needed-label0"/>
          <p:cNvSpPr>
            <a:spLocks noGrp="1"/>
          </p:cNvSpPr>
          <p:nvPr/>
        </p:nvSpPr>
        <p:spPr>
          <a:xfrm>
            <a:off x="1790700" y="2057400"/>
            <a:ext cx="485775" cy="266700"/>
          </a:xfrm>
          <a:prstGeom prst="rect">
            <a:avLst/>
          </a:prstGeom>
          <a:noFill/>
          <a:ln w="0">
            <a:noFill/>
            <a:prstDash val="solid"/>
          </a:ln>
        </p:spPr>
        <p:txBody>
          <a:bodyPr wrap="none" lIns="0" tIns="0" rIns="0" bIns="0" anchor="ctr">
            <a:noAutofit/>
          </a:bodyPr>
          <a:lstStyle/>
          <a:p>
            <a:pPr algn="ctr">
              <a:defRPr sz="1425" b="0" i="1">
                <a:solidFill>
                  <a:srgbClr val="62696E"/>
                </a:solidFill>
                <a:latin typeface="Times New Roman" panose="02020603050405020304"/>
                <a:ea typeface="Times New Roman" panose="02020603050405020304"/>
                <a:cs typeface="Times New Roman" panose="02020603050405020304"/>
              </a:defRPr>
            </a:pPr>
            <a:r>
              <a:rPr sz="1425" b="0" i="1">
                <a:solidFill>
                  <a:srgbClr val="62696E"/>
                </a:solidFill>
                <a:latin typeface="Times New Roman" panose="02020603050405020304"/>
                <a:ea typeface="Times New Roman" panose="02020603050405020304"/>
                <a:cs typeface="Times New Roman" panose="02020603050405020304"/>
              </a:rPr>
              <a:t>skip</a:t>
            </a:r>
            <a:endParaRPr sz="1425" b="0" i="1">
              <a:solidFill>
                <a:srgbClr val="62696E"/>
              </a:solidFill>
              <a:latin typeface="Times New Roman" panose="02020603050405020304"/>
              <a:ea typeface="Times New Roman" panose="02020603050405020304"/>
              <a:cs typeface="Times New Roman" panose="02020603050405020304"/>
            </a:endParaRPr>
          </a:p>
        </p:txBody>
      </p:sp>
      <p:sp>
        <p:nvSpPr>
          <p:cNvPr id="27" name="needed-1"/>
          <p:cNvSpPr>
            <a:spLocks noGrp="1"/>
          </p:cNvSpPr>
          <p:nvPr/>
        </p:nvSpPr>
        <p:spPr>
          <a:xfrm>
            <a:off x="2686050" y="2057400"/>
            <a:ext cx="485775" cy="266700"/>
          </a:xfrm>
          <a:prstGeom prst="roundRect">
            <a:avLst>
              <a:gd name="adj" fmla="val 3571"/>
            </a:avLst>
          </a:prstGeom>
          <a:solidFill>
            <a:srgbClr val="91B9D3"/>
          </a:solidFill>
          <a:ln w="10478">
            <a:solidFill>
              <a:srgbClr val="2876A4"/>
            </a:solidFill>
            <a:prstDash val="solid"/>
          </a:ln>
        </p:spPr>
      </p:sp>
      <p:sp>
        <p:nvSpPr>
          <p:cNvPr id="28" name="needed-label1"/>
          <p:cNvSpPr>
            <a:spLocks noGrp="1"/>
          </p:cNvSpPr>
          <p:nvPr/>
        </p:nvSpPr>
        <p:spPr>
          <a:xfrm>
            <a:off x="2686050" y="2057400"/>
            <a:ext cx="485775" cy="266700"/>
          </a:xfrm>
          <a:prstGeom prst="rect">
            <a:avLst/>
          </a:prstGeom>
          <a:noFill/>
          <a:ln w="0">
            <a:noFill/>
            <a:prstDash val="solid"/>
          </a:ln>
        </p:spPr>
        <p:txBody>
          <a:bodyPr wrap="none" lIns="0" tIns="0" rIns="0" bIns="0" anchor="ctr">
            <a:noAutofit/>
          </a:bodyPr>
          <a:lstStyle/>
          <a:p>
            <a:pPr algn="ctr">
              <a:defRPr sz="1425" b="0" i="0">
                <a:solidFill>
                  <a:srgbClr val="2876A4"/>
                </a:solidFill>
                <a:latin typeface="Times New Roman" panose="02020603050405020304"/>
                <a:ea typeface="Times New Roman" panose="02020603050405020304"/>
                <a:cs typeface="Times New Roman" panose="02020603050405020304"/>
              </a:defRPr>
            </a:pPr>
            <a:r>
              <a:rPr sz="1425" b="0" i="0">
                <a:solidFill>
                  <a:srgbClr val="2876A4"/>
                </a:solidFill>
                <a:latin typeface="Times New Roman" panose="02020603050405020304"/>
                <a:ea typeface="Times New Roman" panose="02020603050405020304"/>
                <a:cs typeface="Times New Roman" panose="02020603050405020304"/>
              </a:rPr>
              <a:t>run</a:t>
            </a:r>
            <a:endParaRPr sz="1425" b="0" i="0">
              <a:solidFill>
                <a:srgbClr val="2876A4"/>
              </a:solidFill>
              <a:latin typeface="Times New Roman" panose="02020603050405020304"/>
              <a:ea typeface="Times New Roman" panose="02020603050405020304"/>
              <a:cs typeface="Times New Roman" panose="02020603050405020304"/>
            </a:endParaRPr>
          </a:p>
        </p:txBody>
      </p:sp>
      <p:sp>
        <p:nvSpPr>
          <p:cNvPr id="29" name="needed-2"/>
          <p:cNvSpPr>
            <a:spLocks noGrp="1"/>
          </p:cNvSpPr>
          <p:nvPr/>
        </p:nvSpPr>
        <p:spPr>
          <a:xfrm>
            <a:off x="3676650" y="2057400"/>
            <a:ext cx="485775" cy="266700"/>
          </a:xfrm>
          <a:prstGeom prst="roundRect">
            <a:avLst>
              <a:gd name="adj" fmla="val 3571"/>
            </a:avLst>
          </a:prstGeom>
          <a:solidFill>
            <a:srgbClr val="FFFFFF"/>
          </a:solidFill>
          <a:ln w="10478">
            <a:solidFill>
              <a:srgbClr val="A5ABB0"/>
            </a:solidFill>
            <a:prstDash val="dash"/>
          </a:ln>
        </p:spPr>
      </p:sp>
      <p:sp>
        <p:nvSpPr>
          <p:cNvPr id="30" name="needed-label2"/>
          <p:cNvSpPr>
            <a:spLocks noGrp="1"/>
          </p:cNvSpPr>
          <p:nvPr/>
        </p:nvSpPr>
        <p:spPr>
          <a:xfrm>
            <a:off x="3676650" y="2057400"/>
            <a:ext cx="485775" cy="266700"/>
          </a:xfrm>
          <a:prstGeom prst="rect">
            <a:avLst/>
          </a:prstGeom>
          <a:noFill/>
          <a:ln w="0">
            <a:noFill/>
            <a:prstDash val="solid"/>
          </a:ln>
        </p:spPr>
        <p:txBody>
          <a:bodyPr wrap="none" lIns="0" tIns="0" rIns="0" bIns="0" anchor="ctr">
            <a:noAutofit/>
          </a:bodyPr>
          <a:lstStyle/>
          <a:p>
            <a:pPr algn="ctr">
              <a:defRPr sz="1425" b="0" i="1">
                <a:solidFill>
                  <a:srgbClr val="62696E"/>
                </a:solidFill>
                <a:latin typeface="Times New Roman" panose="02020603050405020304"/>
                <a:ea typeface="Times New Roman" panose="02020603050405020304"/>
                <a:cs typeface="Times New Roman" panose="02020603050405020304"/>
              </a:defRPr>
            </a:pPr>
            <a:r>
              <a:rPr sz="1425" b="0" i="1">
                <a:solidFill>
                  <a:srgbClr val="62696E"/>
                </a:solidFill>
                <a:latin typeface="Times New Roman" panose="02020603050405020304"/>
                <a:ea typeface="Times New Roman" panose="02020603050405020304"/>
                <a:cs typeface="Times New Roman" panose="02020603050405020304"/>
              </a:rPr>
              <a:t>skip</a:t>
            </a:r>
            <a:endParaRPr sz="1425" b="0" i="1">
              <a:solidFill>
                <a:srgbClr val="62696E"/>
              </a:solidFill>
              <a:latin typeface="Times New Roman" panose="02020603050405020304"/>
              <a:ea typeface="Times New Roman" panose="02020603050405020304"/>
              <a:cs typeface="Times New Roman" panose="02020603050405020304"/>
            </a:endParaRPr>
          </a:p>
        </p:txBody>
      </p:sp>
      <p:sp>
        <p:nvSpPr>
          <p:cNvPr id="31" name="cached-a-note"/>
          <p:cNvSpPr>
            <a:spLocks noGrp="1"/>
          </p:cNvSpPr>
          <p:nvPr/>
        </p:nvSpPr>
        <p:spPr>
          <a:xfrm>
            <a:off x="409575" y="2343150"/>
            <a:ext cx="4229100" cy="171450"/>
          </a:xfrm>
          <a:prstGeom prst="rect">
            <a:avLst/>
          </a:prstGeom>
          <a:noFill/>
          <a:ln w="0">
            <a:noFill/>
            <a:prstDash val="solid"/>
          </a:ln>
        </p:spPr>
        <p:txBody>
          <a:bodyPr wrap="none" lIns="0" tIns="0" rIns="0" bIns="0" anchor="ctr">
            <a:noAutofit/>
          </a:bodyPr>
          <a:lstStyle/>
          <a:p>
            <a:pPr algn="ctr">
              <a:defRPr sz="1350" b="0" i="1">
                <a:solidFill>
                  <a:srgbClr val="62696E"/>
                </a:solidFill>
                <a:latin typeface="Times New Roman" panose="02020603050405020304"/>
                <a:ea typeface="Times New Roman" panose="02020603050405020304"/>
                <a:cs typeface="Times New Roman" panose="02020603050405020304"/>
              </a:defRPr>
            </a:pPr>
            <a:r>
              <a:rPr sz="1350" b="0" i="1">
                <a:solidFill>
                  <a:srgbClr val="62696E"/>
                </a:solidFill>
                <a:latin typeface="Times New Roman" panose="02020603050405020304"/>
                <a:ea typeface="Times New Roman" panose="02020603050405020304"/>
                <a:cs typeface="Times New Roman" panose="02020603050405020304"/>
              </a:rPr>
              <a:t>Selected cache policy: Head-A reuse after producers</a:t>
            </a:r>
            <a:endParaRPr sz="1350" b="0" i="1">
              <a:solidFill>
                <a:srgbClr val="62696E"/>
              </a:solidFill>
              <a:latin typeface="Times New Roman" panose="02020603050405020304"/>
              <a:ea typeface="Times New Roman" panose="02020603050405020304"/>
              <a:cs typeface="Times New Roman" panose="02020603050405020304"/>
            </a:endParaRPr>
          </a:p>
        </p:txBody>
      </p:sp>
      <p:sp>
        <p:nvSpPr>
          <p:cNvPr id="32" name="observation-horizon"/>
          <p:cNvSpPr>
            <a:spLocks noGrp="1"/>
          </p:cNvSpPr>
          <p:nvPr/>
        </p:nvSpPr>
        <p:spPr>
          <a:xfrm>
            <a:off x="228600" y="2705100"/>
            <a:ext cx="4591050" cy="2038350"/>
          </a:xfrm>
          <a:prstGeom prst="roundRect">
            <a:avLst>
              <a:gd name="adj" fmla="val 1402"/>
            </a:avLst>
          </a:prstGeom>
          <a:solidFill>
            <a:srgbClr val="FFFFFF"/>
          </a:solidFill>
          <a:ln w="14288">
            <a:solidFill>
              <a:srgbClr val="B88B34"/>
            </a:solidFill>
            <a:prstDash val="dash"/>
          </a:ln>
        </p:spPr>
      </p:sp>
      <p:sp>
        <p:nvSpPr>
          <p:cNvPr id="33" name="horizon-title"/>
          <p:cNvSpPr>
            <a:spLocks noGrp="1"/>
          </p:cNvSpPr>
          <p:nvPr/>
        </p:nvSpPr>
        <p:spPr>
          <a:xfrm>
            <a:off x="381000" y="2781300"/>
            <a:ext cx="4276725" cy="304800"/>
          </a:xfrm>
          <a:prstGeom prst="rect">
            <a:avLst/>
          </a:prstGeom>
          <a:noFill/>
          <a:ln w="0">
            <a:noFill/>
            <a:prstDash val="solid"/>
          </a:ln>
        </p:spPr>
        <p:txBody>
          <a:bodyPr wrap="none" lIns="0" tIns="0" rIns="0" bIns="0" anchor="ctr">
            <a:noAutofit/>
          </a:bodyPr>
          <a:lstStyle/>
          <a:p>
            <a:pPr algn="ctr">
              <a:defRPr sz="2025" b="1" i="0">
                <a:solidFill>
                  <a:srgbClr val="B88B34"/>
                </a:solidFill>
                <a:latin typeface="Times New Roman" panose="02020603050405020304"/>
                <a:ea typeface="Times New Roman" panose="02020603050405020304"/>
                <a:cs typeface="Times New Roman" panose="02020603050405020304"/>
              </a:defRPr>
            </a:pPr>
            <a:r>
              <a:rPr sz="2025" b="1" i="0">
                <a:solidFill>
                  <a:srgbClr val="B88B34"/>
                </a:solidFill>
                <a:latin typeface="Times New Roman" panose="02020603050405020304"/>
                <a:ea typeface="Times New Roman" panose="02020603050405020304"/>
                <a:cs typeface="Times New Roman" panose="02020603050405020304"/>
              </a:rPr>
              <a:t>With DLS: rebuild before reuse</a:t>
            </a:r>
            <a:endParaRPr sz="2025" b="1" i="0">
              <a:solidFill>
                <a:srgbClr val="B88B34"/>
              </a:solidFill>
              <a:latin typeface="Times New Roman" panose="02020603050405020304"/>
              <a:ea typeface="Times New Roman" panose="02020603050405020304"/>
              <a:cs typeface="Times New Roman" panose="02020603050405020304"/>
            </a:endParaRPr>
          </a:p>
        </p:txBody>
      </p:sp>
      <p:sp>
        <p:nvSpPr>
          <p:cNvPr id="34" name="select-0"/>
          <p:cNvSpPr>
            <a:spLocks noGrp="1"/>
          </p:cNvSpPr>
          <p:nvPr/>
        </p:nvSpPr>
        <p:spPr>
          <a:xfrm>
            <a:off x="962025" y="3295650"/>
            <a:ext cx="447675" cy="95250"/>
          </a:xfrm>
          <a:prstGeom prst="roundRect">
            <a:avLst>
              <a:gd name="adj" fmla="val 10000"/>
            </a:avLst>
          </a:prstGeom>
          <a:solidFill>
            <a:srgbClr val="DCE9F2"/>
          </a:solidFill>
          <a:ln w="9525">
            <a:solidFill>
              <a:srgbClr val="2876A4"/>
            </a:solidFill>
            <a:prstDash val="solid"/>
          </a:ln>
        </p:spPr>
      </p:sp>
      <p:sp>
        <p:nvSpPr>
          <p:cNvPr id="35" name="select-1"/>
          <p:cNvSpPr>
            <a:spLocks noGrp="1"/>
          </p:cNvSpPr>
          <p:nvPr/>
        </p:nvSpPr>
        <p:spPr>
          <a:xfrm>
            <a:off x="962025" y="3438525"/>
            <a:ext cx="447675" cy="95250"/>
          </a:xfrm>
          <a:prstGeom prst="roundRect">
            <a:avLst>
              <a:gd name="adj" fmla="val 10000"/>
            </a:avLst>
          </a:prstGeom>
          <a:solidFill>
            <a:srgbClr val="F2F3F4"/>
          </a:solidFill>
          <a:ln w="9525">
            <a:solidFill>
              <a:srgbClr val="2876A4"/>
            </a:solidFill>
            <a:prstDash val="solid"/>
          </a:ln>
        </p:spPr>
      </p:sp>
      <p:sp>
        <p:nvSpPr>
          <p:cNvPr id="36" name="select-2"/>
          <p:cNvSpPr>
            <a:spLocks noGrp="1"/>
          </p:cNvSpPr>
          <p:nvPr/>
        </p:nvSpPr>
        <p:spPr>
          <a:xfrm>
            <a:off x="962025" y="3581400"/>
            <a:ext cx="447675" cy="95250"/>
          </a:xfrm>
          <a:prstGeom prst="roundRect">
            <a:avLst>
              <a:gd name="adj" fmla="val 10000"/>
            </a:avLst>
          </a:prstGeom>
          <a:solidFill>
            <a:srgbClr val="DCE9F2"/>
          </a:solidFill>
          <a:ln w="9525">
            <a:solidFill>
              <a:srgbClr val="2876A4"/>
            </a:solidFill>
            <a:prstDash val="solid"/>
          </a:ln>
        </p:spPr>
      </p:sp>
      <p:sp>
        <p:nvSpPr>
          <p:cNvPr id="37" name="rebuild-0"/>
          <p:cNvSpPr>
            <a:spLocks noGrp="1"/>
          </p:cNvSpPr>
          <p:nvPr/>
        </p:nvSpPr>
        <p:spPr>
          <a:xfrm>
            <a:off x="2486025" y="3295650"/>
            <a:ext cx="447675" cy="95250"/>
          </a:xfrm>
          <a:prstGeom prst="roundRect">
            <a:avLst>
              <a:gd name="adj" fmla="val 10000"/>
            </a:avLst>
          </a:prstGeom>
          <a:solidFill>
            <a:srgbClr val="DCE9F2"/>
          </a:solidFill>
          <a:ln w="9525">
            <a:solidFill>
              <a:srgbClr val="2876A4"/>
            </a:solidFill>
            <a:prstDash val="solid"/>
          </a:ln>
        </p:spPr>
      </p:sp>
      <p:sp>
        <p:nvSpPr>
          <p:cNvPr id="38" name="rebuild-1"/>
          <p:cNvSpPr>
            <a:spLocks noGrp="1"/>
          </p:cNvSpPr>
          <p:nvPr/>
        </p:nvSpPr>
        <p:spPr>
          <a:xfrm>
            <a:off x="2486025" y="3438525"/>
            <a:ext cx="447675" cy="95250"/>
          </a:xfrm>
          <a:prstGeom prst="roundRect">
            <a:avLst>
              <a:gd name="adj" fmla="val 10000"/>
            </a:avLst>
          </a:prstGeom>
          <a:solidFill>
            <a:srgbClr val="F2F3F4"/>
          </a:solidFill>
          <a:ln w="9525">
            <a:solidFill>
              <a:srgbClr val="2876A4"/>
            </a:solidFill>
            <a:prstDash val="solid"/>
          </a:ln>
        </p:spPr>
      </p:sp>
      <p:sp>
        <p:nvSpPr>
          <p:cNvPr id="39" name="rebuild-2"/>
          <p:cNvSpPr>
            <a:spLocks noGrp="1"/>
          </p:cNvSpPr>
          <p:nvPr/>
        </p:nvSpPr>
        <p:spPr>
          <a:xfrm>
            <a:off x="2486025" y="3581400"/>
            <a:ext cx="447675" cy="95250"/>
          </a:xfrm>
          <a:prstGeom prst="roundRect">
            <a:avLst>
              <a:gd name="adj" fmla="val 10000"/>
            </a:avLst>
          </a:prstGeom>
          <a:solidFill>
            <a:srgbClr val="DCE9F2"/>
          </a:solidFill>
          <a:ln w="9525">
            <a:solidFill>
              <a:srgbClr val="2876A4"/>
            </a:solidFill>
            <a:prstDash val="solid"/>
          </a:ln>
        </p:spPr>
      </p:sp>
      <p:sp>
        <p:nvSpPr>
          <p:cNvPr id="40" name="reuse-ghost-0"/>
          <p:cNvSpPr>
            <a:spLocks noGrp="1"/>
          </p:cNvSpPr>
          <p:nvPr/>
        </p:nvSpPr>
        <p:spPr>
          <a:xfrm>
            <a:off x="3962400" y="3295650"/>
            <a:ext cx="447675" cy="95250"/>
          </a:xfrm>
          <a:prstGeom prst="roundRect">
            <a:avLst>
              <a:gd name="adj" fmla="val 10000"/>
            </a:avLst>
          </a:prstGeom>
          <a:solidFill>
            <a:srgbClr val="FFFFFF"/>
          </a:solidFill>
          <a:ln w="9525">
            <a:solidFill>
              <a:srgbClr val="C7CCD0"/>
            </a:solidFill>
            <a:prstDash val="dash"/>
          </a:ln>
        </p:spPr>
      </p:sp>
      <p:sp>
        <p:nvSpPr>
          <p:cNvPr id="41" name="reuse-ghost-1"/>
          <p:cNvSpPr>
            <a:spLocks noGrp="1"/>
          </p:cNvSpPr>
          <p:nvPr/>
        </p:nvSpPr>
        <p:spPr>
          <a:xfrm>
            <a:off x="3962400" y="3438525"/>
            <a:ext cx="447675" cy="95250"/>
          </a:xfrm>
          <a:prstGeom prst="roundRect">
            <a:avLst>
              <a:gd name="adj" fmla="val 10000"/>
            </a:avLst>
          </a:prstGeom>
          <a:solidFill>
            <a:srgbClr val="FFFFFF"/>
          </a:solidFill>
          <a:ln w="9525">
            <a:solidFill>
              <a:srgbClr val="C7CCD0"/>
            </a:solidFill>
            <a:prstDash val="dash"/>
          </a:ln>
        </p:spPr>
      </p:sp>
      <p:sp>
        <p:nvSpPr>
          <p:cNvPr id="42" name="reuse-ghost-2"/>
          <p:cNvSpPr>
            <a:spLocks noGrp="1"/>
          </p:cNvSpPr>
          <p:nvPr/>
        </p:nvSpPr>
        <p:spPr>
          <a:xfrm>
            <a:off x="3962400" y="3581400"/>
            <a:ext cx="447675" cy="95250"/>
          </a:xfrm>
          <a:prstGeom prst="roundRect">
            <a:avLst>
              <a:gd name="adj" fmla="val 10000"/>
            </a:avLst>
          </a:prstGeom>
          <a:solidFill>
            <a:srgbClr val="FFFFFF"/>
          </a:solidFill>
          <a:ln w="9525">
            <a:solidFill>
              <a:srgbClr val="C7CCD0"/>
            </a:solidFill>
            <a:prstDash val="dash"/>
          </a:ln>
        </p:spPr>
      </p:sp>
      <p:sp>
        <p:nvSpPr>
          <p:cNvPr id="43" name="select-to-rebuild-a"/>
          <p:cNvSpPr>
            <a:spLocks noGrp="1"/>
          </p:cNvSpPr>
          <p:nvPr/>
        </p:nvSpPr>
        <p:spPr>
          <a:xfrm>
            <a:off x="1438275" y="3486150"/>
            <a:ext cx="953" cy="953"/>
          </a:xfrm>
          <a:prstGeom prst="rect">
            <a:avLst/>
          </a:prstGeom>
          <a:noFill/>
          <a:ln w="0">
            <a:noFill/>
            <a:prstDash val="solid"/>
          </a:ln>
        </p:spPr>
      </p:sp>
      <p:sp>
        <p:nvSpPr>
          <p:cNvPr id="44" name="select-to-rebuild-b"/>
          <p:cNvSpPr>
            <a:spLocks noGrp="1"/>
          </p:cNvSpPr>
          <p:nvPr/>
        </p:nvSpPr>
        <p:spPr>
          <a:xfrm>
            <a:off x="2409825" y="3486150"/>
            <a:ext cx="953" cy="953"/>
          </a:xfrm>
          <a:prstGeom prst="rect">
            <a:avLst/>
          </a:prstGeom>
          <a:noFill/>
          <a:ln w="0">
            <a:noFill/>
            <a:prstDash val="solid"/>
          </a:ln>
        </p:spPr>
      </p:sp>
      <p:cxnSp>
        <p:nvCxnSpPr>
          <p:cNvPr id="282" name="select-to-rebuild"/>
          <p:cNvCxnSpPr>
            <a:stCxn id="43" idx="3"/>
            <a:endCxn id="44" idx="1"/>
          </p:cNvCxnSpPr>
          <p:nvPr/>
        </p:nvCxnSpPr>
        <p:spPr>
          <a:xfrm>
            <a:off x="1439228" y="3486627"/>
            <a:ext cx="970597" cy="0"/>
          </a:xfrm>
          <a:prstGeom prst="straightConnector1">
            <a:avLst/>
          </a:prstGeom>
          <a:ln w="17145">
            <a:solidFill>
              <a:srgbClr val="202428"/>
            </a:solidFill>
            <a:prstDash val="solid"/>
            <a:tailEnd type="triangle" w="sm" len="sm"/>
          </a:ln>
        </p:spPr>
      </p:cxnSp>
      <p:sp>
        <p:nvSpPr>
          <p:cNvPr id="46" name="rebuild-emits-eos-a"/>
          <p:cNvSpPr>
            <a:spLocks noGrp="1"/>
          </p:cNvSpPr>
          <p:nvPr/>
        </p:nvSpPr>
        <p:spPr>
          <a:xfrm>
            <a:off x="2962275" y="3486150"/>
            <a:ext cx="953" cy="953"/>
          </a:xfrm>
          <a:prstGeom prst="rect">
            <a:avLst/>
          </a:prstGeom>
          <a:noFill/>
          <a:ln w="0">
            <a:noFill/>
            <a:prstDash val="solid"/>
          </a:ln>
        </p:spPr>
      </p:sp>
      <p:sp>
        <p:nvSpPr>
          <p:cNvPr id="47" name="rebuild-emits-eos-b"/>
          <p:cNvSpPr>
            <a:spLocks noGrp="1"/>
          </p:cNvSpPr>
          <p:nvPr/>
        </p:nvSpPr>
        <p:spPr>
          <a:xfrm>
            <a:off x="3228975" y="3486150"/>
            <a:ext cx="953" cy="953"/>
          </a:xfrm>
          <a:prstGeom prst="rect">
            <a:avLst/>
          </a:prstGeom>
          <a:noFill/>
          <a:ln w="0">
            <a:noFill/>
            <a:prstDash val="solid"/>
          </a:ln>
        </p:spPr>
      </p:sp>
      <p:cxnSp>
        <p:nvCxnSpPr>
          <p:cNvPr id="285" name="rebuild-emits-eos"/>
          <p:cNvCxnSpPr>
            <a:stCxn id="46" idx="3"/>
            <a:endCxn id="47" idx="1"/>
          </p:cNvCxnSpPr>
          <p:nvPr/>
        </p:nvCxnSpPr>
        <p:spPr>
          <a:xfrm>
            <a:off x="2963228" y="3486627"/>
            <a:ext cx="265747" cy="0"/>
          </a:xfrm>
          <a:prstGeom prst="straightConnector1">
            <a:avLst/>
          </a:prstGeom>
          <a:ln w="17145">
            <a:solidFill>
              <a:srgbClr val="202428"/>
            </a:solidFill>
            <a:prstDash val="solid"/>
            <a:tailEnd type="triangle" w="sm" len="sm"/>
          </a:ln>
        </p:spPr>
      </p:cxnSp>
      <p:sp>
        <p:nvSpPr>
          <p:cNvPr id="49" name="eos-marker"/>
          <p:cNvSpPr>
            <a:spLocks noGrp="1"/>
          </p:cNvSpPr>
          <p:nvPr/>
        </p:nvSpPr>
        <p:spPr>
          <a:xfrm>
            <a:off x="3248025" y="3324225"/>
            <a:ext cx="371475" cy="323850"/>
          </a:xfrm>
          <a:prstGeom prst="ellipse">
            <a:avLst/>
          </a:prstGeom>
          <a:solidFill>
            <a:srgbClr val="FFFFFF"/>
          </a:solidFill>
          <a:ln w="12383">
            <a:solidFill>
              <a:srgbClr val="B88B34"/>
            </a:solidFill>
          </a:ln>
        </p:spPr>
      </p:sp>
      <p:sp>
        <p:nvSpPr>
          <p:cNvPr id="50" name="EOS"/>
          <p:cNvSpPr>
            <a:spLocks noGrp="1"/>
          </p:cNvSpPr>
          <p:nvPr/>
        </p:nvSpPr>
        <p:spPr>
          <a:xfrm>
            <a:off x="3267075" y="3352800"/>
            <a:ext cx="333375" cy="257175"/>
          </a:xfrm>
          <a:prstGeom prst="rect">
            <a:avLst/>
          </a:prstGeom>
          <a:noFill/>
          <a:ln w="0">
            <a:noFill/>
            <a:prstDash val="solid"/>
          </a:ln>
        </p:spPr>
        <p:txBody>
          <a:bodyPr wrap="none" lIns="0" tIns="0" rIns="0" bIns="0" anchor="ctr">
            <a:noAutofit/>
          </a:bodyPr>
          <a:lstStyle/>
          <a:p>
            <a:pPr algn="ctr">
              <a:defRPr sz="1275" b="0" i="0">
                <a:solidFill>
                  <a:srgbClr val="B88B34"/>
                </a:solidFill>
                <a:latin typeface="Times New Roman" panose="02020603050405020304"/>
                <a:ea typeface="Times New Roman" panose="02020603050405020304"/>
                <a:cs typeface="Times New Roman" panose="02020603050405020304"/>
              </a:defRPr>
            </a:pPr>
            <a:r>
              <a:rPr sz="1275" b="0" i="0">
                <a:solidFill>
                  <a:srgbClr val="B88B34"/>
                </a:solidFill>
                <a:latin typeface="Times New Roman" panose="02020603050405020304"/>
                <a:ea typeface="Times New Roman" panose="02020603050405020304"/>
                <a:cs typeface="Times New Roman" panose="02020603050405020304"/>
              </a:rPr>
              <a:t>EOS</a:t>
            </a:r>
            <a:endParaRPr sz="1275" b="0" i="0">
              <a:solidFill>
                <a:srgbClr val="B88B34"/>
              </a:solidFill>
              <a:latin typeface="Times New Roman" panose="02020603050405020304"/>
              <a:ea typeface="Times New Roman" panose="02020603050405020304"/>
              <a:cs typeface="Times New Roman" panose="02020603050405020304"/>
            </a:endParaRPr>
          </a:p>
        </p:txBody>
      </p:sp>
      <p:sp>
        <p:nvSpPr>
          <p:cNvPr id="51" name="unreached"/>
          <p:cNvSpPr>
            <a:spLocks noGrp="1"/>
          </p:cNvSpPr>
          <p:nvPr/>
        </p:nvSpPr>
        <p:spPr>
          <a:xfrm>
            <a:off x="3733800" y="3095625"/>
            <a:ext cx="904875" cy="200025"/>
          </a:xfrm>
          <a:prstGeom prst="rect">
            <a:avLst/>
          </a:prstGeom>
          <a:noFill/>
          <a:ln w="0">
            <a:noFill/>
            <a:prstDash val="solid"/>
          </a:ln>
        </p:spPr>
        <p:txBody>
          <a:bodyPr wrap="none" lIns="0" tIns="0" rIns="0" bIns="0" anchor="ctr">
            <a:noAutofit/>
          </a:bodyPr>
          <a:lstStyle/>
          <a:p>
            <a:pPr algn="ctr">
              <a:defRPr sz="1425" b="0" i="1">
                <a:solidFill>
                  <a:srgbClr val="A5ABB0"/>
                </a:solidFill>
                <a:latin typeface="Times New Roman" panose="02020603050405020304"/>
                <a:ea typeface="Times New Roman" panose="02020603050405020304"/>
                <a:cs typeface="Times New Roman" panose="02020603050405020304"/>
              </a:defRPr>
            </a:pPr>
            <a:r>
              <a:rPr sz="1425" b="0" i="1">
                <a:solidFill>
                  <a:srgbClr val="A5ABB0"/>
                </a:solidFill>
                <a:latin typeface="Times New Roman" panose="02020603050405020304"/>
                <a:ea typeface="Times New Roman" panose="02020603050405020304"/>
                <a:cs typeface="Times New Roman" panose="02020603050405020304"/>
              </a:rPr>
              <a:t>unreached</a:t>
            </a:r>
            <a:endParaRPr sz="1425" b="0" i="1">
              <a:solidFill>
                <a:srgbClr val="A5ABB0"/>
              </a:solidFill>
              <a:latin typeface="Times New Roman" panose="02020603050405020304"/>
              <a:ea typeface="Times New Roman" panose="02020603050405020304"/>
              <a:cs typeface="Times New Roman" panose="02020603050405020304"/>
            </a:endParaRPr>
          </a:p>
        </p:txBody>
      </p:sp>
      <p:sp>
        <p:nvSpPr>
          <p:cNvPr id="52" name="stage-Select"/>
          <p:cNvSpPr>
            <a:spLocks noGrp="1"/>
          </p:cNvSpPr>
          <p:nvPr/>
        </p:nvSpPr>
        <p:spPr>
          <a:xfrm>
            <a:off x="723900" y="3743325"/>
            <a:ext cx="952500" cy="266700"/>
          </a:xfrm>
          <a:prstGeom prst="rect">
            <a:avLst/>
          </a:prstGeom>
          <a:noFill/>
          <a:ln w="0">
            <a:noFill/>
            <a:prstDash val="solid"/>
          </a:ln>
        </p:spPr>
        <p:txBody>
          <a:bodyPr wrap="none" lIns="0" tIns="0" rIns="0" bIns="0" anchor="ctr">
            <a:noAutofit/>
          </a:bodyPr>
          <a:lstStyle/>
          <a:p>
            <a:pPr algn="ctr">
              <a:defRPr sz="1875" b="0" i="0">
                <a:solidFill>
                  <a:srgbClr val="202428"/>
                </a:solidFill>
                <a:latin typeface="Times New Roman" panose="02020603050405020304"/>
                <a:ea typeface="Times New Roman" panose="02020603050405020304"/>
                <a:cs typeface="Times New Roman" panose="02020603050405020304"/>
              </a:defRPr>
            </a:pPr>
            <a:r>
              <a:rPr sz="1875" b="0" i="0">
                <a:solidFill>
                  <a:srgbClr val="202428"/>
                </a:solidFill>
                <a:latin typeface="Times New Roman" panose="02020603050405020304"/>
                <a:ea typeface="Times New Roman" panose="02020603050405020304"/>
                <a:cs typeface="Times New Roman" panose="02020603050405020304"/>
              </a:rPr>
              <a:t>Select</a:t>
            </a:r>
            <a:endParaRPr sz="1875" b="0" i="0">
              <a:solidFill>
                <a:srgbClr val="202428"/>
              </a:solidFill>
              <a:latin typeface="Times New Roman" panose="02020603050405020304"/>
              <a:ea typeface="Times New Roman" panose="02020603050405020304"/>
              <a:cs typeface="Times New Roman" panose="02020603050405020304"/>
            </a:endParaRPr>
          </a:p>
        </p:txBody>
      </p:sp>
      <p:sp>
        <p:nvSpPr>
          <p:cNvPr id="53" name="stage-Rebuild"/>
          <p:cNvSpPr>
            <a:spLocks noGrp="1"/>
          </p:cNvSpPr>
          <p:nvPr/>
        </p:nvSpPr>
        <p:spPr>
          <a:xfrm>
            <a:off x="2238375" y="3743325"/>
            <a:ext cx="952500" cy="266700"/>
          </a:xfrm>
          <a:prstGeom prst="rect">
            <a:avLst/>
          </a:prstGeom>
          <a:noFill/>
          <a:ln w="0">
            <a:noFill/>
            <a:prstDash val="solid"/>
          </a:ln>
        </p:spPr>
        <p:txBody>
          <a:bodyPr wrap="none" lIns="0" tIns="0" rIns="0" bIns="0" anchor="ctr">
            <a:noAutofit/>
          </a:bodyPr>
          <a:lstStyle/>
          <a:p>
            <a:pPr algn="ctr">
              <a:defRPr sz="1875" b="0" i="0">
                <a:solidFill>
                  <a:srgbClr val="202428"/>
                </a:solidFill>
                <a:latin typeface="Times New Roman" panose="02020603050405020304"/>
                <a:ea typeface="Times New Roman" panose="02020603050405020304"/>
                <a:cs typeface="Times New Roman" panose="02020603050405020304"/>
              </a:defRPr>
            </a:pPr>
            <a:r>
              <a:rPr sz="1875" b="0" i="0">
                <a:solidFill>
                  <a:srgbClr val="202428"/>
                </a:solidFill>
                <a:latin typeface="Times New Roman" panose="02020603050405020304"/>
                <a:ea typeface="Times New Roman" panose="02020603050405020304"/>
                <a:cs typeface="Times New Roman" panose="02020603050405020304"/>
              </a:rPr>
              <a:t>Rebuild</a:t>
            </a:r>
            <a:endParaRPr sz="1875" b="0" i="0">
              <a:solidFill>
                <a:srgbClr val="202428"/>
              </a:solidFill>
              <a:latin typeface="Times New Roman" panose="02020603050405020304"/>
              <a:ea typeface="Times New Roman" panose="02020603050405020304"/>
              <a:cs typeface="Times New Roman" panose="02020603050405020304"/>
            </a:endParaRPr>
          </a:p>
        </p:txBody>
      </p:sp>
      <p:sp>
        <p:nvSpPr>
          <p:cNvPr id="54" name="stage-Reuse"/>
          <p:cNvSpPr>
            <a:spLocks noGrp="1"/>
          </p:cNvSpPr>
          <p:nvPr/>
        </p:nvSpPr>
        <p:spPr>
          <a:xfrm>
            <a:off x="3724275" y="3743325"/>
            <a:ext cx="952500" cy="266700"/>
          </a:xfrm>
          <a:prstGeom prst="rect">
            <a:avLst/>
          </a:prstGeom>
          <a:noFill/>
          <a:ln w="0">
            <a:noFill/>
            <a:prstDash val="solid"/>
          </a:ln>
        </p:spPr>
        <p:txBody>
          <a:bodyPr wrap="none" lIns="0" tIns="0" rIns="0" bIns="0" anchor="ctr">
            <a:noAutofit/>
          </a:bodyPr>
          <a:lstStyle/>
          <a:p>
            <a:pPr algn="ctr">
              <a:defRPr sz="1875" b="0" i="0">
                <a:solidFill>
                  <a:srgbClr val="A5ABB0"/>
                </a:solidFill>
                <a:latin typeface="Times New Roman" panose="02020603050405020304"/>
                <a:ea typeface="Times New Roman" panose="02020603050405020304"/>
                <a:cs typeface="Times New Roman" panose="02020603050405020304"/>
              </a:defRPr>
            </a:pPr>
            <a:r>
              <a:rPr sz="1875" b="0" i="0">
                <a:solidFill>
                  <a:srgbClr val="A5ABB0"/>
                </a:solidFill>
                <a:latin typeface="Times New Roman" panose="02020603050405020304"/>
                <a:ea typeface="Times New Roman" panose="02020603050405020304"/>
                <a:cs typeface="Times New Roman" panose="02020603050405020304"/>
              </a:rPr>
              <a:t>Reuse</a:t>
            </a:r>
            <a:endParaRPr sz="1875" b="0" i="0">
              <a:solidFill>
                <a:srgbClr val="A5ABB0"/>
              </a:solidFill>
              <a:latin typeface="Times New Roman" panose="02020603050405020304"/>
              <a:ea typeface="Times New Roman" panose="02020603050405020304"/>
              <a:cs typeface="Times New Roman" panose="02020603050405020304"/>
            </a:endParaRPr>
          </a:p>
        </p:txBody>
      </p:sp>
      <p:sp>
        <p:nvSpPr>
          <p:cNvPr id="55" name="step-axis"/>
          <p:cNvSpPr>
            <a:spLocks noGrp="1"/>
          </p:cNvSpPr>
          <p:nvPr/>
        </p:nvSpPr>
        <p:spPr>
          <a:xfrm>
            <a:off x="723900" y="4276725"/>
            <a:ext cx="3829050" cy="0"/>
          </a:xfrm>
          <a:prstGeom prst="line">
            <a:avLst/>
          </a:prstGeom>
          <a:noFill/>
          <a:ln w="13335">
            <a:solidFill>
              <a:srgbClr val="A5ABB0"/>
            </a:solidFill>
            <a:prstDash val="solid"/>
          </a:ln>
        </p:spPr>
      </p:sp>
      <p:sp>
        <p:nvSpPr>
          <p:cNvPr id="56" name="step-axis-head-a"/>
          <p:cNvSpPr>
            <a:spLocks noGrp="1"/>
          </p:cNvSpPr>
          <p:nvPr/>
        </p:nvSpPr>
        <p:spPr>
          <a:xfrm>
            <a:off x="4552950" y="4276725"/>
            <a:ext cx="953" cy="953"/>
          </a:xfrm>
          <a:prstGeom prst="rect">
            <a:avLst/>
          </a:prstGeom>
          <a:noFill/>
          <a:ln w="0">
            <a:noFill/>
            <a:prstDash val="solid"/>
          </a:ln>
        </p:spPr>
      </p:sp>
      <p:sp>
        <p:nvSpPr>
          <p:cNvPr id="57" name="step-axis-head-b"/>
          <p:cNvSpPr>
            <a:spLocks noGrp="1"/>
          </p:cNvSpPr>
          <p:nvPr/>
        </p:nvSpPr>
        <p:spPr>
          <a:xfrm>
            <a:off x="4610100" y="4276725"/>
            <a:ext cx="953" cy="953"/>
          </a:xfrm>
          <a:prstGeom prst="rect">
            <a:avLst/>
          </a:prstGeom>
          <a:noFill/>
          <a:ln w="0">
            <a:noFill/>
            <a:prstDash val="solid"/>
          </a:ln>
        </p:spPr>
      </p:sp>
      <p:cxnSp>
        <p:nvCxnSpPr>
          <p:cNvPr id="295" name="step-axis-head"/>
          <p:cNvCxnSpPr>
            <a:stCxn id="56" idx="3"/>
            <a:endCxn id="57" idx="1"/>
          </p:cNvCxnSpPr>
          <p:nvPr/>
        </p:nvCxnSpPr>
        <p:spPr>
          <a:xfrm>
            <a:off x="4553903" y="4277202"/>
            <a:ext cx="56197" cy="0"/>
          </a:xfrm>
          <a:prstGeom prst="straightConnector1">
            <a:avLst/>
          </a:prstGeom>
          <a:ln w="13335">
            <a:solidFill>
              <a:srgbClr val="A5ABB0"/>
            </a:solidFill>
            <a:prstDash val="solid"/>
            <a:tailEnd type="triangle" w="sm" len="sm"/>
          </a:ln>
        </p:spPr>
      </p:cxnSp>
      <p:sp>
        <p:nvSpPr>
          <p:cNvPr id="59" name="tick124"/>
          <p:cNvSpPr>
            <a:spLocks noGrp="1"/>
          </p:cNvSpPr>
          <p:nvPr/>
        </p:nvSpPr>
        <p:spPr>
          <a:xfrm>
            <a:off x="1181100" y="4219575"/>
            <a:ext cx="0" cy="114300"/>
          </a:xfrm>
          <a:prstGeom prst="line">
            <a:avLst/>
          </a:prstGeom>
          <a:noFill/>
          <a:ln w="10478">
            <a:solidFill>
              <a:srgbClr val="A5ABB0"/>
            </a:solidFill>
            <a:prstDash val="solid"/>
          </a:ln>
        </p:spPr>
      </p:sp>
      <p:sp>
        <p:nvSpPr>
          <p:cNvPr id="60" name="step124"/>
          <p:cNvSpPr>
            <a:spLocks noGrp="1"/>
          </p:cNvSpPr>
          <p:nvPr/>
        </p:nvSpPr>
        <p:spPr>
          <a:xfrm>
            <a:off x="742950" y="4391025"/>
            <a:ext cx="876300" cy="247650"/>
          </a:xfrm>
          <a:prstGeom prst="rect">
            <a:avLst/>
          </a:prstGeom>
          <a:noFill/>
          <a:ln w="0">
            <a:noFill/>
            <a:prstDash val="solid"/>
          </a:ln>
        </p:spPr>
        <p:txBody>
          <a:bodyPr wrap="none" lIns="0" tIns="0" rIns="0" bIns="0" anchor="ctr">
            <a:noAutofit/>
          </a:bodyPr>
          <a:lstStyle/>
          <a:p>
            <a:pPr algn="ctr">
              <a:defRPr sz="1725" b="0" i="1">
                <a:solidFill>
                  <a:srgbClr val="202428"/>
                </a:solidFill>
                <a:latin typeface="Times New Roman" panose="02020603050405020304"/>
                <a:ea typeface="Times New Roman" panose="02020603050405020304"/>
                <a:cs typeface="Times New Roman" panose="02020603050405020304"/>
              </a:defRPr>
            </a:pPr>
            <a:r>
              <a:rPr sz="1725" b="0" i="1">
                <a:solidFill>
                  <a:srgbClr val="202428"/>
                </a:solidFill>
                <a:latin typeface="Times New Roman" panose="02020603050405020304"/>
                <a:ea typeface="Times New Roman" panose="02020603050405020304"/>
                <a:cs typeface="Times New Roman" panose="02020603050405020304"/>
              </a:rPr>
              <a:t>j = 0</a:t>
            </a:r>
            <a:endParaRPr sz="1725" b="0" i="1">
              <a:solidFill>
                <a:srgbClr val="202428"/>
              </a:solidFill>
              <a:latin typeface="Times New Roman" panose="02020603050405020304"/>
              <a:ea typeface="Times New Roman" panose="02020603050405020304"/>
              <a:cs typeface="Times New Roman" panose="02020603050405020304"/>
            </a:endParaRPr>
          </a:p>
        </p:txBody>
      </p:sp>
      <p:sp>
        <p:nvSpPr>
          <p:cNvPr id="61" name="tick283"/>
          <p:cNvSpPr>
            <a:spLocks noGrp="1"/>
          </p:cNvSpPr>
          <p:nvPr/>
        </p:nvSpPr>
        <p:spPr>
          <a:xfrm>
            <a:off x="2695575" y="4219575"/>
            <a:ext cx="0" cy="114300"/>
          </a:xfrm>
          <a:prstGeom prst="line">
            <a:avLst/>
          </a:prstGeom>
          <a:noFill/>
          <a:ln w="10478">
            <a:solidFill>
              <a:srgbClr val="A5ABB0"/>
            </a:solidFill>
            <a:prstDash val="solid"/>
          </a:ln>
        </p:spPr>
      </p:sp>
      <p:sp>
        <p:nvSpPr>
          <p:cNvPr id="62" name="step283"/>
          <p:cNvSpPr>
            <a:spLocks noGrp="1"/>
          </p:cNvSpPr>
          <p:nvPr/>
        </p:nvSpPr>
        <p:spPr>
          <a:xfrm>
            <a:off x="2257425" y="4391025"/>
            <a:ext cx="876300" cy="247650"/>
          </a:xfrm>
          <a:prstGeom prst="rect">
            <a:avLst/>
          </a:prstGeom>
          <a:noFill/>
          <a:ln w="0">
            <a:noFill/>
            <a:prstDash val="solid"/>
          </a:ln>
        </p:spPr>
        <p:txBody>
          <a:bodyPr wrap="none" lIns="0" tIns="0" rIns="0" bIns="0" anchor="ctr">
            <a:noAutofit/>
          </a:bodyPr>
          <a:lstStyle/>
          <a:p>
            <a:pPr algn="ctr">
              <a:defRPr sz="1725" b="0" i="1">
                <a:solidFill>
                  <a:srgbClr val="202428"/>
                </a:solidFill>
                <a:latin typeface="Times New Roman" panose="02020603050405020304"/>
                <a:ea typeface="Times New Roman" panose="02020603050405020304"/>
                <a:cs typeface="Times New Roman" panose="02020603050405020304"/>
              </a:defRPr>
            </a:pPr>
            <a:r>
              <a:rPr sz="1725" b="0" i="1">
                <a:solidFill>
                  <a:srgbClr val="202428"/>
                </a:solidFill>
                <a:latin typeface="Times New Roman" panose="02020603050405020304"/>
                <a:ea typeface="Times New Roman" panose="02020603050405020304"/>
                <a:cs typeface="Times New Roman" panose="02020603050405020304"/>
              </a:rPr>
              <a:t>j = 1</a:t>
            </a:r>
            <a:endParaRPr sz="1725" b="0" i="1">
              <a:solidFill>
                <a:srgbClr val="202428"/>
              </a:solidFill>
              <a:latin typeface="Times New Roman" panose="02020603050405020304"/>
              <a:ea typeface="Times New Roman" panose="02020603050405020304"/>
              <a:cs typeface="Times New Roman" panose="02020603050405020304"/>
            </a:endParaRPr>
          </a:p>
        </p:txBody>
      </p:sp>
      <p:sp>
        <p:nvSpPr>
          <p:cNvPr id="63" name="tick439"/>
          <p:cNvSpPr>
            <a:spLocks noGrp="1"/>
          </p:cNvSpPr>
          <p:nvPr/>
        </p:nvSpPr>
        <p:spPr>
          <a:xfrm>
            <a:off x="4181475" y="4219575"/>
            <a:ext cx="0" cy="114300"/>
          </a:xfrm>
          <a:prstGeom prst="line">
            <a:avLst/>
          </a:prstGeom>
          <a:noFill/>
          <a:ln w="10478">
            <a:solidFill>
              <a:srgbClr val="A5ABB0"/>
            </a:solidFill>
            <a:prstDash val="solid"/>
          </a:ln>
        </p:spPr>
      </p:sp>
      <p:sp>
        <p:nvSpPr>
          <p:cNvPr id="64" name="step439"/>
          <p:cNvSpPr>
            <a:spLocks noGrp="1"/>
          </p:cNvSpPr>
          <p:nvPr/>
        </p:nvSpPr>
        <p:spPr>
          <a:xfrm>
            <a:off x="3743325" y="4391025"/>
            <a:ext cx="876300" cy="247650"/>
          </a:xfrm>
          <a:prstGeom prst="rect">
            <a:avLst/>
          </a:prstGeom>
          <a:noFill/>
          <a:ln w="0">
            <a:noFill/>
            <a:prstDash val="solid"/>
          </a:ln>
        </p:spPr>
        <p:txBody>
          <a:bodyPr wrap="none" lIns="0" tIns="0" rIns="0" bIns="0" anchor="ctr">
            <a:noAutofit/>
          </a:bodyPr>
          <a:lstStyle/>
          <a:p>
            <a:pPr algn="ctr">
              <a:defRPr sz="1725" b="0" i="1">
                <a:solidFill>
                  <a:srgbClr val="A5ABB0"/>
                </a:solidFill>
                <a:latin typeface="Times New Roman" panose="02020603050405020304"/>
                <a:ea typeface="Times New Roman" panose="02020603050405020304"/>
                <a:cs typeface="Times New Roman" panose="02020603050405020304"/>
              </a:defRPr>
            </a:pPr>
            <a:r>
              <a:rPr sz="1725" b="0" i="1">
                <a:solidFill>
                  <a:srgbClr val="A5ABB0"/>
                </a:solidFill>
                <a:latin typeface="Times New Roman" panose="02020603050405020304"/>
                <a:ea typeface="Times New Roman" panose="02020603050405020304"/>
                <a:cs typeface="Times New Roman" panose="02020603050405020304"/>
              </a:rPr>
              <a:t>j = 2</a:t>
            </a:r>
            <a:endParaRPr sz="1725" b="0" i="1">
              <a:solidFill>
                <a:srgbClr val="A5ABB0"/>
              </a:solidFill>
              <a:latin typeface="Times New Roman" panose="02020603050405020304"/>
              <a:ea typeface="Times New Roman" panose="02020603050405020304"/>
              <a:cs typeface="Times New Roman" panose="02020603050405020304"/>
            </a:endParaRPr>
          </a:p>
        </p:txBody>
      </p:sp>
      <p:sp>
        <p:nvSpPr>
          <p:cNvPr id="65" name="short-answer-note"/>
          <p:cNvSpPr>
            <a:spLocks noGrp="1"/>
          </p:cNvSpPr>
          <p:nvPr/>
        </p:nvSpPr>
        <p:spPr>
          <a:xfrm>
            <a:off x="323850" y="4829175"/>
            <a:ext cx="4514850" cy="276225"/>
          </a:xfrm>
          <a:prstGeom prst="rect">
            <a:avLst/>
          </a:prstGeom>
          <a:noFill/>
          <a:ln w="0">
            <a:noFill/>
            <a:prstDash val="solid"/>
          </a:ln>
        </p:spPr>
        <p:txBody>
          <a:bodyPr wrap="none" lIns="0" tIns="0" rIns="0" bIns="0" anchor="ctr">
            <a:noAutofit/>
          </a:bodyPr>
          <a:lstStyle/>
          <a:p>
            <a:pPr algn="ctr">
              <a:defRPr sz="1800" b="0" i="1">
                <a:solidFill>
                  <a:srgbClr val="202428"/>
                </a:solidFill>
                <a:latin typeface="Times New Roman" panose="02020603050405020304"/>
                <a:ea typeface="Times New Roman" panose="02020603050405020304"/>
                <a:cs typeface="Times New Roman" panose="02020603050405020304"/>
              </a:defRPr>
            </a:pPr>
            <a:r>
              <a:rPr sz="1800" b="0" i="1">
                <a:solidFill>
                  <a:srgbClr val="202428"/>
                </a:solidFill>
                <a:latin typeface="Times New Roman" panose="02020603050405020304"/>
                <a:ea typeface="Times New Roman" panose="02020603050405020304"/>
                <a:cs typeface="Times New Roman" panose="02020603050405020304"/>
              </a:rPr>
              <a:t>Short answers can end before reuse.</a:t>
            </a:r>
            <a:endParaRPr sz="1800" b="0" i="1">
              <a:solidFill>
                <a:srgbClr val="202428"/>
              </a:solidFill>
              <a:latin typeface="Times New Roman" panose="02020603050405020304"/>
              <a:ea typeface="Times New Roman" panose="02020603050405020304"/>
              <a:cs typeface="Times New Roman" panose="02020603050405020304"/>
            </a:endParaRPr>
          </a:p>
        </p:txBody>
      </p:sp>
      <p:sp>
        <p:nvSpPr>
          <p:cNvPr id="66" name="model-surface"/>
          <p:cNvSpPr>
            <a:spLocks noGrp="1"/>
          </p:cNvSpPr>
          <p:nvPr/>
        </p:nvSpPr>
        <p:spPr>
          <a:xfrm>
            <a:off x="5229225" y="609600"/>
            <a:ext cx="5305425" cy="2114550"/>
          </a:xfrm>
          <a:prstGeom prst="roundRect">
            <a:avLst>
              <a:gd name="adj" fmla="val 9009"/>
            </a:avLst>
          </a:prstGeom>
          <a:solidFill>
            <a:srgbClr val="ECEDEE"/>
          </a:solidFill>
          <a:ln w="0">
            <a:noFill/>
            <a:prstDash val="solid"/>
          </a:ln>
        </p:spPr>
      </p:sp>
      <p:sp>
        <p:nvSpPr>
          <p:cNvPr id="67" name="model-title"/>
          <p:cNvSpPr>
            <a:spLocks noGrp="1"/>
          </p:cNvSpPr>
          <p:nvPr/>
        </p:nvSpPr>
        <p:spPr>
          <a:xfrm>
            <a:off x="5391150" y="676275"/>
            <a:ext cx="4972050" cy="323850"/>
          </a:xfrm>
          <a:prstGeom prst="rect">
            <a:avLst/>
          </a:prstGeom>
          <a:noFill/>
          <a:ln w="0">
            <a:noFill/>
            <a:prstDash val="solid"/>
          </a:ln>
        </p:spPr>
        <p:txBody>
          <a:bodyPr wrap="none" lIns="0" tIns="0" rIns="0" bIns="0" anchor="ctr">
            <a:noAutofit/>
          </a:bodyPr>
          <a:lstStyle/>
          <a:p>
            <a:pPr algn="ctr">
              <a:defRPr sz="2175" b="0" i="0">
                <a:solidFill>
                  <a:srgbClr val="202428"/>
                </a:solidFill>
                <a:latin typeface="Times New Roman" panose="02020603050405020304"/>
                <a:ea typeface="Times New Roman" panose="02020603050405020304"/>
                <a:cs typeface="Times New Roman" panose="02020603050405020304"/>
              </a:defRPr>
            </a:pPr>
            <a:r>
              <a:rPr sz="2175" b="0" i="0">
                <a:solidFill>
                  <a:srgbClr val="202428"/>
                </a:solidFill>
                <a:latin typeface="Times New Roman" panose="02020603050405020304"/>
                <a:ea typeface="Times New Roman" panose="02020603050405020304"/>
                <a:cs typeface="Times New Roman" panose="02020603050405020304"/>
              </a:rPr>
              <a:t>Unified model (Show-o2)</a:t>
            </a:r>
            <a:endParaRPr sz="2175" b="0" i="0">
              <a:solidFill>
                <a:srgbClr val="202428"/>
              </a:solidFill>
              <a:latin typeface="Times New Roman" panose="02020603050405020304"/>
              <a:ea typeface="Times New Roman" panose="02020603050405020304"/>
              <a:cs typeface="Times New Roman" panose="02020603050405020304"/>
            </a:endParaRPr>
          </a:p>
        </p:txBody>
      </p:sp>
      <p:sp>
        <p:nvSpPr>
          <p:cNvPr id="68" name="diff-label"/>
          <p:cNvSpPr>
            <a:spLocks noGrp="1"/>
          </p:cNvSpPr>
          <p:nvPr/>
        </p:nvSpPr>
        <p:spPr>
          <a:xfrm>
            <a:off x="5514975" y="1019175"/>
            <a:ext cx="2571750" cy="257175"/>
          </a:xfrm>
          <a:prstGeom prst="rect">
            <a:avLst/>
          </a:prstGeom>
          <a:noFill/>
          <a:ln w="0">
            <a:noFill/>
            <a:prstDash val="solid"/>
          </a:ln>
        </p:spPr>
        <p:txBody>
          <a:bodyPr wrap="none" lIns="0" tIns="0" rIns="0" bIns="0" anchor="ctr">
            <a:noAutofit/>
          </a:bodyPr>
          <a:lstStyle/>
          <a:p>
            <a:pPr algn="ctr">
              <a:defRPr sz="1800" b="0" i="1">
                <a:solidFill>
                  <a:srgbClr val="2876A4"/>
                </a:solidFill>
                <a:latin typeface="Times New Roman" panose="02020603050405020304"/>
                <a:ea typeface="Times New Roman" panose="02020603050405020304"/>
                <a:cs typeface="Times New Roman" panose="02020603050405020304"/>
              </a:defRPr>
            </a:pPr>
            <a:r>
              <a:rPr sz="1800" b="0" i="1">
                <a:solidFill>
                  <a:srgbClr val="2876A4"/>
                </a:solidFill>
                <a:latin typeface="Times New Roman" panose="02020603050405020304"/>
                <a:ea typeface="Times New Roman" panose="02020603050405020304"/>
                <a:cs typeface="Times New Roman" panose="02020603050405020304"/>
              </a:rPr>
              <a:t>Diffusion head</a:t>
            </a:r>
            <a:endParaRPr sz="1800" b="0" i="1">
              <a:solidFill>
                <a:srgbClr val="2876A4"/>
              </a:solidFill>
              <a:latin typeface="Times New Roman" panose="02020603050405020304"/>
              <a:ea typeface="Times New Roman" panose="02020603050405020304"/>
              <a:cs typeface="Times New Roman" panose="02020603050405020304"/>
            </a:endParaRPr>
          </a:p>
        </p:txBody>
      </p:sp>
      <p:sp>
        <p:nvSpPr>
          <p:cNvPr id="69" name="vocab-branch-label"/>
          <p:cNvSpPr>
            <a:spLocks noGrp="1"/>
          </p:cNvSpPr>
          <p:nvPr/>
        </p:nvSpPr>
        <p:spPr>
          <a:xfrm>
            <a:off x="8620125" y="1019175"/>
            <a:ext cx="1752600" cy="257175"/>
          </a:xfrm>
          <a:prstGeom prst="rect">
            <a:avLst/>
          </a:prstGeom>
          <a:noFill/>
          <a:ln w="0">
            <a:noFill/>
            <a:prstDash val="solid"/>
          </a:ln>
        </p:spPr>
        <p:txBody>
          <a:bodyPr wrap="none" lIns="0" tIns="0" rIns="0" bIns="0" anchor="ctr">
            <a:noAutofit/>
          </a:bodyPr>
          <a:lstStyle/>
          <a:p>
            <a:pPr algn="ctr">
              <a:defRPr sz="1800" b="0" i="1">
                <a:solidFill>
                  <a:srgbClr val="008D85"/>
                </a:solidFill>
                <a:latin typeface="Times New Roman" panose="02020603050405020304"/>
                <a:ea typeface="Times New Roman" panose="02020603050405020304"/>
                <a:cs typeface="Times New Roman" panose="02020603050405020304"/>
              </a:defRPr>
            </a:pPr>
            <a:r>
              <a:rPr sz="1800" b="0" i="1">
                <a:solidFill>
                  <a:srgbClr val="008D85"/>
                </a:solidFill>
                <a:latin typeface="Times New Roman" panose="02020603050405020304"/>
                <a:ea typeface="Times New Roman" panose="02020603050405020304"/>
                <a:cs typeface="Times New Roman" panose="02020603050405020304"/>
              </a:rPr>
              <a:t>Text logits</a:t>
            </a:r>
            <a:endParaRPr sz="1800" b="0" i="1">
              <a:solidFill>
                <a:srgbClr val="008D85"/>
              </a:solidFill>
              <a:latin typeface="Times New Roman" panose="02020603050405020304"/>
              <a:ea typeface="Times New Roman" panose="02020603050405020304"/>
              <a:cs typeface="Times New Roman" panose="02020603050405020304"/>
            </a:endParaRPr>
          </a:p>
        </p:txBody>
      </p:sp>
      <p:sp>
        <p:nvSpPr>
          <p:cNvPr id="70" name="head-a"/>
          <p:cNvSpPr>
            <a:spLocks noGrp="1"/>
          </p:cNvSpPr>
          <p:nvPr/>
        </p:nvSpPr>
        <p:spPr>
          <a:xfrm>
            <a:off x="5562600" y="1343025"/>
            <a:ext cx="1123950" cy="409575"/>
          </a:xfrm>
          <a:prstGeom prst="roundRect">
            <a:avLst>
              <a:gd name="adj" fmla="val 6977"/>
            </a:avLst>
          </a:prstGeom>
          <a:solidFill>
            <a:srgbClr val="DCE9F2"/>
          </a:solidFill>
          <a:ln w="14288">
            <a:solidFill>
              <a:srgbClr val="2876A4"/>
            </a:solidFill>
            <a:prstDash val="solid"/>
          </a:ln>
        </p:spPr>
      </p:sp>
      <p:sp>
        <p:nvSpPr>
          <p:cNvPr id="71" name="head-a-label"/>
          <p:cNvSpPr>
            <a:spLocks noGrp="1"/>
          </p:cNvSpPr>
          <p:nvPr/>
        </p:nvSpPr>
        <p:spPr>
          <a:xfrm>
            <a:off x="5591175" y="1352550"/>
            <a:ext cx="1066800" cy="390525"/>
          </a:xfrm>
          <a:prstGeom prst="rect">
            <a:avLst/>
          </a:prstGeom>
          <a:noFill/>
          <a:ln w="0">
            <a:noFill/>
            <a:prstDash val="solid"/>
          </a:ln>
        </p:spPr>
        <p:txBody>
          <a:bodyPr wrap="none" lIns="0" tIns="0" rIns="0" bIns="0" anchor="ctr">
            <a:noAutofit/>
          </a:bodyPr>
          <a:lstStyle/>
          <a:p>
            <a:pPr algn="ctr">
              <a:defRPr sz="2025" b="0" i="0">
                <a:solidFill>
                  <a:srgbClr val="202428"/>
                </a:solidFill>
                <a:latin typeface="Times New Roman" panose="02020603050405020304"/>
                <a:ea typeface="Times New Roman" panose="02020603050405020304"/>
                <a:cs typeface="Times New Roman" panose="02020603050405020304"/>
              </a:defRPr>
            </a:pPr>
            <a:r>
              <a:rPr sz="2025" b="0" i="0">
                <a:solidFill>
                  <a:srgbClr val="202428"/>
                </a:solidFill>
                <a:latin typeface="Times New Roman" panose="02020603050405020304"/>
                <a:ea typeface="Times New Roman" panose="02020603050405020304"/>
                <a:cs typeface="Times New Roman" panose="02020603050405020304"/>
              </a:rPr>
              <a:t>Head A</a:t>
            </a:r>
            <a:endParaRPr sz="2025" b="0" i="0">
              <a:solidFill>
                <a:srgbClr val="202428"/>
              </a:solidFill>
              <a:latin typeface="Times New Roman" panose="02020603050405020304"/>
              <a:ea typeface="Times New Roman" panose="02020603050405020304"/>
              <a:cs typeface="Times New Roman" panose="02020603050405020304"/>
            </a:endParaRPr>
          </a:p>
        </p:txBody>
      </p:sp>
      <p:sp>
        <p:nvSpPr>
          <p:cNvPr id="72" name="head-b"/>
          <p:cNvSpPr>
            <a:spLocks noGrp="1"/>
          </p:cNvSpPr>
          <p:nvPr/>
        </p:nvSpPr>
        <p:spPr>
          <a:xfrm>
            <a:off x="6953250" y="1343025"/>
            <a:ext cx="1123950" cy="409575"/>
          </a:xfrm>
          <a:prstGeom prst="roundRect">
            <a:avLst>
              <a:gd name="adj" fmla="val 6977"/>
            </a:avLst>
          </a:prstGeom>
          <a:solidFill>
            <a:srgbClr val="DCE9F2"/>
          </a:solidFill>
          <a:ln w="14288">
            <a:solidFill>
              <a:srgbClr val="2876A4"/>
            </a:solidFill>
            <a:prstDash val="solid"/>
          </a:ln>
        </p:spPr>
      </p:sp>
      <p:sp>
        <p:nvSpPr>
          <p:cNvPr id="73" name="head-b-label"/>
          <p:cNvSpPr>
            <a:spLocks noGrp="1"/>
          </p:cNvSpPr>
          <p:nvPr/>
        </p:nvSpPr>
        <p:spPr>
          <a:xfrm>
            <a:off x="6981825" y="1352550"/>
            <a:ext cx="1066800" cy="390525"/>
          </a:xfrm>
          <a:prstGeom prst="rect">
            <a:avLst/>
          </a:prstGeom>
          <a:noFill/>
          <a:ln w="0">
            <a:noFill/>
            <a:prstDash val="solid"/>
          </a:ln>
        </p:spPr>
        <p:txBody>
          <a:bodyPr wrap="none" lIns="0" tIns="0" rIns="0" bIns="0" anchor="ctr">
            <a:noAutofit/>
          </a:bodyPr>
          <a:lstStyle/>
          <a:p>
            <a:pPr algn="ctr">
              <a:defRPr sz="2025" b="0" i="0">
                <a:solidFill>
                  <a:srgbClr val="202428"/>
                </a:solidFill>
                <a:latin typeface="Times New Roman" panose="02020603050405020304"/>
                <a:ea typeface="Times New Roman" panose="02020603050405020304"/>
                <a:cs typeface="Times New Roman" panose="02020603050405020304"/>
              </a:defRPr>
            </a:pPr>
            <a:r>
              <a:rPr sz="2025" b="0" i="0">
                <a:solidFill>
                  <a:srgbClr val="202428"/>
                </a:solidFill>
                <a:latin typeface="Times New Roman" panose="02020603050405020304"/>
                <a:ea typeface="Times New Roman" panose="02020603050405020304"/>
                <a:cs typeface="Times New Roman" panose="02020603050405020304"/>
              </a:rPr>
              <a:t>Head B</a:t>
            </a:r>
            <a:endParaRPr sz="2025" b="0" i="0">
              <a:solidFill>
                <a:srgbClr val="202428"/>
              </a:solidFill>
              <a:latin typeface="Times New Roman" panose="02020603050405020304"/>
              <a:ea typeface="Times New Roman" panose="02020603050405020304"/>
              <a:cs typeface="Times New Roman" panose="02020603050405020304"/>
            </a:endParaRPr>
          </a:p>
        </p:txBody>
      </p:sp>
      <p:sp>
        <p:nvSpPr>
          <p:cNvPr id="74" name="vocabulary-head"/>
          <p:cNvSpPr>
            <a:spLocks noGrp="1"/>
          </p:cNvSpPr>
          <p:nvPr/>
        </p:nvSpPr>
        <p:spPr>
          <a:xfrm>
            <a:off x="8648700" y="1343025"/>
            <a:ext cx="1714500" cy="409575"/>
          </a:xfrm>
          <a:prstGeom prst="roundRect">
            <a:avLst>
              <a:gd name="adj" fmla="val 6977"/>
            </a:avLst>
          </a:prstGeom>
          <a:solidFill>
            <a:srgbClr val="E3F3EF"/>
          </a:solidFill>
          <a:ln w="14288">
            <a:solidFill>
              <a:srgbClr val="008D85"/>
            </a:solidFill>
            <a:prstDash val="solid"/>
          </a:ln>
        </p:spPr>
      </p:sp>
      <p:sp>
        <p:nvSpPr>
          <p:cNvPr id="75" name="vocabulary-head-label"/>
          <p:cNvSpPr>
            <a:spLocks noGrp="1"/>
          </p:cNvSpPr>
          <p:nvPr/>
        </p:nvSpPr>
        <p:spPr>
          <a:xfrm>
            <a:off x="8677275" y="1352550"/>
            <a:ext cx="1657350" cy="390525"/>
          </a:xfrm>
          <a:prstGeom prst="rect">
            <a:avLst/>
          </a:prstGeom>
          <a:noFill/>
          <a:ln w="0">
            <a:noFill/>
            <a:prstDash val="solid"/>
          </a:ln>
        </p:spPr>
        <p:txBody>
          <a:bodyPr wrap="none" lIns="0" tIns="0" rIns="0" bIns="0" anchor="ctr">
            <a:noAutofit/>
          </a:bodyPr>
          <a:lstStyle/>
          <a:p>
            <a:pPr algn="ctr">
              <a:defRPr sz="1875" b="0" i="0">
                <a:solidFill>
                  <a:srgbClr val="202428"/>
                </a:solidFill>
                <a:latin typeface="Times New Roman" panose="02020603050405020304"/>
                <a:ea typeface="Times New Roman" panose="02020603050405020304"/>
                <a:cs typeface="Times New Roman" panose="02020603050405020304"/>
              </a:defRPr>
            </a:pPr>
            <a:r>
              <a:rPr sz="1875" b="0" i="0">
                <a:solidFill>
                  <a:srgbClr val="202428"/>
                </a:solidFill>
                <a:latin typeface="Times New Roman" panose="02020603050405020304"/>
                <a:ea typeface="Times New Roman" panose="02020603050405020304"/>
                <a:cs typeface="Times New Roman" panose="02020603050405020304"/>
              </a:rPr>
              <a:t>Vocabulary head</a:t>
            </a:r>
            <a:endParaRPr sz="1875" b="0" i="0">
              <a:solidFill>
                <a:srgbClr val="202428"/>
              </a:solidFill>
              <a:latin typeface="Times New Roman" panose="02020603050405020304"/>
              <a:ea typeface="Times New Roman" panose="02020603050405020304"/>
              <a:cs typeface="Times New Roman" panose="02020603050405020304"/>
            </a:endParaRPr>
          </a:p>
        </p:txBody>
      </p:sp>
      <p:sp>
        <p:nvSpPr>
          <p:cNvPr id="76" name="head-a-b-a"/>
          <p:cNvSpPr>
            <a:spLocks noGrp="1"/>
          </p:cNvSpPr>
          <p:nvPr/>
        </p:nvSpPr>
        <p:spPr>
          <a:xfrm>
            <a:off x="6724650" y="1552575"/>
            <a:ext cx="953" cy="953"/>
          </a:xfrm>
          <a:prstGeom prst="rect">
            <a:avLst/>
          </a:prstGeom>
          <a:noFill/>
          <a:ln w="0">
            <a:noFill/>
            <a:prstDash val="solid"/>
          </a:ln>
        </p:spPr>
      </p:sp>
      <p:sp>
        <p:nvSpPr>
          <p:cNvPr id="77" name="head-a-b-b"/>
          <p:cNvSpPr>
            <a:spLocks noGrp="1"/>
          </p:cNvSpPr>
          <p:nvPr/>
        </p:nvSpPr>
        <p:spPr>
          <a:xfrm>
            <a:off x="6905625" y="1552575"/>
            <a:ext cx="953" cy="953"/>
          </a:xfrm>
          <a:prstGeom prst="rect">
            <a:avLst/>
          </a:prstGeom>
          <a:noFill/>
          <a:ln w="0">
            <a:noFill/>
            <a:prstDash val="solid"/>
          </a:ln>
        </p:spPr>
      </p:sp>
      <p:cxnSp>
        <p:nvCxnSpPr>
          <p:cNvPr id="315" name="head-a-b"/>
          <p:cNvCxnSpPr>
            <a:stCxn id="76" idx="3"/>
            <a:endCxn id="77" idx="1"/>
          </p:cNvCxnSpPr>
          <p:nvPr/>
        </p:nvCxnSpPr>
        <p:spPr>
          <a:xfrm>
            <a:off x="6725603" y="1553052"/>
            <a:ext cx="180022" cy="0"/>
          </a:xfrm>
          <a:prstGeom prst="straightConnector1">
            <a:avLst/>
          </a:prstGeom>
          <a:ln w="17145">
            <a:solidFill>
              <a:srgbClr val="202428"/>
            </a:solidFill>
            <a:prstDash val="solid"/>
            <a:tailEnd type="triangle" w="sm" len="sm"/>
          </a:ln>
        </p:spPr>
      </p:cxnSp>
      <p:sp>
        <p:nvSpPr>
          <p:cNvPr id="79" name="trunk-layer0"/>
          <p:cNvSpPr>
            <a:spLocks noGrp="1"/>
          </p:cNvSpPr>
          <p:nvPr/>
        </p:nvSpPr>
        <p:spPr>
          <a:xfrm>
            <a:off x="5505450" y="2105025"/>
            <a:ext cx="4714875" cy="400050"/>
          </a:xfrm>
          <a:prstGeom prst="roundRect">
            <a:avLst>
              <a:gd name="adj" fmla="val 7143"/>
            </a:avLst>
          </a:prstGeom>
          <a:solidFill>
            <a:srgbClr val="FFFFFF"/>
          </a:solidFill>
          <a:ln w="10478">
            <a:solidFill>
              <a:srgbClr val="A5ABB0"/>
            </a:solidFill>
            <a:prstDash val="solid"/>
          </a:ln>
        </p:spPr>
      </p:sp>
      <p:sp>
        <p:nvSpPr>
          <p:cNvPr id="80" name="trunk-layer1"/>
          <p:cNvSpPr>
            <a:spLocks noGrp="1"/>
          </p:cNvSpPr>
          <p:nvPr/>
        </p:nvSpPr>
        <p:spPr>
          <a:xfrm>
            <a:off x="5562600" y="2162175"/>
            <a:ext cx="4714875" cy="400050"/>
          </a:xfrm>
          <a:prstGeom prst="roundRect">
            <a:avLst>
              <a:gd name="adj" fmla="val 7143"/>
            </a:avLst>
          </a:prstGeom>
          <a:solidFill>
            <a:srgbClr val="FFFFFF"/>
          </a:solidFill>
          <a:ln w="10478">
            <a:solidFill>
              <a:srgbClr val="A5ABB0"/>
            </a:solidFill>
            <a:prstDash val="solid"/>
          </a:ln>
        </p:spPr>
      </p:sp>
      <p:sp>
        <p:nvSpPr>
          <p:cNvPr id="81" name="trunk-layer2"/>
          <p:cNvSpPr>
            <a:spLocks noGrp="1"/>
          </p:cNvSpPr>
          <p:nvPr/>
        </p:nvSpPr>
        <p:spPr>
          <a:xfrm>
            <a:off x="5619750" y="2219325"/>
            <a:ext cx="4714875" cy="400050"/>
          </a:xfrm>
          <a:prstGeom prst="roundRect">
            <a:avLst>
              <a:gd name="adj" fmla="val 7143"/>
            </a:avLst>
          </a:prstGeom>
          <a:solidFill>
            <a:srgbClr val="FFFFFF"/>
          </a:solidFill>
          <a:ln w="15240">
            <a:solidFill>
              <a:srgbClr val="202428"/>
            </a:solidFill>
            <a:prstDash val="solid"/>
          </a:ln>
        </p:spPr>
      </p:sp>
      <p:sp>
        <p:nvSpPr>
          <p:cNvPr id="82" name="trunk-label"/>
          <p:cNvSpPr>
            <a:spLocks noGrp="1"/>
          </p:cNvSpPr>
          <p:nvPr/>
        </p:nvSpPr>
        <p:spPr>
          <a:xfrm>
            <a:off x="5667375" y="2266950"/>
            <a:ext cx="4619625" cy="285750"/>
          </a:xfrm>
          <a:prstGeom prst="rect">
            <a:avLst/>
          </a:prstGeom>
          <a:noFill/>
          <a:ln w="0">
            <a:noFill/>
            <a:prstDash val="solid"/>
          </a:ln>
        </p:spPr>
        <p:txBody>
          <a:bodyPr wrap="none" lIns="0" tIns="0" rIns="0" bIns="0" anchor="ctr">
            <a:noAutofit/>
          </a:bodyPr>
          <a:lstStyle/>
          <a:p>
            <a:pPr algn="ctr">
              <a:defRPr sz="2100" b="0" i="0">
                <a:solidFill>
                  <a:srgbClr val="202428"/>
                </a:solidFill>
                <a:latin typeface="Times New Roman" panose="02020603050405020304"/>
                <a:ea typeface="Times New Roman" panose="02020603050405020304"/>
                <a:cs typeface="Times New Roman" panose="02020603050405020304"/>
              </a:defRPr>
            </a:pPr>
            <a:r>
              <a:rPr sz="2100" b="0" i="0">
                <a:solidFill>
                  <a:srgbClr val="202428"/>
                </a:solidFill>
                <a:latin typeface="Times New Roman" panose="02020603050405020304"/>
                <a:ea typeface="Times New Roman" panose="02020603050405020304"/>
                <a:cs typeface="Times New Roman" panose="02020603050405020304"/>
              </a:rPr>
              <a:t>Transformer trunk</a:t>
            </a:r>
            <a:endParaRPr sz="2100" b="0" i="0">
              <a:solidFill>
                <a:srgbClr val="202428"/>
              </a:solidFill>
              <a:latin typeface="Times New Roman" panose="02020603050405020304"/>
              <a:ea typeface="Times New Roman" panose="02020603050405020304"/>
              <a:cs typeface="Times New Roman" panose="02020603050405020304"/>
            </a:endParaRPr>
          </a:p>
        </p:txBody>
      </p:sp>
      <p:sp>
        <p:nvSpPr>
          <p:cNvPr id="83" name="trunk-head-a-a"/>
          <p:cNvSpPr>
            <a:spLocks noGrp="1"/>
          </p:cNvSpPr>
          <p:nvPr/>
        </p:nvSpPr>
        <p:spPr>
          <a:xfrm>
            <a:off x="6124575" y="2076450"/>
            <a:ext cx="953" cy="953"/>
          </a:xfrm>
          <a:prstGeom prst="rect">
            <a:avLst/>
          </a:prstGeom>
          <a:noFill/>
          <a:ln w="0">
            <a:noFill/>
            <a:prstDash val="solid"/>
          </a:ln>
        </p:spPr>
      </p:sp>
      <p:sp>
        <p:nvSpPr>
          <p:cNvPr id="84" name="trunk-head-a-b"/>
          <p:cNvSpPr>
            <a:spLocks noGrp="1"/>
          </p:cNvSpPr>
          <p:nvPr/>
        </p:nvSpPr>
        <p:spPr>
          <a:xfrm>
            <a:off x="6124575" y="1781175"/>
            <a:ext cx="953" cy="953"/>
          </a:xfrm>
          <a:prstGeom prst="rect">
            <a:avLst/>
          </a:prstGeom>
          <a:noFill/>
          <a:ln w="0">
            <a:noFill/>
            <a:prstDash val="solid"/>
          </a:ln>
        </p:spPr>
      </p:sp>
      <p:cxnSp>
        <p:nvCxnSpPr>
          <p:cNvPr id="322" name="trunk-head-a"/>
          <p:cNvCxnSpPr>
            <a:stCxn id="83" idx="3"/>
            <a:endCxn id="84" idx="1"/>
          </p:cNvCxnSpPr>
          <p:nvPr/>
        </p:nvCxnSpPr>
        <p:spPr>
          <a:xfrm flipH="1" flipV="1">
            <a:off x="6124575" y="1781652"/>
            <a:ext cx="953" cy="295275"/>
          </a:xfrm>
          <a:prstGeom prst="straightConnector1">
            <a:avLst/>
          </a:prstGeom>
          <a:ln w="14288">
            <a:solidFill>
              <a:srgbClr val="202428"/>
            </a:solidFill>
            <a:prstDash val="solid"/>
            <a:tailEnd type="triangle" w="sm" len="sm"/>
          </a:ln>
        </p:spPr>
      </p:cxnSp>
      <p:sp>
        <p:nvSpPr>
          <p:cNvPr id="86" name="trunk-vocab-a"/>
          <p:cNvSpPr>
            <a:spLocks noGrp="1"/>
          </p:cNvSpPr>
          <p:nvPr/>
        </p:nvSpPr>
        <p:spPr>
          <a:xfrm>
            <a:off x="9505950" y="2190750"/>
            <a:ext cx="953" cy="953"/>
          </a:xfrm>
          <a:prstGeom prst="rect">
            <a:avLst/>
          </a:prstGeom>
          <a:noFill/>
          <a:ln w="0">
            <a:noFill/>
            <a:prstDash val="solid"/>
          </a:ln>
        </p:spPr>
      </p:sp>
      <p:sp>
        <p:nvSpPr>
          <p:cNvPr id="87" name="trunk-vocab-b"/>
          <p:cNvSpPr>
            <a:spLocks noGrp="1"/>
          </p:cNvSpPr>
          <p:nvPr/>
        </p:nvSpPr>
        <p:spPr>
          <a:xfrm>
            <a:off x="9505950" y="1781175"/>
            <a:ext cx="953" cy="953"/>
          </a:xfrm>
          <a:prstGeom prst="rect">
            <a:avLst/>
          </a:prstGeom>
          <a:noFill/>
          <a:ln w="0">
            <a:noFill/>
            <a:prstDash val="solid"/>
          </a:ln>
        </p:spPr>
      </p:sp>
      <p:cxnSp>
        <p:nvCxnSpPr>
          <p:cNvPr id="325" name="trunk-vocab"/>
          <p:cNvCxnSpPr>
            <a:stCxn id="86" idx="3"/>
            <a:endCxn id="87" idx="1"/>
          </p:cNvCxnSpPr>
          <p:nvPr/>
        </p:nvCxnSpPr>
        <p:spPr>
          <a:xfrm flipH="1" flipV="1">
            <a:off x="9505950" y="1781652"/>
            <a:ext cx="953" cy="409575"/>
          </a:xfrm>
          <a:prstGeom prst="straightConnector1">
            <a:avLst/>
          </a:prstGeom>
          <a:ln w="14288">
            <a:solidFill>
              <a:srgbClr val="202428"/>
            </a:solidFill>
            <a:prstDash val="solid"/>
            <a:tailEnd type="triangle" w="sm" len="sm"/>
          </a:ln>
        </p:spPr>
      </p:cxnSp>
      <p:sp>
        <p:nvSpPr>
          <p:cNvPr id="89" name="text-token0"/>
          <p:cNvSpPr>
            <a:spLocks noGrp="1"/>
          </p:cNvSpPr>
          <p:nvPr/>
        </p:nvSpPr>
        <p:spPr>
          <a:xfrm>
            <a:off x="5724525" y="3076575"/>
            <a:ext cx="228600" cy="219075"/>
          </a:xfrm>
          <a:prstGeom prst="roundRect">
            <a:avLst>
              <a:gd name="adj" fmla="val 13043"/>
            </a:avLst>
          </a:prstGeom>
          <a:solidFill>
            <a:srgbClr val="80B7B0"/>
          </a:solidFill>
          <a:ln w="10478">
            <a:solidFill>
              <a:srgbClr val="008D85"/>
            </a:solidFill>
            <a:prstDash val="solid"/>
          </a:ln>
        </p:spPr>
      </p:sp>
      <p:sp>
        <p:nvSpPr>
          <p:cNvPr id="90" name="text-token1"/>
          <p:cNvSpPr>
            <a:spLocks noGrp="1"/>
          </p:cNvSpPr>
          <p:nvPr/>
        </p:nvSpPr>
        <p:spPr>
          <a:xfrm>
            <a:off x="6029325" y="3076575"/>
            <a:ext cx="228600" cy="219075"/>
          </a:xfrm>
          <a:prstGeom prst="roundRect">
            <a:avLst>
              <a:gd name="adj" fmla="val 13043"/>
            </a:avLst>
          </a:prstGeom>
          <a:solidFill>
            <a:srgbClr val="80B7B0"/>
          </a:solidFill>
          <a:ln w="10478">
            <a:solidFill>
              <a:srgbClr val="008D85"/>
            </a:solidFill>
            <a:prstDash val="solid"/>
          </a:ln>
        </p:spPr>
      </p:sp>
      <p:sp>
        <p:nvSpPr>
          <p:cNvPr id="91" name="text-token2"/>
          <p:cNvSpPr>
            <a:spLocks noGrp="1"/>
          </p:cNvSpPr>
          <p:nvPr/>
        </p:nvSpPr>
        <p:spPr>
          <a:xfrm>
            <a:off x="6334125" y="3076575"/>
            <a:ext cx="228600" cy="219075"/>
          </a:xfrm>
          <a:prstGeom prst="roundRect">
            <a:avLst>
              <a:gd name="adj" fmla="val 13043"/>
            </a:avLst>
          </a:prstGeom>
          <a:solidFill>
            <a:srgbClr val="80B7B0"/>
          </a:solidFill>
          <a:ln w="10478">
            <a:solidFill>
              <a:srgbClr val="008D85"/>
            </a:solidFill>
            <a:prstDash val="solid"/>
          </a:ln>
        </p:spPr>
      </p:sp>
      <p:sp>
        <p:nvSpPr>
          <p:cNvPr id="92" name="text-token3"/>
          <p:cNvSpPr>
            <a:spLocks noGrp="1"/>
          </p:cNvSpPr>
          <p:nvPr/>
        </p:nvSpPr>
        <p:spPr>
          <a:xfrm>
            <a:off x="6638925" y="3076575"/>
            <a:ext cx="228600" cy="219075"/>
          </a:xfrm>
          <a:prstGeom prst="roundRect">
            <a:avLst>
              <a:gd name="adj" fmla="val 13043"/>
            </a:avLst>
          </a:prstGeom>
          <a:solidFill>
            <a:srgbClr val="80B7B0"/>
          </a:solidFill>
          <a:ln w="10478">
            <a:solidFill>
              <a:srgbClr val="008D85"/>
            </a:solidFill>
            <a:prstDash val="solid"/>
          </a:ln>
        </p:spPr>
      </p:sp>
      <p:sp>
        <p:nvSpPr>
          <p:cNvPr id="93" name="vision-token0"/>
          <p:cNvSpPr>
            <a:spLocks noGrp="1"/>
          </p:cNvSpPr>
          <p:nvPr/>
        </p:nvSpPr>
        <p:spPr>
          <a:xfrm>
            <a:off x="7439025" y="3076575"/>
            <a:ext cx="228600" cy="219075"/>
          </a:xfrm>
          <a:prstGeom prst="roundRect">
            <a:avLst>
              <a:gd name="adj" fmla="val 13043"/>
            </a:avLst>
          </a:prstGeom>
          <a:solidFill>
            <a:srgbClr val="91B9D3"/>
          </a:solidFill>
          <a:ln w="10478">
            <a:solidFill>
              <a:srgbClr val="2876A4"/>
            </a:solidFill>
            <a:prstDash val="solid"/>
          </a:ln>
        </p:spPr>
      </p:sp>
      <p:sp>
        <p:nvSpPr>
          <p:cNvPr id="94" name="vision-token1"/>
          <p:cNvSpPr>
            <a:spLocks noGrp="1"/>
          </p:cNvSpPr>
          <p:nvPr/>
        </p:nvSpPr>
        <p:spPr>
          <a:xfrm>
            <a:off x="7743825" y="3076575"/>
            <a:ext cx="228600" cy="219075"/>
          </a:xfrm>
          <a:prstGeom prst="roundRect">
            <a:avLst>
              <a:gd name="adj" fmla="val 13043"/>
            </a:avLst>
          </a:prstGeom>
          <a:solidFill>
            <a:srgbClr val="91B9D3"/>
          </a:solidFill>
          <a:ln w="10478">
            <a:solidFill>
              <a:srgbClr val="2876A4"/>
            </a:solidFill>
            <a:prstDash val="solid"/>
          </a:ln>
        </p:spPr>
      </p:sp>
      <p:sp>
        <p:nvSpPr>
          <p:cNvPr id="95" name="vision-token2"/>
          <p:cNvSpPr>
            <a:spLocks noGrp="1"/>
          </p:cNvSpPr>
          <p:nvPr/>
        </p:nvSpPr>
        <p:spPr>
          <a:xfrm>
            <a:off x="8048625" y="3076575"/>
            <a:ext cx="228600" cy="219075"/>
          </a:xfrm>
          <a:prstGeom prst="roundRect">
            <a:avLst>
              <a:gd name="adj" fmla="val 13043"/>
            </a:avLst>
          </a:prstGeom>
          <a:solidFill>
            <a:srgbClr val="91B9D3"/>
          </a:solidFill>
          <a:ln w="10478">
            <a:solidFill>
              <a:srgbClr val="2876A4"/>
            </a:solidFill>
            <a:prstDash val="solid"/>
          </a:ln>
        </p:spPr>
      </p:sp>
      <p:sp>
        <p:nvSpPr>
          <p:cNvPr id="96" name="vision-token3"/>
          <p:cNvSpPr>
            <a:spLocks noGrp="1"/>
          </p:cNvSpPr>
          <p:nvPr/>
        </p:nvSpPr>
        <p:spPr>
          <a:xfrm>
            <a:off x="8353425" y="3076575"/>
            <a:ext cx="228600" cy="219075"/>
          </a:xfrm>
          <a:prstGeom prst="roundRect">
            <a:avLst>
              <a:gd name="adj" fmla="val 13043"/>
            </a:avLst>
          </a:prstGeom>
          <a:solidFill>
            <a:srgbClr val="91B9D3"/>
          </a:solidFill>
          <a:ln w="10478">
            <a:solidFill>
              <a:srgbClr val="2876A4"/>
            </a:solidFill>
            <a:prstDash val="solid"/>
          </a:ln>
        </p:spPr>
      </p:sp>
      <p:sp>
        <p:nvSpPr>
          <p:cNvPr id="97" name="vision-token4"/>
          <p:cNvSpPr>
            <a:spLocks noGrp="1"/>
          </p:cNvSpPr>
          <p:nvPr/>
        </p:nvSpPr>
        <p:spPr>
          <a:xfrm>
            <a:off x="8658225" y="3076575"/>
            <a:ext cx="228600" cy="219075"/>
          </a:xfrm>
          <a:prstGeom prst="roundRect">
            <a:avLst>
              <a:gd name="adj" fmla="val 13043"/>
            </a:avLst>
          </a:prstGeom>
          <a:solidFill>
            <a:srgbClr val="91B9D3"/>
          </a:solidFill>
          <a:ln w="10478">
            <a:solidFill>
              <a:srgbClr val="2876A4"/>
            </a:solidFill>
            <a:prstDash val="solid"/>
          </a:ln>
        </p:spPr>
      </p:sp>
      <p:sp>
        <p:nvSpPr>
          <p:cNvPr id="98" name="vision-token5"/>
          <p:cNvSpPr>
            <a:spLocks noGrp="1"/>
          </p:cNvSpPr>
          <p:nvPr/>
        </p:nvSpPr>
        <p:spPr>
          <a:xfrm>
            <a:off x="8963025" y="3076575"/>
            <a:ext cx="228600" cy="219075"/>
          </a:xfrm>
          <a:prstGeom prst="roundRect">
            <a:avLst>
              <a:gd name="adj" fmla="val 13043"/>
            </a:avLst>
          </a:prstGeom>
          <a:solidFill>
            <a:srgbClr val="91B9D3"/>
          </a:solidFill>
          <a:ln w="10478">
            <a:solidFill>
              <a:srgbClr val="2876A4"/>
            </a:solidFill>
            <a:prstDash val="solid"/>
          </a:ln>
        </p:spPr>
      </p:sp>
      <p:sp>
        <p:nvSpPr>
          <p:cNvPr id="99" name="token-ellipsis"/>
          <p:cNvSpPr>
            <a:spLocks noGrp="1"/>
          </p:cNvSpPr>
          <p:nvPr/>
        </p:nvSpPr>
        <p:spPr>
          <a:xfrm>
            <a:off x="9315450" y="3019425"/>
            <a:ext cx="400050" cy="257175"/>
          </a:xfrm>
          <a:prstGeom prst="rect">
            <a:avLst/>
          </a:prstGeom>
          <a:noFill/>
          <a:ln w="0">
            <a:noFill/>
            <a:prstDash val="solid"/>
          </a:ln>
        </p:spPr>
        <p:txBody>
          <a:bodyPr wrap="none" lIns="0" tIns="0" rIns="0" bIns="0" anchor="ctr">
            <a:noAutofit/>
          </a:bodyPr>
          <a:lstStyle/>
          <a:p>
            <a:pPr algn="l">
              <a:defRPr sz="1875" b="0" i="0">
                <a:solidFill>
                  <a:srgbClr val="62696E"/>
                </a:solidFill>
                <a:latin typeface="Times New Roman" panose="02020603050405020304"/>
                <a:ea typeface="Times New Roman" panose="02020603050405020304"/>
                <a:cs typeface="Times New Roman" panose="02020603050405020304"/>
              </a:defRPr>
            </a:pPr>
            <a:r>
              <a:rPr sz="1875" b="0" i="0">
                <a:solidFill>
                  <a:srgbClr val="62696E"/>
                </a:solidFill>
                <a:latin typeface="Times New Roman" panose="02020603050405020304"/>
                <a:ea typeface="Times New Roman" panose="02020603050405020304"/>
                <a:cs typeface="Times New Roman" panose="02020603050405020304"/>
              </a:rPr>
              <a:t>…</a:t>
            </a:r>
            <a:endParaRPr sz="1875" b="0" i="0">
              <a:solidFill>
                <a:srgbClr val="62696E"/>
              </a:solidFill>
              <a:latin typeface="Times New Roman" panose="02020603050405020304"/>
              <a:ea typeface="Times New Roman" panose="02020603050405020304"/>
              <a:cs typeface="Times New Roman" panose="02020603050405020304"/>
            </a:endParaRPr>
          </a:p>
        </p:txBody>
      </p:sp>
      <p:sp>
        <p:nvSpPr>
          <p:cNvPr id="100" name="text-to-bus"/>
          <p:cNvSpPr>
            <a:spLocks noGrp="1"/>
          </p:cNvSpPr>
          <p:nvPr/>
        </p:nvSpPr>
        <p:spPr>
          <a:xfrm flipV="1">
            <a:off x="6448425" y="2886075"/>
            <a:ext cx="0" cy="152400"/>
          </a:xfrm>
          <a:prstGeom prst="line">
            <a:avLst/>
          </a:prstGeom>
          <a:noFill/>
          <a:ln w="15240">
            <a:solidFill>
              <a:srgbClr val="202428"/>
            </a:solidFill>
            <a:prstDash val="solid"/>
          </a:ln>
        </p:spPr>
      </p:sp>
      <p:sp>
        <p:nvSpPr>
          <p:cNvPr id="101" name="vision-to-bus"/>
          <p:cNvSpPr>
            <a:spLocks noGrp="1"/>
          </p:cNvSpPr>
          <p:nvPr/>
        </p:nvSpPr>
        <p:spPr>
          <a:xfrm flipV="1">
            <a:off x="8467725" y="2886075"/>
            <a:ext cx="0" cy="152400"/>
          </a:xfrm>
          <a:prstGeom prst="line">
            <a:avLst/>
          </a:prstGeom>
          <a:noFill/>
          <a:ln w="15240">
            <a:solidFill>
              <a:srgbClr val="202428"/>
            </a:solidFill>
            <a:prstDash val="solid"/>
          </a:ln>
        </p:spPr>
      </p:sp>
      <p:sp>
        <p:nvSpPr>
          <p:cNvPr id="102" name="merged-bus"/>
          <p:cNvSpPr>
            <a:spLocks noGrp="1"/>
          </p:cNvSpPr>
          <p:nvPr/>
        </p:nvSpPr>
        <p:spPr>
          <a:xfrm>
            <a:off x="6448425" y="2886075"/>
            <a:ext cx="2019300" cy="0"/>
          </a:xfrm>
          <a:prstGeom prst="line">
            <a:avLst/>
          </a:prstGeom>
          <a:noFill/>
          <a:ln w="15240">
            <a:solidFill>
              <a:srgbClr val="202428"/>
            </a:solidFill>
            <a:prstDash val="solid"/>
          </a:ln>
        </p:spPr>
      </p:sp>
      <p:sp>
        <p:nvSpPr>
          <p:cNvPr id="103" name="bus-trunk-a"/>
          <p:cNvSpPr>
            <a:spLocks noGrp="1"/>
          </p:cNvSpPr>
          <p:nvPr/>
        </p:nvSpPr>
        <p:spPr>
          <a:xfrm>
            <a:off x="7972425" y="2886075"/>
            <a:ext cx="953" cy="953"/>
          </a:xfrm>
          <a:prstGeom prst="rect">
            <a:avLst/>
          </a:prstGeom>
          <a:noFill/>
          <a:ln w="0">
            <a:noFill/>
            <a:prstDash val="solid"/>
          </a:ln>
        </p:spPr>
      </p:sp>
      <p:sp>
        <p:nvSpPr>
          <p:cNvPr id="104" name="bus-trunk-b"/>
          <p:cNvSpPr>
            <a:spLocks noGrp="1"/>
          </p:cNvSpPr>
          <p:nvPr/>
        </p:nvSpPr>
        <p:spPr>
          <a:xfrm>
            <a:off x="7972425" y="2676525"/>
            <a:ext cx="953" cy="953"/>
          </a:xfrm>
          <a:prstGeom prst="rect">
            <a:avLst/>
          </a:prstGeom>
          <a:noFill/>
          <a:ln w="0">
            <a:noFill/>
            <a:prstDash val="solid"/>
          </a:ln>
        </p:spPr>
      </p:sp>
      <p:cxnSp>
        <p:nvCxnSpPr>
          <p:cNvPr id="342" name="bus-trunk"/>
          <p:cNvCxnSpPr>
            <a:stCxn id="103" idx="3"/>
            <a:endCxn id="104" idx="1"/>
          </p:cNvCxnSpPr>
          <p:nvPr/>
        </p:nvCxnSpPr>
        <p:spPr>
          <a:xfrm flipH="1" flipV="1">
            <a:off x="7972425" y="2677002"/>
            <a:ext cx="953" cy="209550"/>
          </a:xfrm>
          <a:prstGeom prst="straightConnector1">
            <a:avLst/>
          </a:prstGeom>
          <a:ln w="17145">
            <a:solidFill>
              <a:srgbClr val="202428"/>
            </a:solidFill>
            <a:prstDash val="solid"/>
            <a:tailEnd type="triangle" w="sm" len="sm"/>
          </a:ln>
        </p:spPr>
      </p:cxnSp>
      <p:sp>
        <p:nvSpPr>
          <p:cNvPr id="106" name="text-embeds"/>
          <p:cNvSpPr>
            <a:spLocks noGrp="1"/>
          </p:cNvSpPr>
          <p:nvPr/>
        </p:nvSpPr>
        <p:spPr>
          <a:xfrm>
            <a:off x="5534025" y="3505200"/>
            <a:ext cx="1838325" cy="323850"/>
          </a:xfrm>
          <a:prstGeom prst="roundRect">
            <a:avLst>
              <a:gd name="adj" fmla="val 8824"/>
            </a:avLst>
          </a:prstGeom>
          <a:solidFill>
            <a:srgbClr val="E3F3EF"/>
          </a:solidFill>
          <a:ln w="14288">
            <a:solidFill>
              <a:srgbClr val="008D85"/>
            </a:solidFill>
            <a:prstDash val="solid"/>
          </a:ln>
        </p:spPr>
      </p:sp>
      <p:sp>
        <p:nvSpPr>
          <p:cNvPr id="107" name="text-embeds-label"/>
          <p:cNvSpPr>
            <a:spLocks noGrp="1"/>
          </p:cNvSpPr>
          <p:nvPr/>
        </p:nvSpPr>
        <p:spPr>
          <a:xfrm>
            <a:off x="5562600" y="3514725"/>
            <a:ext cx="1781175" cy="304800"/>
          </a:xfrm>
          <a:prstGeom prst="rect">
            <a:avLst/>
          </a:prstGeom>
          <a:noFill/>
          <a:ln w="0">
            <a:noFill/>
            <a:prstDash val="solid"/>
          </a:ln>
        </p:spPr>
        <p:txBody>
          <a:bodyPr wrap="none" lIns="0" tIns="0" rIns="0" bIns="0" anchor="ctr">
            <a:noAutofit/>
          </a:bodyPr>
          <a:lstStyle/>
          <a:p>
            <a:pPr algn="ctr">
              <a:defRPr sz="1875" b="0" i="0">
                <a:solidFill>
                  <a:srgbClr val="202428"/>
                </a:solidFill>
                <a:latin typeface="Times New Roman" panose="02020603050405020304"/>
                <a:ea typeface="Times New Roman" panose="02020603050405020304"/>
                <a:cs typeface="Times New Roman" panose="02020603050405020304"/>
              </a:defRPr>
            </a:pPr>
            <a:r>
              <a:rPr sz="1875" b="0" i="0">
                <a:solidFill>
                  <a:srgbClr val="202428"/>
                </a:solidFill>
                <a:latin typeface="Times New Roman" panose="02020603050405020304"/>
                <a:ea typeface="Times New Roman" panose="02020603050405020304"/>
                <a:cs typeface="Times New Roman" panose="02020603050405020304"/>
              </a:rPr>
              <a:t>Text embeddings</a:t>
            </a:r>
            <a:endParaRPr sz="1875" b="0" i="0">
              <a:solidFill>
                <a:srgbClr val="202428"/>
              </a:solidFill>
              <a:latin typeface="Times New Roman" panose="02020603050405020304"/>
              <a:ea typeface="Times New Roman" panose="02020603050405020304"/>
              <a:cs typeface="Times New Roman" panose="02020603050405020304"/>
            </a:endParaRPr>
          </a:p>
        </p:txBody>
      </p:sp>
      <p:sp>
        <p:nvSpPr>
          <p:cNvPr id="108" name="visual-embeds"/>
          <p:cNvSpPr>
            <a:spLocks noGrp="1"/>
          </p:cNvSpPr>
          <p:nvPr/>
        </p:nvSpPr>
        <p:spPr>
          <a:xfrm>
            <a:off x="7667625" y="3505200"/>
            <a:ext cx="2581275" cy="323850"/>
          </a:xfrm>
          <a:prstGeom prst="roundRect">
            <a:avLst>
              <a:gd name="adj" fmla="val 8824"/>
            </a:avLst>
          </a:prstGeom>
          <a:solidFill>
            <a:srgbClr val="DCE9F2"/>
          </a:solidFill>
          <a:ln w="14288">
            <a:solidFill>
              <a:srgbClr val="2876A4"/>
            </a:solidFill>
            <a:prstDash val="solid"/>
          </a:ln>
        </p:spPr>
      </p:sp>
      <p:sp>
        <p:nvSpPr>
          <p:cNvPr id="109" name="visual-embeds-label"/>
          <p:cNvSpPr>
            <a:spLocks noGrp="1"/>
          </p:cNvSpPr>
          <p:nvPr/>
        </p:nvSpPr>
        <p:spPr>
          <a:xfrm>
            <a:off x="7696200" y="3514725"/>
            <a:ext cx="2524125" cy="304800"/>
          </a:xfrm>
          <a:prstGeom prst="rect">
            <a:avLst/>
          </a:prstGeom>
          <a:noFill/>
          <a:ln w="0">
            <a:noFill/>
            <a:prstDash val="solid"/>
          </a:ln>
        </p:spPr>
        <p:txBody>
          <a:bodyPr wrap="none" lIns="0" tIns="0" rIns="0" bIns="0" anchor="ctr">
            <a:noAutofit/>
          </a:bodyPr>
          <a:lstStyle/>
          <a:p>
            <a:pPr algn="ctr">
              <a:defRPr sz="1875" b="0" i="0">
                <a:solidFill>
                  <a:srgbClr val="202428"/>
                </a:solidFill>
                <a:latin typeface="Times New Roman" panose="02020603050405020304"/>
                <a:ea typeface="Times New Roman" panose="02020603050405020304"/>
                <a:cs typeface="Times New Roman" panose="02020603050405020304"/>
              </a:defRPr>
            </a:pPr>
            <a:r>
              <a:rPr sz="1875" b="0" i="0">
                <a:solidFill>
                  <a:srgbClr val="202428"/>
                </a:solidFill>
                <a:latin typeface="Times New Roman" panose="02020603050405020304"/>
                <a:ea typeface="Times New Roman" panose="02020603050405020304"/>
                <a:cs typeface="Times New Roman" panose="02020603050405020304"/>
              </a:rPr>
              <a:t>Visual embeddings</a:t>
            </a:r>
            <a:endParaRPr sz="1875" b="0" i="0">
              <a:solidFill>
                <a:srgbClr val="202428"/>
              </a:solidFill>
              <a:latin typeface="Times New Roman" panose="02020603050405020304"/>
              <a:ea typeface="Times New Roman" panose="02020603050405020304"/>
              <a:cs typeface="Times New Roman" panose="02020603050405020304"/>
            </a:endParaRPr>
          </a:p>
        </p:txBody>
      </p:sp>
      <p:sp>
        <p:nvSpPr>
          <p:cNvPr id="110" name="text-token-embed-a"/>
          <p:cNvSpPr>
            <a:spLocks noGrp="1"/>
          </p:cNvSpPr>
          <p:nvPr/>
        </p:nvSpPr>
        <p:spPr>
          <a:xfrm>
            <a:off x="6448425" y="3476625"/>
            <a:ext cx="953" cy="953"/>
          </a:xfrm>
          <a:prstGeom prst="rect">
            <a:avLst/>
          </a:prstGeom>
          <a:noFill/>
          <a:ln w="0">
            <a:noFill/>
            <a:prstDash val="solid"/>
          </a:ln>
        </p:spPr>
      </p:sp>
      <p:sp>
        <p:nvSpPr>
          <p:cNvPr id="111" name="text-token-embed-b"/>
          <p:cNvSpPr>
            <a:spLocks noGrp="1"/>
          </p:cNvSpPr>
          <p:nvPr/>
        </p:nvSpPr>
        <p:spPr>
          <a:xfrm>
            <a:off x="6448425" y="3324225"/>
            <a:ext cx="953" cy="953"/>
          </a:xfrm>
          <a:prstGeom prst="rect">
            <a:avLst/>
          </a:prstGeom>
          <a:noFill/>
          <a:ln w="0">
            <a:noFill/>
            <a:prstDash val="solid"/>
          </a:ln>
        </p:spPr>
      </p:sp>
      <p:cxnSp>
        <p:nvCxnSpPr>
          <p:cNvPr id="349" name="text-token-embed"/>
          <p:cNvCxnSpPr>
            <a:stCxn id="110" idx="3"/>
            <a:endCxn id="111" idx="1"/>
          </p:cNvCxnSpPr>
          <p:nvPr/>
        </p:nvCxnSpPr>
        <p:spPr>
          <a:xfrm flipH="1" flipV="1">
            <a:off x="6448425" y="3324702"/>
            <a:ext cx="953" cy="152400"/>
          </a:xfrm>
          <a:prstGeom prst="straightConnector1">
            <a:avLst/>
          </a:prstGeom>
          <a:ln w="17145">
            <a:solidFill>
              <a:srgbClr val="202428"/>
            </a:solidFill>
            <a:prstDash val="solid"/>
            <a:tailEnd type="triangle" w="sm" len="sm"/>
          </a:ln>
        </p:spPr>
      </p:cxnSp>
      <p:sp>
        <p:nvSpPr>
          <p:cNvPr id="113" name="vision-token-embed-a"/>
          <p:cNvSpPr>
            <a:spLocks noGrp="1"/>
          </p:cNvSpPr>
          <p:nvPr/>
        </p:nvSpPr>
        <p:spPr>
          <a:xfrm>
            <a:off x="8467725" y="3476625"/>
            <a:ext cx="953" cy="953"/>
          </a:xfrm>
          <a:prstGeom prst="rect">
            <a:avLst/>
          </a:prstGeom>
          <a:noFill/>
          <a:ln w="0">
            <a:noFill/>
            <a:prstDash val="solid"/>
          </a:ln>
        </p:spPr>
      </p:sp>
      <p:sp>
        <p:nvSpPr>
          <p:cNvPr id="114" name="vision-token-embed-b"/>
          <p:cNvSpPr>
            <a:spLocks noGrp="1"/>
          </p:cNvSpPr>
          <p:nvPr/>
        </p:nvSpPr>
        <p:spPr>
          <a:xfrm>
            <a:off x="8467725" y="3324225"/>
            <a:ext cx="953" cy="953"/>
          </a:xfrm>
          <a:prstGeom prst="rect">
            <a:avLst/>
          </a:prstGeom>
          <a:noFill/>
          <a:ln w="0">
            <a:noFill/>
            <a:prstDash val="solid"/>
          </a:ln>
        </p:spPr>
      </p:sp>
      <p:cxnSp>
        <p:nvCxnSpPr>
          <p:cNvPr id="352" name="vision-token-embed"/>
          <p:cNvCxnSpPr>
            <a:stCxn id="113" idx="3"/>
            <a:endCxn id="114" idx="1"/>
          </p:cNvCxnSpPr>
          <p:nvPr/>
        </p:nvCxnSpPr>
        <p:spPr>
          <a:xfrm flipH="1" flipV="1">
            <a:off x="8467725" y="3324702"/>
            <a:ext cx="953" cy="152400"/>
          </a:xfrm>
          <a:prstGeom prst="straightConnector1">
            <a:avLst/>
          </a:prstGeom>
          <a:ln w="17145">
            <a:solidFill>
              <a:srgbClr val="202428"/>
            </a:solidFill>
            <a:prstDash val="solid"/>
            <a:tailEnd type="triangle" w="sm" len="sm"/>
          </a:ln>
        </p:spPr>
      </p:cxnSp>
      <p:sp>
        <p:nvSpPr>
          <p:cNvPr id="116" name="prompt-sheet"/>
          <p:cNvSpPr>
            <a:spLocks noGrp="1"/>
          </p:cNvSpPr>
          <p:nvPr/>
        </p:nvSpPr>
        <p:spPr>
          <a:xfrm>
            <a:off x="5915025" y="4095750"/>
            <a:ext cx="1057275" cy="590550"/>
          </a:xfrm>
          <a:prstGeom prst="roundRect">
            <a:avLst>
              <a:gd name="adj" fmla="val 4839"/>
            </a:avLst>
          </a:prstGeom>
          <a:solidFill>
            <a:srgbClr val="FFFFFF"/>
          </a:solidFill>
          <a:ln w="14288">
            <a:solidFill>
              <a:srgbClr val="202428"/>
            </a:solidFill>
            <a:prstDash val="solid"/>
          </a:ln>
        </p:spPr>
      </p:sp>
      <p:sp>
        <p:nvSpPr>
          <p:cNvPr id="117" name="prompt-line0"/>
          <p:cNvSpPr>
            <a:spLocks noGrp="1"/>
          </p:cNvSpPr>
          <p:nvPr/>
        </p:nvSpPr>
        <p:spPr>
          <a:xfrm>
            <a:off x="6067425" y="4238625"/>
            <a:ext cx="647700" cy="0"/>
          </a:xfrm>
          <a:prstGeom prst="line">
            <a:avLst/>
          </a:prstGeom>
          <a:noFill/>
          <a:ln w="16193">
            <a:solidFill>
              <a:srgbClr val="202428"/>
            </a:solidFill>
            <a:prstDash val="solid"/>
          </a:ln>
        </p:spPr>
      </p:sp>
      <p:sp>
        <p:nvSpPr>
          <p:cNvPr id="118" name="prompt-line1"/>
          <p:cNvSpPr>
            <a:spLocks noGrp="1"/>
          </p:cNvSpPr>
          <p:nvPr/>
        </p:nvSpPr>
        <p:spPr>
          <a:xfrm>
            <a:off x="6067425" y="4381500"/>
            <a:ext cx="742950" cy="0"/>
          </a:xfrm>
          <a:prstGeom prst="line">
            <a:avLst/>
          </a:prstGeom>
          <a:noFill/>
          <a:ln w="16193">
            <a:solidFill>
              <a:srgbClr val="62696E"/>
            </a:solidFill>
            <a:prstDash val="solid"/>
          </a:ln>
        </p:spPr>
      </p:sp>
      <p:sp>
        <p:nvSpPr>
          <p:cNvPr id="119" name="prompt-line2"/>
          <p:cNvSpPr>
            <a:spLocks noGrp="1"/>
          </p:cNvSpPr>
          <p:nvPr/>
        </p:nvSpPr>
        <p:spPr>
          <a:xfrm>
            <a:off x="6067425" y="4524375"/>
            <a:ext cx="438150" cy="0"/>
          </a:xfrm>
          <a:prstGeom prst="line">
            <a:avLst/>
          </a:prstGeom>
          <a:noFill/>
          <a:ln w="16193">
            <a:solidFill>
              <a:srgbClr val="62696E"/>
            </a:solidFill>
            <a:prstDash val="solid"/>
          </a:ln>
        </p:spPr>
      </p:sp>
      <p:sp>
        <p:nvSpPr>
          <p:cNvPr id="120" name="prompt-to-embedding-a"/>
          <p:cNvSpPr>
            <a:spLocks noGrp="1"/>
          </p:cNvSpPr>
          <p:nvPr/>
        </p:nvSpPr>
        <p:spPr>
          <a:xfrm>
            <a:off x="6448425" y="4057650"/>
            <a:ext cx="953" cy="953"/>
          </a:xfrm>
          <a:prstGeom prst="rect">
            <a:avLst/>
          </a:prstGeom>
          <a:noFill/>
          <a:ln w="0">
            <a:noFill/>
            <a:prstDash val="solid"/>
          </a:ln>
        </p:spPr>
      </p:sp>
      <p:sp>
        <p:nvSpPr>
          <p:cNvPr id="121" name="prompt-to-embedding-b"/>
          <p:cNvSpPr>
            <a:spLocks noGrp="1"/>
          </p:cNvSpPr>
          <p:nvPr/>
        </p:nvSpPr>
        <p:spPr>
          <a:xfrm>
            <a:off x="6448425" y="3876675"/>
            <a:ext cx="953" cy="953"/>
          </a:xfrm>
          <a:prstGeom prst="rect">
            <a:avLst/>
          </a:prstGeom>
          <a:noFill/>
          <a:ln w="0">
            <a:noFill/>
            <a:prstDash val="solid"/>
          </a:ln>
        </p:spPr>
      </p:sp>
      <p:cxnSp>
        <p:nvCxnSpPr>
          <p:cNvPr id="359" name="prompt-to-embedding"/>
          <p:cNvCxnSpPr>
            <a:stCxn id="120" idx="3"/>
            <a:endCxn id="121" idx="1"/>
          </p:cNvCxnSpPr>
          <p:nvPr/>
        </p:nvCxnSpPr>
        <p:spPr>
          <a:xfrm flipH="1" flipV="1">
            <a:off x="6448425" y="3877152"/>
            <a:ext cx="953" cy="180975"/>
          </a:xfrm>
          <a:prstGeom prst="straightConnector1">
            <a:avLst/>
          </a:prstGeom>
          <a:ln w="17145">
            <a:solidFill>
              <a:srgbClr val="202428"/>
            </a:solidFill>
            <a:prstDash val="solid"/>
            <a:tailEnd type="triangle" w="sm" len="sm"/>
          </a:ln>
        </p:spPr>
      </p:cxnSp>
      <p:sp>
        <p:nvSpPr>
          <p:cNvPr id="123" name="latent-back"/>
          <p:cNvSpPr>
            <a:spLocks noGrp="1"/>
          </p:cNvSpPr>
          <p:nvPr/>
        </p:nvSpPr>
        <p:spPr>
          <a:xfrm>
            <a:off x="8429625" y="4057650"/>
            <a:ext cx="857250" cy="619125"/>
          </a:xfrm>
          <a:prstGeom prst="roundRect">
            <a:avLst>
              <a:gd name="adj" fmla="val 3077"/>
            </a:avLst>
          </a:prstGeom>
          <a:solidFill>
            <a:srgbClr val="FFFFFF"/>
          </a:solidFill>
          <a:ln w="10478">
            <a:solidFill>
              <a:srgbClr val="A5ABB0"/>
            </a:solidFill>
            <a:prstDash val="solid"/>
          </a:ln>
        </p:spPr>
      </p:sp>
      <p:sp>
        <p:nvSpPr>
          <p:cNvPr id="124" name="latent-front"/>
          <p:cNvSpPr>
            <a:spLocks noGrp="1"/>
          </p:cNvSpPr>
          <p:nvPr/>
        </p:nvSpPr>
        <p:spPr>
          <a:xfrm>
            <a:off x="8515350" y="4133850"/>
            <a:ext cx="857250" cy="619125"/>
          </a:xfrm>
          <a:prstGeom prst="roundRect">
            <a:avLst>
              <a:gd name="adj" fmla="val 3077"/>
            </a:avLst>
          </a:prstGeom>
          <a:solidFill>
            <a:srgbClr val="FFFFFF"/>
          </a:solidFill>
          <a:ln w="14288">
            <a:solidFill>
              <a:srgbClr val="202428"/>
            </a:solidFill>
            <a:prstDash val="solid"/>
          </a:ln>
        </p:spPr>
      </p:sp>
      <p:sp>
        <p:nvSpPr>
          <p:cNvPr id="125" name="latent-grid0-0"/>
          <p:cNvSpPr>
            <a:spLocks noGrp="1"/>
          </p:cNvSpPr>
          <p:nvPr/>
        </p:nvSpPr>
        <p:spPr>
          <a:xfrm>
            <a:off x="8620125" y="4219575"/>
            <a:ext cx="133350" cy="133350"/>
          </a:xfrm>
          <a:prstGeom prst="rect">
            <a:avLst/>
          </a:prstGeom>
          <a:solidFill>
            <a:srgbClr val="DCE9F2"/>
          </a:solidFill>
          <a:ln w="7620">
            <a:solidFill>
              <a:srgbClr val="2876A4"/>
            </a:solidFill>
            <a:prstDash val="solid"/>
          </a:ln>
        </p:spPr>
      </p:sp>
      <p:sp>
        <p:nvSpPr>
          <p:cNvPr id="126" name="latent-grid0-1"/>
          <p:cNvSpPr>
            <a:spLocks noGrp="1"/>
          </p:cNvSpPr>
          <p:nvPr/>
        </p:nvSpPr>
        <p:spPr>
          <a:xfrm>
            <a:off x="8753475" y="4219575"/>
            <a:ext cx="133350" cy="133350"/>
          </a:xfrm>
          <a:prstGeom prst="rect">
            <a:avLst/>
          </a:prstGeom>
          <a:solidFill>
            <a:srgbClr val="DCE9F2"/>
          </a:solidFill>
          <a:ln w="7620">
            <a:solidFill>
              <a:srgbClr val="2876A4"/>
            </a:solidFill>
            <a:prstDash val="solid"/>
          </a:ln>
        </p:spPr>
      </p:sp>
      <p:sp>
        <p:nvSpPr>
          <p:cNvPr id="127" name="latent-grid0-2"/>
          <p:cNvSpPr>
            <a:spLocks noGrp="1"/>
          </p:cNvSpPr>
          <p:nvPr/>
        </p:nvSpPr>
        <p:spPr>
          <a:xfrm>
            <a:off x="8886825" y="4219575"/>
            <a:ext cx="133350" cy="133350"/>
          </a:xfrm>
          <a:prstGeom prst="rect">
            <a:avLst/>
          </a:prstGeom>
          <a:solidFill>
            <a:srgbClr val="DCE9F2"/>
          </a:solidFill>
          <a:ln w="7620">
            <a:solidFill>
              <a:srgbClr val="2876A4"/>
            </a:solidFill>
            <a:prstDash val="solid"/>
          </a:ln>
        </p:spPr>
      </p:sp>
      <p:sp>
        <p:nvSpPr>
          <p:cNvPr id="128" name="latent-grid0-3"/>
          <p:cNvSpPr>
            <a:spLocks noGrp="1"/>
          </p:cNvSpPr>
          <p:nvPr/>
        </p:nvSpPr>
        <p:spPr>
          <a:xfrm>
            <a:off x="9020175" y="4219575"/>
            <a:ext cx="133350" cy="133350"/>
          </a:xfrm>
          <a:prstGeom prst="rect">
            <a:avLst/>
          </a:prstGeom>
          <a:solidFill>
            <a:srgbClr val="DCE9F2"/>
          </a:solidFill>
          <a:ln w="7620">
            <a:solidFill>
              <a:srgbClr val="2876A4"/>
            </a:solidFill>
            <a:prstDash val="solid"/>
          </a:ln>
        </p:spPr>
      </p:sp>
      <p:sp>
        <p:nvSpPr>
          <p:cNvPr id="129" name="latent-grid1-0"/>
          <p:cNvSpPr>
            <a:spLocks noGrp="1"/>
          </p:cNvSpPr>
          <p:nvPr/>
        </p:nvSpPr>
        <p:spPr>
          <a:xfrm>
            <a:off x="8620125" y="4352925"/>
            <a:ext cx="133350" cy="133350"/>
          </a:xfrm>
          <a:prstGeom prst="rect">
            <a:avLst/>
          </a:prstGeom>
          <a:solidFill>
            <a:srgbClr val="DCE9F2"/>
          </a:solidFill>
          <a:ln w="7620">
            <a:solidFill>
              <a:srgbClr val="2876A4"/>
            </a:solidFill>
            <a:prstDash val="solid"/>
          </a:ln>
        </p:spPr>
      </p:sp>
      <p:sp>
        <p:nvSpPr>
          <p:cNvPr id="130" name="latent-grid1-1"/>
          <p:cNvSpPr>
            <a:spLocks noGrp="1"/>
          </p:cNvSpPr>
          <p:nvPr/>
        </p:nvSpPr>
        <p:spPr>
          <a:xfrm>
            <a:off x="8753475" y="4352925"/>
            <a:ext cx="133350" cy="133350"/>
          </a:xfrm>
          <a:prstGeom prst="rect">
            <a:avLst/>
          </a:prstGeom>
          <a:solidFill>
            <a:srgbClr val="DCE9F2"/>
          </a:solidFill>
          <a:ln w="7620">
            <a:solidFill>
              <a:srgbClr val="2876A4"/>
            </a:solidFill>
            <a:prstDash val="solid"/>
          </a:ln>
        </p:spPr>
      </p:sp>
      <p:sp>
        <p:nvSpPr>
          <p:cNvPr id="131" name="latent-grid1-2"/>
          <p:cNvSpPr>
            <a:spLocks noGrp="1"/>
          </p:cNvSpPr>
          <p:nvPr/>
        </p:nvSpPr>
        <p:spPr>
          <a:xfrm>
            <a:off x="8886825" y="4352925"/>
            <a:ext cx="133350" cy="133350"/>
          </a:xfrm>
          <a:prstGeom prst="rect">
            <a:avLst/>
          </a:prstGeom>
          <a:solidFill>
            <a:srgbClr val="DCE9F2"/>
          </a:solidFill>
          <a:ln w="7620">
            <a:solidFill>
              <a:srgbClr val="2876A4"/>
            </a:solidFill>
            <a:prstDash val="solid"/>
          </a:ln>
        </p:spPr>
      </p:sp>
      <p:sp>
        <p:nvSpPr>
          <p:cNvPr id="132" name="latent-grid1-3"/>
          <p:cNvSpPr>
            <a:spLocks noGrp="1"/>
          </p:cNvSpPr>
          <p:nvPr/>
        </p:nvSpPr>
        <p:spPr>
          <a:xfrm>
            <a:off x="9020175" y="4352925"/>
            <a:ext cx="133350" cy="133350"/>
          </a:xfrm>
          <a:prstGeom prst="rect">
            <a:avLst/>
          </a:prstGeom>
          <a:solidFill>
            <a:srgbClr val="DCE9F2"/>
          </a:solidFill>
          <a:ln w="7620">
            <a:solidFill>
              <a:srgbClr val="2876A4"/>
            </a:solidFill>
            <a:prstDash val="solid"/>
          </a:ln>
        </p:spPr>
      </p:sp>
      <p:sp>
        <p:nvSpPr>
          <p:cNvPr id="133" name="latent-grid2-0"/>
          <p:cNvSpPr>
            <a:spLocks noGrp="1"/>
          </p:cNvSpPr>
          <p:nvPr/>
        </p:nvSpPr>
        <p:spPr>
          <a:xfrm>
            <a:off x="8620125" y="4486275"/>
            <a:ext cx="133350" cy="133350"/>
          </a:xfrm>
          <a:prstGeom prst="rect">
            <a:avLst/>
          </a:prstGeom>
          <a:solidFill>
            <a:srgbClr val="DCE9F2"/>
          </a:solidFill>
          <a:ln w="7620">
            <a:solidFill>
              <a:srgbClr val="2876A4"/>
            </a:solidFill>
            <a:prstDash val="solid"/>
          </a:ln>
        </p:spPr>
      </p:sp>
      <p:sp>
        <p:nvSpPr>
          <p:cNvPr id="134" name="latent-grid2-1"/>
          <p:cNvSpPr>
            <a:spLocks noGrp="1"/>
          </p:cNvSpPr>
          <p:nvPr/>
        </p:nvSpPr>
        <p:spPr>
          <a:xfrm>
            <a:off x="8753475" y="4486275"/>
            <a:ext cx="133350" cy="133350"/>
          </a:xfrm>
          <a:prstGeom prst="rect">
            <a:avLst/>
          </a:prstGeom>
          <a:solidFill>
            <a:srgbClr val="DCE9F2"/>
          </a:solidFill>
          <a:ln w="7620">
            <a:solidFill>
              <a:srgbClr val="2876A4"/>
            </a:solidFill>
            <a:prstDash val="solid"/>
          </a:ln>
        </p:spPr>
      </p:sp>
      <p:sp>
        <p:nvSpPr>
          <p:cNvPr id="135" name="latent-grid2-2"/>
          <p:cNvSpPr>
            <a:spLocks noGrp="1"/>
          </p:cNvSpPr>
          <p:nvPr/>
        </p:nvSpPr>
        <p:spPr>
          <a:xfrm>
            <a:off x="8886825" y="4486275"/>
            <a:ext cx="133350" cy="133350"/>
          </a:xfrm>
          <a:prstGeom prst="rect">
            <a:avLst/>
          </a:prstGeom>
          <a:solidFill>
            <a:srgbClr val="DCE9F2"/>
          </a:solidFill>
          <a:ln w="7620">
            <a:solidFill>
              <a:srgbClr val="2876A4"/>
            </a:solidFill>
            <a:prstDash val="solid"/>
          </a:ln>
        </p:spPr>
      </p:sp>
      <p:sp>
        <p:nvSpPr>
          <p:cNvPr id="136" name="latent-grid2-3"/>
          <p:cNvSpPr>
            <a:spLocks noGrp="1"/>
          </p:cNvSpPr>
          <p:nvPr/>
        </p:nvSpPr>
        <p:spPr>
          <a:xfrm>
            <a:off x="9020175" y="4486275"/>
            <a:ext cx="133350" cy="133350"/>
          </a:xfrm>
          <a:prstGeom prst="rect">
            <a:avLst/>
          </a:prstGeom>
          <a:solidFill>
            <a:srgbClr val="DCE9F2"/>
          </a:solidFill>
          <a:ln w="7620">
            <a:solidFill>
              <a:srgbClr val="2876A4"/>
            </a:solidFill>
            <a:prstDash val="solid"/>
          </a:ln>
        </p:spPr>
      </p:sp>
      <p:sp>
        <p:nvSpPr>
          <p:cNvPr id="137" name="latent-to-embedding-a"/>
          <p:cNvSpPr>
            <a:spLocks noGrp="1"/>
          </p:cNvSpPr>
          <p:nvPr/>
        </p:nvSpPr>
        <p:spPr>
          <a:xfrm>
            <a:off x="8953500" y="4048125"/>
            <a:ext cx="953" cy="953"/>
          </a:xfrm>
          <a:prstGeom prst="rect">
            <a:avLst/>
          </a:prstGeom>
          <a:noFill/>
          <a:ln w="0">
            <a:noFill/>
            <a:prstDash val="solid"/>
          </a:ln>
        </p:spPr>
      </p:sp>
      <p:sp>
        <p:nvSpPr>
          <p:cNvPr id="138" name="latent-to-embedding-b"/>
          <p:cNvSpPr>
            <a:spLocks noGrp="1"/>
          </p:cNvSpPr>
          <p:nvPr/>
        </p:nvSpPr>
        <p:spPr>
          <a:xfrm>
            <a:off x="8953500" y="3876675"/>
            <a:ext cx="953" cy="953"/>
          </a:xfrm>
          <a:prstGeom prst="rect">
            <a:avLst/>
          </a:prstGeom>
          <a:noFill/>
          <a:ln w="0">
            <a:noFill/>
            <a:prstDash val="solid"/>
          </a:ln>
        </p:spPr>
      </p:sp>
      <p:cxnSp>
        <p:nvCxnSpPr>
          <p:cNvPr id="376" name="latent-to-embedding"/>
          <p:cNvCxnSpPr>
            <a:stCxn id="137" idx="3"/>
            <a:endCxn id="138" idx="1"/>
          </p:cNvCxnSpPr>
          <p:nvPr/>
        </p:nvCxnSpPr>
        <p:spPr>
          <a:xfrm flipH="1" flipV="1">
            <a:off x="8953500" y="3877152"/>
            <a:ext cx="953" cy="171450"/>
          </a:xfrm>
          <a:prstGeom prst="straightConnector1">
            <a:avLst/>
          </a:prstGeom>
          <a:ln w="17145">
            <a:solidFill>
              <a:srgbClr val="202428"/>
            </a:solidFill>
            <a:prstDash val="solid"/>
            <a:tailEnd type="triangle" w="sm" len="sm"/>
          </a:ln>
        </p:spPr>
      </p:cxnSp>
      <p:sp>
        <p:nvSpPr>
          <p:cNvPr id="140" name="text-prompt-label"/>
          <p:cNvSpPr>
            <a:spLocks noGrp="1"/>
          </p:cNvSpPr>
          <p:nvPr/>
        </p:nvSpPr>
        <p:spPr>
          <a:xfrm>
            <a:off x="5410200" y="4829175"/>
            <a:ext cx="2095500" cy="285750"/>
          </a:xfrm>
          <a:prstGeom prst="rect">
            <a:avLst/>
          </a:prstGeom>
          <a:noFill/>
          <a:ln w="0">
            <a:noFill/>
            <a:prstDash val="solid"/>
          </a:ln>
        </p:spPr>
        <p:txBody>
          <a:bodyPr wrap="none" lIns="0" tIns="0" rIns="0" bIns="0" anchor="ctr">
            <a:noAutofit/>
          </a:bodyPr>
          <a:lstStyle/>
          <a:p>
            <a:pPr algn="ctr">
              <a:defRPr sz="1950" b="0" i="0">
                <a:solidFill>
                  <a:srgbClr val="202428"/>
                </a:solidFill>
                <a:latin typeface="Times New Roman" panose="02020603050405020304"/>
                <a:ea typeface="Times New Roman" panose="02020603050405020304"/>
                <a:cs typeface="Times New Roman" panose="02020603050405020304"/>
              </a:defRPr>
            </a:pPr>
            <a:r>
              <a:rPr sz="1950" b="0" i="0">
                <a:solidFill>
                  <a:srgbClr val="202428"/>
                </a:solidFill>
                <a:latin typeface="Times New Roman" panose="02020603050405020304"/>
                <a:ea typeface="Times New Roman" panose="02020603050405020304"/>
                <a:cs typeface="Times New Roman" panose="02020603050405020304"/>
              </a:rPr>
              <a:t>Text instruction</a:t>
            </a:r>
            <a:endParaRPr sz="1950" b="0" i="0">
              <a:solidFill>
                <a:srgbClr val="202428"/>
              </a:solidFill>
              <a:latin typeface="Times New Roman" panose="02020603050405020304"/>
              <a:ea typeface="Times New Roman" panose="02020603050405020304"/>
              <a:cs typeface="Times New Roman" panose="02020603050405020304"/>
            </a:endParaRPr>
          </a:p>
        </p:txBody>
      </p:sp>
      <p:sp>
        <p:nvSpPr>
          <p:cNvPr id="141" name="image-input-label"/>
          <p:cNvSpPr>
            <a:spLocks noGrp="1"/>
          </p:cNvSpPr>
          <p:nvPr/>
        </p:nvSpPr>
        <p:spPr>
          <a:xfrm>
            <a:off x="7877175" y="4829175"/>
            <a:ext cx="2524125" cy="285750"/>
          </a:xfrm>
          <a:prstGeom prst="rect">
            <a:avLst/>
          </a:prstGeom>
          <a:noFill/>
          <a:ln w="0">
            <a:noFill/>
            <a:prstDash val="solid"/>
          </a:ln>
        </p:spPr>
        <p:txBody>
          <a:bodyPr wrap="none" lIns="0" tIns="0" rIns="0" bIns="0" anchor="ctr">
            <a:noAutofit/>
          </a:bodyPr>
          <a:lstStyle/>
          <a:p>
            <a:pPr algn="ctr">
              <a:defRPr sz="1950" b="0" i="0">
                <a:solidFill>
                  <a:srgbClr val="202428"/>
                </a:solidFill>
                <a:latin typeface="Times New Roman" panose="02020603050405020304"/>
                <a:ea typeface="Times New Roman" panose="02020603050405020304"/>
                <a:cs typeface="Times New Roman" panose="02020603050405020304"/>
              </a:defRPr>
            </a:pPr>
            <a:r>
              <a:rPr sz="1950" b="0" i="0">
                <a:solidFill>
                  <a:srgbClr val="202428"/>
                </a:solidFill>
                <a:latin typeface="Times New Roman" panose="02020603050405020304"/>
                <a:ea typeface="Times New Roman" panose="02020603050405020304"/>
                <a:cs typeface="Times New Roman" panose="02020603050405020304"/>
              </a:rPr>
              <a:t>Image / latent</a:t>
            </a:r>
            <a:endParaRPr sz="1950" b="0" i="0">
              <a:solidFill>
                <a:srgbClr val="202428"/>
              </a:solidFill>
              <a:latin typeface="Times New Roman" panose="02020603050405020304"/>
              <a:ea typeface="Times New Roman" panose="02020603050405020304"/>
              <a:cs typeface="Times New Roman" panose="02020603050405020304"/>
            </a:endParaRPr>
          </a:p>
        </p:txBody>
      </p:sp>
      <p:sp>
        <p:nvSpPr>
          <p:cNvPr id="142" name="model-to-policy-a"/>
          <p:cNvSpPr>
            <a:spLocks noGrp="1"/>
          </p:cNvSpPr>
          <p:nvPr/>
        </p:nvSpPr>
        <p:spPr>
          <a:xfrm>
            <a:off x="10582275" y="1809750"/>
            <a:ext cx="953" cy="953"/>
          </a:xfrm>
          <a:prstGeom prst="rect">
            <a:avLst/>
          </a:prstGeom>
          <a:noFill/>
          <a:ln w="0">
            <a:noFill/>
            <a:prstDash val="solid"/>
          </a:ln>
        </p:spPr>
      </p:sp>
      <p:sp>
        <p:nvSpPr>
          <p:cNvPr id="143" name="model-to-policy-b"/>
          <p:cNvSpPr>
            <a:spLocks noGrp="1"/>
          </p:cNvSpPr>
          <p:nvPr/>
        </p:nvSpPr>
        <p:spPr>
          <a:xfrm>
            <a:off x="10858500" y="1809750"/>
            <a:ext cx="953" cy="953"/>
          </a:xfrm>
          <a:prstGeom prst="rect">
            <a:avLst/>
          </a:prstGeom>
          <a:noFill/>
          <a:ln w="0">
            <a:noFill/>
            <a:prstDash val="solid"/>
          </a:ln>
        </p:spPr>
      </p:sp>
      <p:cxnSp>
        <p:nvCxnSpPr>
          <p:cNvPr id="381" name="model-to-policy"/>
          <p:cNvCxnSpPr>
            <a:stCxn id="142" idx="3"/>
            <a:endCxn id="143" idx="1"/>
          </p:cNvCxnSpPr>
          <p:nvPr/>
        </p:nvCxnSpPr>
        <p:spPr>
          <a:xfrm>
            <a:off x="10583228" y="1810227"/>
            <a:ext cx="275272" cy="0"/>
          </a:xfrm>
          <a:prstGeom prst="straightConnector1">
            <a:avLst/>
          </a:prstGeom>
          <a:ln w="17145">
            <a:solidFill>
              <a:srgbClr val="202428"/>
            </a:solidFill>
            <a:prstDash val="solid"/>
            <a:tailEnd type="triangle" w="sm" len="sm"/>
          </a:ln>
        </p:spPr>
      </p:cxnSp>
      <p:sp>
        <p:nvSpPr>
          <p:cNvPr id="145" name="taskgraph-panel"/>
          <p:cNvSpPr>
            <a:spLocks noGrp="1"/>
          </p:cNvSpPr>
          <p:nvPr/>
        </p:nvSpPr>
        <p:spPr>
          <a:xfrm>
            <a:off x="10953750" y="609600"/>
            <a:ext cx="5581650" cy="4467225"/>
          </a:xfrm>
          <a:prstGeom prst="roundRect">
            <a:avLst>
              <a:gd name="adj" fmla="val 640"/>
            </a:avLst>
          </a:prstGeom>
          <a:solidFill>
            <a:srgbClr val="FFFFFF"/>
          </a:solidFill>
          <a:ln w="14288">
            <a:solidFill>
              <a:srgbClr val="008D85"/>
            </a:solidFill>
            <a:prstDash val="dash"/>
          </a:ln>
        </p:spPr>
      </p:sp>
      <p:sp>
        <p:nvSpPr>
          <p:cNvPr id="146" name="rule"/>
          <p:cNvSpPr>
            <a:spLocks noGrp="1"/>
          </p:cNvSpPr>
          <p:nvPr/>
        </p:nvSpPr>
        <p:spPr>
          <a:xfrm>
            <a:off x="11182350" y="733425"/>
            <a:ext cx="5133975" cy="276225"/>
          </a:xfrm>
          <a:prstGeom prst="rect">
            <a:avLst/>
          </a:prstGeom>
          <a:noFill/>
          <a:ln w="0">
            <a:noFill/>
            <a:prstDash val="solid"/>
          </a:ln>
        </p:spPr>
        <p:txBody>
          <a:bodyPr wrap="none" lIns="0" tIns="0" rIns="0" bIns="0" anchor="ctr">
            <a:noAutofit/>
          </a:bodyPr>
          <a:lstStyle/>
          <a:p>
            <a:pPr algn="ctr">
              <a:defRPr sz="1800" b="0" i="1">
                <a:solidFill>
                  <a:srgbClr val="202428"/>
                </a:solidFill>
                <a:latin typeface="Times New Roman" panose="02020603050405020304"/>
                <a:ea typeface="Times New Roman" panose="02020603050405020304"/>
                <a:cs typeface="Times New Roman" panose="02020603050405020304"/>
              </a:defRPr>
            </a:pPr>
            <a:r>
              <a:rPr sz="1800" b="0" i="1">
                <a:solidFill>
                  <a:srgbClr val="202428"/>
                </a:solidFill>
                <a:latin typeface="Times New Roman" panose="02020603050405020304"/>
                <a:ea typeface="Times New Roman" panose="02020603050405020304"/>
                <a:cs typeface="Times New Roman" panose="02020603050405020304"/>
              </a:rPr>
              <a:t>Required outputs and future-state dependencies</a:t>
            </a:r>
            <a:endParaRPr sz="1800" b="0" i="1">
              <a:solidFill>
                <a:srgbClr val="202428"/>
              </a:solidFill>
              <a:latin typeface="Times New Roman" panose="02020603050405020304"/>
              <a:ea typeface="Times New Roman" panose="02020603050405020304"/>
              <a:cs typeface="Times New Roman" panose="02020603050405020304"/>
            </a:endParaRPr>
          </a:p>
        </p:txBody>
      </p:sp>
      <p:sp>
        <p:nvSpPr>
          <p:cNvPr id="147" name="generation-principle"/>
          <p:cNvSpPr>
            <a:spLocks noGrp="1"/>
          </p:cNvSpPr>
          <p:nvPr/>
        </p:nvSpPr>
        <p:spPr>
          <a:xfrm>
            <a:off x="11191875" y="1057275"/>
            <a:ext cx="5191125" cy="304800"/>
          </a:xfrm>
          <a:prstGeom prst="rect">
            <a:avLst/>
          </a:prstGeom>
          <a:noFill/>
          <a:ln w="0">
            <a:noFill/>
            <a:prstDash val="solid"/>
          </a:ln>
        </p:spPr>
        <p:txBody>
          <a:bodyPr wrap="none" lIns="0" tIns="0" rIns="0" bIns="0" anchor="ctr">
            <a:noAutofit/>
          </a:bodyPr>
          <a:lstStyle/>
          <a:p>
            <a:pPr algn="l">
              <a:defRPr sz="2025" b="1" i="0">
                <a:solidFill>
                  <a:srgbClr val="008D85"/>
                </a:solidFill>
                <a:latin typeface="Times New Roman" panose="02020603050405020304"/>
                <a:ea typeface="Times New Roman" panose="02020603050405020304"/>
                <a:cs typeface="Times New Roman" panose="02020603050405020304"/>
              </a:defRPr>
            </a:pPr>
            <a:r>
              <a:rPr sz="2025" b="1" i="0">
                <a:solidFill>
                  <a:srgbClr val="008D85"/>
                </a:solidFill>
                <a:latin typeface="Times New Roman" panose="02020603050405020304"/>
                <a:ea typeface="Times New Roman" panose="02020603050405020304"/>
                <a:cs typeface="Times New Roman" panose="02020603050405020304"/>
              </a:rPr>
              <a:t>Generation: skip unconsumed work</a:t>
            </a:r>
            <a:endParaRPr sz="2025" b="1" i="0">
              <a:solidFill>
                <a:srgbClr val="008D85"/>
              </a:solidFill>
              <a:latin typeface="Times New Roman" panose="02020603050405020304"/>
              <a:ea typeface="Times New Roman" panose="02020603050405020304"/>
              <a:cs typeface="Times New Roman" panose="02020603050405020304"/>
            </a:endParaRPr>
          </a:p>
        </p:txBody>
      </p:sp>
      <p:sp>
        <p:nvSpPr>
          <p:cNvPr id="148" name="cadd-condition"/>
          <p:cNvSpPr>
            <a:spLocks noGrp="1"/>
          </p:cNvSpPr>
          <p:nvPr/>
        </p:nvSpPr>
        <p:spPr>
          <a:xfrm>
            <a:off x="11239500" y="1409700"/>
            <a:ext cx="2466975" cy="238125"/>
          </a:xfrm>
          <a:prstGeom prst="rect">
            <a:avLst/>
          </a:prstGeom>
          <a:noFill/>
          <a:ln w="0">
            <a:noFill/>
            <a:prstDash val="solid"/>
          </a:ln>
        </p:spPr>
        <p:txBody>
          <a:bodyPr wrap="none" lIns="0" tIns="0" rIns="0" bIns="0" anchor="ctr">
            <a:noAutofit/>
          </a:bodyPr>
          <a:lstStyle/>
          <a:p>
            <a:pPr algn="l">
              <a:defRPr sz="1650" b="0" i="1">
                <a:solidFill>
                  <a:srgbClr val="B88B34"/>
                </a:solidFill>
                <a:latin typeface="Times New Roman" panose="02020603050405020304"/>
                <a:ea typeface="Times New Roman" panose="02020603050405020304"/>
                <a:cs typeface="Times New Roman" panose="02020603050405020304"/>
              </a:defRPr>
            </a:pPr>
            <a:r>
              <a:rPr sz="1650" b="0" i="1">
                <a:solidFill>
                  <a:srgbClr val="B88B34"/>
                </a:solidFill>
                <a:latin typeface="Times New Roman" panose="02020603050405020304"/>
                <a:ea typeface="Times New Roman" panose="02020603050405020304"/>
                <a:cs typeface="Times New Roman" panose="02020603050405020304"/>
              </a:rPr>
              <a:t>CADD: guarded cache hit</a:t>
            </a:r>
            <a:endParaRPr sz="1650" b="0" i="1">
              <a:solidFill>
                <a:srgbClr val="B88B34"/>
              </a:solidFill>
              <a:latin typeface="Times New Roman" panose="02020603050405020304"/>
              <a:ea typeface="Times New Roman" panose="02020603050405020304"/>
              <a:cs typeface="Times New Roman" panose="02020603050405020304"/>
            </a:endParaRPr>
          </a:p>
        </p:txBody>
      </p:sp>
      <p:sp>
        <p:nvSpPr>
          <p:cNvPr id="149" name="cached-head-a"/>
          <p:cNvSpPr>
            <a:spLocks noGrp="1"/>
          </p:cNvSpPr>
          <p:nvPr/>
        </p:nvSpPr>
        <p:spPr>
          <a:xfrm>
            <a:off x="11239500" y="1714500"/>
            <a:ext cx="1504950" cy="400050"/>
          </a:xfrm>
          <a:prstGeom prst="roundRect">
            <a:avLst>
              <a:gd name="adj" fmla="val 7143"/>
            </a:avLst>
          </a:prstGeom>
          <a:solidFill>
            <a:srgbClr val="F4E7C8"/>
          </a:solidFill>
          <a:ln w="14288">
            <a:solidFill>
              <a:srgbClr val="B88B34"/>
            </a:solidFill>
            <a:prstDash val="solid"/>
          </a:ln>
        </p:spPr>
      </p:sp>
      <p:sp>
        <p:nvSpPr>
          <p:cNvPr id="150" name="cached-head-a-label"/>
          <p:cNvSpPr>
            <a:spLocks noGrp="1"/>
          </p:cNvSpPr>
          <p:nvPr/>
        </p:nvSpPr>
        <p:spPr>
          <a:xfrm>
            <a:off x="11268075" y="1724025"/>
            <a:ext cx="1447800" cy="381000"/>
          </a:xfrm>
          <a:prstGeom prst="rect">
            <a:avLst/>
          </a:prstGeom>
          <a:noFill/>
          <a:ln w="0">
            <a:noFill/>
            <a:prstDash val="solid"/>
          </a:ln>
        </p:spPr>
        <p:txBody>
          <a:bodyPr wrap="none" lIns="0" tIns="0" rIns="0" bIns="0" anchor="ctr">
            <a:noAutofit/>
          </a:bodyPr>
          <a:lstStyle/>
          <a:p>
            <a:pPr algn="ctr">
              <a:defRPr sz="1800" b="0" i="0">
                <a:solidFill>
                  <a:srgbClr val="202428"/>
                </a:solidFill>
                <a:latin typeface="Times New Roman" panose="02020603050405020304"/>
                <a:ea typeface="Times New Roman" panose="02020603050405020304"/>
                <a:cs typeface="Times New Roman" panose="02020603050405020304"/>
              </a:defRPr>
            </a:pPr>
            <a:r>
              <a:rPr sz="1800" b="0" i="0">
                <a:solidFill>
                  <a:srgbClr val="202428"/>
                </a:solidFill>
                <a:latin typeface="Times New Roman" panose="02020603050405020304"/>
                <a:ea typeface="Times New Roman" panose="02020603050405020304"/>
                <a:cs typeface="Times New Roman" panose="02020603050405020304"/>
              </a:rPr>
              <a:t>Head-A cache</a:t>
            </a:r>
            <a:endParaRPr sz="1800" b="0" i="0">
              <a:solidFill>
                <a:srgbClr val="202428"/>
              </a:solidFill>
              <a:latin typeface="Times New Roman" panose="02020603050405020304"/>
              <a:ea typeface="Times New Roman" panose="02020603050405020304"/>
              <a:cs typeface="Times New Roman" panose="02020603050405020304"/>
            </a:endParaRPr>
          </a:p>
        </p:txBody>
      </p:sp>
      <p:sp>
        <p:nvSpPr>
          <p:cNvPr id="151" name="retained-head-b"/>
          <p:cNvSpPr>
            <a:spLocks noGrp="1"/>
          </p:cNvSpPr>
          <p:nvPr/>
        </p:nvSpPr>
        <p:spPr>
          <a:xfrm>
            <a:off x="14068425" y="1714500"/>
            <a:ext cx="1104900" cy="400050"/>
          </a:xfrm>
          <a:prstGeom prst="roundRect">
            <a:avLst>
              <a:gd name="adj" fmla="val 7143"/>
            </a:avLst>
          </a:prstGeom>
          <a:solidFill>
            <a:srgbClr val="91B9D3"/>
          </a:solidFill>
          <a:ln w="14288">
            <a:solidFill>
              <a:srgbClr val="2876A4"/>
            </a:solidFill>
            <a:prstDash val="solid"/>
          </a:ln>
        </p:spPr>
      </p:sp>
      <p:sp>
        <p:nvSpPr>
          <p:cNvPr id="152" name="retained-head-b-label"/>
          <p:cNvSpPr>
            <a:spLocks noGrp="1"/>
          </p:cNvSpPr>
          <p:nvPr/>
        </p:nvSpPr>
        <p:spPr>
          <a:xfrm>
            <a:off x="14097000" y="1724025"/>
            <a:ext cx="1047750" cy="381000"/>
          </a:xfrm>
          <a:prstGeom prst="rect">
            <a:avLst/>
          </a:prstGeom>
          <a:noFill/>
          <a:ln w="0">
            <a:noFill/>
            <a:prstDash val="solid"/>
          </a:ln>
        </p:spPr>
        <p:txBody>
          <a:bodyPr wrap="none" lIns="0" tIns="0" rIns="0" bIns="0" anchor="ctr">
            <a:noAutofit/>
          </a:bodyPr>
          <a:lstStyle/>
          <a:p>
            <a:pPr algn="ctr">
              <a:defRPr sz="1950" b="0" i="0">
                <a:solidFill>
                  <a:srgbClr val="202428"/>
                </a:solidFill>
                <a:latin typeface="Times New Roman" panose="02020603050405020304"/>
                <a:ea typeface="Times New Roman" panose="02020603050405020304"/>
                <a:cs typeface="Times New Roman" panose="02020603050405020304"/>
              </a:defRPr>
            </a:pPr>
            <a:r>
              <a:rPr sz="1950" b="0" i="0">
                <a:solidFill>
                  <a:srgbClr val="202428"/>
                </a:solidFill>
                <a:latin typeface="Times New Roman" panose="02020603050405020304"/>
                <a:ea typeface="Times New Roman" panose="02020603050405020304"/>
                <a:cs typeface="Times New Roman" panose="02020603050405020304"/>
              </a:rPr>
              <a:t>Head B</a:t>
            </a:r>
            <a:endParaRPr sz="1950" b="0" i="0">
              <a:solidFill>
                <a:srgbClr val="202428"/>
              </a:solidFill>
              <a:latin typeface="Times New Roman" panose="02020603050405020304"/>
              <a:ea typeface="Times New Roman" panose="02020603050405020304"/>
              <a:cs typeface="Times New Roman" panose="02020603050405020304"/>
            </a:endParaRPr>
          </a:p>
        </p:txBody>
      </p:sp>
      <p:sp>
        <p:nvSpPr>
          <p:cNvPr id="153" name="cache-retained-head-a"/>
          <p:cNvSpPr>
            <a:spLocks noGrp="1"/>
          </p:cNvSpPr>
          <p:nvPr/>
        </p:nvSpPr>
        <p:spPr>
          <a:xfrm>
            <a:off x="12782550" y="1914525"/>
            <a:ext cx="953" cy="953"/>
          </a:xfrm>
          <a:prstGeom prst="rect">
            <a:avLst/>
          </a:prstGeom>
          <a:noFill/>
          <a:ln w="0">
            <a:noFill/>
            <a:prstDash val="solid"/>
          </a:ln>
        </p:spPr>
      </p:sp>
      <p:sp>
        <p:nvSpPr>
          <p:cNvPr id="154" name="cache-retained-head-b"/>
          <p:cNvSpPr>
            <a:spLocks noGrp="1"/>
          </p:cNvSpPr>
          <p:nvPr/>
        </p:nvSpPr>
        <p:spPr>
          <a:xfrm>
            <a:off x="14001750" y="1914525"/>
            <a:ext cx="953" cy="953"/>
          </a:xfrm>
          <a:prstGeom prst="rect">
            <a:avLst/>
          </a:prstGeom>
          <a:noFill/>
          <a:ln w="0">
            <a:noFill/>
            <a:prstDash val="solid"/>
          </a:ln>
        </p:spPr>
      </p:sp>
      <p:cxnSp>
        <p:nvCxnSpPr>
          <p:cNvPr id="392" name="cache-retained-head"/>
          <p:cNvCxnSpPr>
            <a:stCxn id="153" idx="3"/>
            <a:endCxn id="154" idx="1"/>
          </p:cNvCxnSpPr>
          <p:nvPr/>
        </p:nvCxnSpPr>
        <p:spPr>
          <a:xfrm>
            <a:off x="12783503" y="1915002"/>
            <a:ext cx="1218247" cy="0"/>
          </a:xfrm>
          <a:prstGeom prst="straightConnector1">
            <a:avLst/>
          </a:prstGeom>
          <a:ln w="20003">
            <a:solidFill>
              <a:srgbClr val="B88B34"/>
            </a:solidFill>
            <a:prstDash val="solid"/>
            <a:tailEnd type="triangle" w="sm" len="sm"/>
          </a:ln>
        </p:spPr>
      </p:cxnSp>
      <p:sp>
        <p:nvSpPr>
          <p:cNvPr id="156" name="current-inputs"/>
          <p:cNvSpPr>
            <a:spLocks noGrp="1"/>
          </p:cNvSpPr>
          <p:nvPr/>
        </p:nvSpPr>
        <p:spPr>
          <a:xfrm>
            <a:off x="13744575" y="1362075"/>
            <a:ext cx="1857375" cy="219075"/>
          </a:xfrm>
          <a:prstGeom prst="rect">
            <a:avLst/>
          </a:prstGeom>
          <a:noFill/>
          <a:ln w="0">
            <a:noFill/>
            <a:prstDash val="solid"/>
          </a:ln>
        </p:spPr>
        <p:txBody>
          <a:bodyPr wrap="none" lIns="0" tIns="0" rIns="0" bIns="0" anchor="ctr">
            <a:noAutofit/>
          </a:bodyPr>
          <a:lstStyle/>
          <a:p>
            <a:pPr algn="ctr">
              <a:defRPr sz="1500" b="0" i="1">
                <a:solidFill>
                  <a:srgbClr val="2876A4"/>
                </a:solidFill>
                <a:latin typeface="Times New Roman" panose="02020603050405020304"/>
                <a:ea typeface="Times New Roman" panose="02020603050405020304"/>
                <a:cs typeface="Times New Roman" panose="02020603050405020304"/>
              </a:defRPr>
            </a:pPr>
            <a:r>
              <a:rPr sz="1500" b="0" i="1">
                <a:solidFill>
                  <a:srgbClr val="2876A4"/>
                </a:solidFill>
                <a:latin typeface="Times New Roman" panose="02020603050405020304"/>
                <a:ea typeface="Times New Roman" panose="02020603050405020304"/>
                <a:cs typeface="Times New Roman" panose="02020603050405020304"/>
              </a:rPr>
              <a:t>timestep + spans</a:t>
            </a:r>
            <a:endParaRPr sz="1500" b="0" i="1">
              <a:solidFill>
                <a:srgbClr val="2876A4"/>
              </a:solidFill>
              <a:latin typeface="Times New Roman" panose="02020603050405020304"/>
              <a:ea typeface="Times New Roman" panose="02020603050405020304"/>
              <a:cs typeface="Times New Roman" panose="02020603050405020304"/>
            </a:endParaRPr>
          </a:p>
        </p:txBody>
      </p:sp>
      <p:sp>
        <p:nvSpPr>
          <p:cNvPr id="157" name="current-inputs-head-a"/>
          <p:cNvSpPr>
            <a:spLocks noGrp="1"/>
          </p:cNvSpPr>
          <p:nvPr/>
        </p:nvSpPr>
        <p:spPr>
          <a:xfrm>
            <a:off x="14611350" y="1581150"/>
            <a:ext cx="953" cy="953"/>
          </a:xfrm>
          <a:prstGeom prst="rect">
            <a:avLst/>
          </a:prstGeom>
          <a:noFill/>
          <a:ln w="0">
            <a:noFill/>
            <a:prstDash val="solid"/>
          </a:ln>
        </p:spPr>
      </p:sp>
      <p:sp>
        <p:nvSpPr>
          <p:cNvPr id="158" name="current-inputs-head-b"/>
          <p:cNvSpPr>
            <a:spLocks noGrp="1"/>
          </p:cNvSpPr>
          <p:nvPr/>
        </p:nvSpPr>
        <p:spPr>
          <a:xfrm>
            <a:off x="14611350" y="1695450"/>
            <a:ext cx="953" cy="953"/>
          </a:xfrm>
          <a:prstGeom prst="rect">
            <a:avLst/>
          </a:prstGeom>
          <a:noFill/>
          <a:ln w="0">
            <a:noFill/>
            <a:prstDash val="solid"/>
          </a:ln>
        </p:spPr>
      </p:sp>
      <p:cxnSp>
        <p:nvCxnSpPr>
          <p:cNvPr id="396" name="current-inputs-head"/>
          <p:cNvCxnSpPr>
            <a:stCxn id="157" idx="3"/>
            <a:endCxn id="158" idx="1"/>
          </p:cNvCxnSpPr>
          <p:nvPr/>
        </p:nvCxnSpPr>
        <p:spPr>
          <a:xfrm flipH="1">
            <a:off x="14611350" y="1581627"/>
            <a:ext cx="953" cy="114300"/>
          </a:xfrm>
          <a:prstGeom prst="straightConnector1">
            <a:avLst/>
          </a:prstGeom>
          <a:ln w="13335">
            <a:solidFill>
              <a:srgbClr val="2876A4"/>
            </a:solidFill>
            <a:prstDash val="solid"/>
            <a:tailEnd type="triangle" w="sm" len="sm"/>
          </a:ln>
        </p:spPr>
      </p:cxnSp>
      <p:sp>
        <p:nvSpPr>
          <p:cNvPr id="160" name="head-b-prediction-a"/>
          <p:cNvSpPr>
            <a:spLocks noGrp="1"/>
          </p:cNvSpPr>
          <p:nvPr/>
        </p:nvSpPr>
        <p:spPr>
          <a:xfrm>
            <a:off x="15211425" y="1914525"/>
            <a:ext cx="953" cy="953"/>
          </a:xfrm>
          <a:prstGeom prst="rect">
            <a:avLst/>
          </a:prstGeom>
          <a:noFill/>
          <a:ln w="0">
            <a:noFill/>
            <a:prstDash val="solid"/>
          </a:ln>
        </p:spPr>
      </p:sp>
      <p:sp>
        <p:nvSpPr>
          <p:cNvPr id="161" name="head-b-prediction-b"/>
          <p:cNvSpPr>
            <a:spLocks noGrp="1"/>
          </p:cNvSpPr>
          <p:nvPr/>
        </p:nvSpPr>
        <p:spPr>
          <a:xfrm>
            <a:off x="15592425" y="1914525"/>
            <a:ext cx="953" cy="953"/>
          </a:xfrm>
          <a:prstGeom prst="rect">
            <a:avLst/>
          </a:prstGeom>
          <a:noFill/>
          <a:ln w="0">
            <a:noFill/>
            <a:prstDash val="solid"/>
          </a:ln>
        </p:spPr>
      </p:sp>
      <p:cxnSp>
        <p:nvCxnSpPr>
          <p:cNvPr id="399" name="head-b-prediction"/>
          <p:cNvCxnSpPr>
            <a:stCxn id="160" idx="3"/>
            <a:endCxn id="161" idx="1"/>
          </p:cNvCxnSpPr>
          <p:nvPr/>
        </p:nvCxnSpPr>
        <p:spPr>
          <a:xfrm>
            <a:off x="15212378" y="1915002"/>
            <a:ext cx="380047" cy="0"/>
          </a:xfrm>
          <a:prstGeom prst="straightConnector1">
            <a:avLst/>
          </a:prstGeom>
          <a:ln w="17145">
            <a:solidFill>
              <a:srgbClr val="202428"/>
            </a:solidFill>
            <a:prstDash val="solid"/>
            <a:tailEnd type="triangle" w="sm" len="sm"/>
          </a:ln>
        </p:spPr>
      </p:cxnSp>
      <p:sp>
        <p:nvSpPr>
          <p:cNvPr id="163" name="cadd-velocity-v"/>
          <p:cNvSpPr>
            <a:spLocks noGrp="1"/>
          </p:cNvSpPr>
          <p:nvPr/>
        </p:nvSpPr>
        <p:spPr>
          <a:xfrm>
            <a:off x="15621000" y="1724025"/>
            <a:ext cx="295275" cy="352425"/>
          </a:xfrm>
          <a:prstGeom prst="rect">
            <a:avLst/>
          </a:prstGeom>
          <a:noFill/>
          <a:ln w="0">
            <a:noFill/>
            <a:prstDash val="solid"/>
          </a:ln>
        </p:spPr>
        <p:txBody>
          <a:bodyPr wrap="none" lIns="0" tIns="0" rIns="0" bIns="0" anchor="ctr">
            <a:noAutofit/>
          </a:bodyPr>
          <a:lstStyle/>
          <a:p>
            <a:pPr algn="ctr">
              <a:defRPr sz="2550" b="1" i="1">
                <a:solidFill>
                  <a:srgbClr val="2876A4"/>
                </a:solidFill>
                <a:latin typeface="Times New Roman" panose="02020603050405020304"/>
                <a:ea typeface="Times New Roman" panose="02020603050405020304"/>
                <a:cs typeface="Times New Roman" panose="02020603050405020304"/>
              </a:defRPr>
            </a:pPr>
            <a:r>
              <a:rPr sz="2550" b="1" i="1">
                <a:solidFill>
                  <a:srgbClr val="2876A4"/>
                </a:solidFill>
                <a:latin typeface="Times New Roman" panose="02020603050405020304"/>
                <a:ea typeface="Times New Roman" panose="02020603050405020304"/>
                <a:cs typeface="Times New Roman" panose="02020603050405020304"/>
              </a:rPr>
              <a:t>v</a:t>
            </a:r>
            <a:endParaRPr sz="2550" b="1" i="1">
              <a:solidFill>
                <a:srgbClr val="2876A4"/>
              </a:solidFill>
              <a:latin typeface="Times New Roman" panose="02020603050405020304"/>
              <a:ea typeface="Times New Roman" panose="02020603050405020304"/>
              <a:cs typeface="Times New Roman" panose="02020603050405020304"/>
            </a:endParaRPr>
          </a:p>
        </p:txBody>
      </p:sp>
      <p:sp>
        <p:nvSpPr>
          <p:cNvPr id="164" name="cadd-velocity-k"/>
          <p:cNvSpPr>
            <a:spLocks noGrp="1"/>
          </p:cNvSpPr>
          <p:nvPr/>
        </p:nvSpPr>
        <p:spPr>
          <a:xfrm>
            <a:off x="15825470" y="1943100"/>
            <a:ext cx="133350" cy="161925"/>
          </a:xfrm>
          <a:prstGeom prst="rect">
            <a:avLst/>
          </a:prstGeom>
          <a:noFill/>
          <a:ln w="0">
            <a:noFill/>
            <a:prstDash val="solid"/>
          </a:ln>
        </p:spPr>
        <p:txBody>
          <a:bodyPr wrap="none" lIns="0" tIns="0" rIns="0" bIns="0" anchor="ctr">
            <a:noAutofit/>
          </a:bodyPr>
          <a:lstStyle/>
          <a:p>
            <a:pPr algn="l">
              <a:defRPr sz="1350" b="0" i="1">
                <a:solidFill>
                  <a:srgbClr val="2876A4"/>
                </a:solidFill>
                <a:latin typeface="Times New Roman" panose="02020603050405020304"/>
                <a:ea typeface="Times New Roman" panose="02020603050405020304"/>
                <a:cs typeface="Times New Roman" panose="02020603050405020304"/>
              </a:defRPr>
            </a:pPr>
            <a:r>
              <a:rPr sz="1350" b="0" i="1">
                <a:solidFill>
                  <a:srgbClr val="2876A4"/>
                </a:solidFill>
                <a:latin typeface="Times New Roman" panose="02020603050405020304"/>
                <a:ea typeface="Times New Roman" panose="02020603050405020304"/>
                <a:cs typeface="Times New Roman" panose="02020603050405020304"/>
              </a:rPr>
              <a:t>k</a:t>
            </a:r>
            <a:endParaRPr sz="1350" b="0" i="1">
              <a:solidFill>
                <a:srgbClr val="2876A4"/>
              </a:solidFill>
              <a:latin typeface="Times New Roman" panose="02020603050405020304"/>
              <a:ea typeface="Times New Roman" panose="02020603050405020304"/>
              <a:cs typeface="Times New Roman" panose="02020603050405020304"/>
            </a:endParaRPr>
          </a:p>
        </p:txBody>
      </p:sp>
      <p:sp>
        <p:nvSpPr>
          <p:cNvPr id="165" name="velocity-note"/>
          <p:cNvSpPr>
            <a:spLocks noGrp="1"/>
          </p:cNvSpPr>
          <p:nvPr/>
        </p:nvSpPr>
        <p:spPr>
          <a:xfrm>
            <a:off x="15468600" y="2105025"/>
            <a:ext cx="942975" cy="209550"/>
          </a:xfrm>
          <a:prstGeom prst="rect">
            <a:avLst/>
          </a:prstGeom>
          <a:noFill/>
          <a:ln w="0">
            <a:noFill/>
            <a:prstDash val="solid"/>
          </a:ln>
        </p:spPr>
        <p:txBody>
          <a:bodyPr wrap="none" lIns="0" tIns="0" rIns="0" bIns="0" anchor="ctr">
            <a:noAutofit/>
          </a:bodyPr>
          <a:lstStyle/>
          <a:p>
            <a:pPr algn="ctr">
              <a:defRPr sz="1350" b="0" i="1">
                <a:solidFill>
                  <a:srgbClr val="2876A4"/>
                </a:solidFill>
                <a:latin typeface="Times New Roman" panose="02020603050405020304"/>
                <a:ea typeface="Times New Roman" panose="02020603050405020304"/>
                <a:cs typeface="Times New Roman" panose="02020603050405020304"/>
              </a:defRPr>
            </a:pPr>
            <a:r>
              <a:rPr sz="1350" b="0" i="1">
                <a:solidFill>
                  <a:srgbClr val="2876A4"/>
                </a:solidFill>
                <a:latin typeface="Times New Roman" panose="02020603050405020304"/>
                <a:ea typeface="Times New Roman" panose="02020603050405020304"/>
                <a:cs typeface="Times New Roman" panose="02020603050405020304"/>
              </a:rPr>
              <a:t>velocity</a:t>
            </a:r>
            <a:endParaRPr sz="1350" b="0" i="1">
              <a:solidFill>
                <a:srgbClr val="2876A4"/>
              </a:solidFill>
              <a:latin typeface="Times New Roman" panose="02020603050405020304"/>
              <a:ea typeface="Times New Roman" panose="02020603050405020304"/>
              <a:cs typeface="Times New Roman" panose="02020603050405020304"/>
            </a:endParaRPr>
          </a:p>
        </p:txBody>
      </p:sp>
      <p:sp>
        <p:nvSpPr>
          <p:cNvPr id="166" name="skipped-producers"/>
          <p:cNvSpPr>
            <a:spLocks noGrp="1"/>
          </p:cNvSpPr>
          <p:nvPr/>
        </p:nvSpPr>
        <p:spPr>
          <a:xfrm>
            <a:off x="11249025" y="2143125"/>
            <a:ext cx="3505200" cy="228600"/>
          </a:xfrm>
          <a:prstGeom prst="rect">
            <a:avLst/>
          </a:prstGeom>
          <a:noFill/>
          <a:ln w="0">
            <a:noFill/>
            <a:prstDash val="solid"/>
          </a:ln>
        </p:spPr>
        <p:txBody>
          <a:bodyPr wrap="none" lIns="0" tIns="0" rIns="0" bIns="0" anchor="ctr">
            <a:noAutofit/>
          </a:bodyPr>
          <a:lstStyle/>
          <a:p>
            <a:pPr algn="l">
              <a:defRPr sz="1575" b="0" i="1">
                <a:solidFill>
                  <a:srgbClr val="62696E"/>
                </a:solidFill>
                <a:latin typeface="Times New Roman" panose="02020603050405020304"/>
                <a:ea typeface="Times New Roman" panose="02020603050405020304"/>
                <a:cs typeface="Times New Roman" panose="02020603050405020304"/>
              </a:defRPr>
            </a:pPr>
            <a:r>
              <a:rPr sz="1575" b="0" i="1">
                <a:solidFill>
                  <a:srgbClr val="62696E"/>
                </a:solidFill>
                <a:latin typeface="Times New Roman" panose="02020603050405020304"/>
                <a:ea typeface="Times New Roman" panose="02020603050405020304"/>
                <a:cs typeface="Times New Roman" panose="02020603050405020304"/>
              </a:rPr>
              <a:t>upstream producers not executed</a:t>
            </a:r>
            <a:endParaRPr sz="1575" b="0" i="1">
              <a:solidFill>
                <a:srgbClr val="62696E"/>
              </a:solidFill>
              <a:latin typeface="Times New Roman" panose="02020603050405020304"/>
              <a:ea typeface="Times New Roman" panose="02020603050405020304"/>
              <a:cs typeface="Times New Roman" panose="02020603050405020304"/>
            </a:endParaRPr>
          </a:p>
        </p:txBody>
      </p:sp>
      <p:sp>
        <p:nvSpPr>
          <p:cNvPr id="167" name="remaining-call"/>
          <p:cNvSpPr>
            <a:spLocks noGrp="1"/>
          </p:cNvSpPr>
          <p:nvPr/>
        </p:nvSpPr>
        <p:spPr>
          <a:xfrm>
            <a:off x="11239500" y="2457450"/>
            <a:ext cx="2562225" cy="247650"/>
          </a:xfrm>
          <a:prstGeom prst="rect">
            <a:avLst/>
          </a:prstGeom>
          <a:noFill/>
          <a:ln w="0">
            <a:noFill/>
            <a:prstDash val="solid"/>
          </a:ln>
        </p:spPr>
        <p:txBody>
          <a:bodyPr wrap="none" lIns="0" tIns="0" rIns="0" bIns="0" anchor="ctr">
            <a:noAutofit/>
          </a:bodyPr>
          <a:lstStyle/>
          <a:p>
            <a:pPr algn="l">
              <a:defRPr sz="1725" b="0" i="0">
                <a:solidFill>
                  <a:srgbClr val="202428"/>
                </a:solidFill>
                <a:latin typeface="Times New Roman" panose="02020603050405020304"/>
                <a:ea typeface="Times New Roman" panose="02020603050405020304"/>
                <a:cs typeface="Times New Roman" panose="02020603050405020304"/>
              </a:defRPr>
            </a:pPr>
            <a:r>
              <a:rPr sz="1725" b="0" i="0">
                <a:solidFill>
                  <a:srgbClr val="202428"/>
                </a:solidFill>
                <a:latin typeface="Times New Roman" panose="02020603050405020304"/>
                <a:ea typeface="Times New Roman" panose="02020603050405020304"/>
                <a:cs typeface="Times New Roman" panose="02020603050405020304"/>
              </a:rPr>
              <a:t>Remaining image calls</a:t>
            </a:r>
            <a:endParaRPr sz="1725" b="0" i="0">
              <a:solidFill>
                <a:srgbClr val="202428"/>
              </a:solidFill>
              <a:latin typeface="Times New Roman" panose="02020603050405020304"/>
              <a:ea typeface="Times New Roman" panose="02020603050405020304"/>
              <a:cs typeface="Times New Roman" panose="02020603050405020304"/>
            </a:endParaRPr>
          </a:p>
        </p:txBody>
      </p:sp>
      <p:sp>
        <p:nvSpPr>
          <p:cNvPr id="168" name="retained-hidden"/>
          <p:cNvSpPr>
            <a:spLocks noGrp="1"/>
          </p:cNvSpPr>
          <p:nvPr/>
        </p:nvSpPr>
        <p:spPr>
          <a:xfrm>
            <a:off x="13716000" y="2409825"/>
            <a:ext cx="333375" cy="323850"/>
          </a:xfrm>
          <a:prstGeom prst="rect">
            <a:avLst/>
          </a:prstGeom>
          <a:noFill/>
          <a:ln w="0">
            <a:noFill/>
            <a:prstDash val="solid"/>
          </a:ln>
        </p:spPr>
        <p:txBody>
          <a:bodyPr wrap="none" lIns="0" tIns="0" rIns="0" bIns="0" anchor="ctr">
            <a:noAutofit/>
          </a:bodyPr>
          <a:lstStyle/>
          <a:p>
            <a:pPr algn="ctr">
              <a:defRPr sz="2100" b="1" i="1">
                <a:solidFill>
                  <a:srgbClr val="2876A4"/>
                </a:solidFill>
                <a:latin typeface="Times New Roman" panose="02020603050405020304"/>
                <a:ea typeface="Times New Roman" panose="02020603050405020304"/>
                <a:cs typeface="Times New Roman" panose="02020603050405020304"/>
              </a:defRPr>
            </a:pPr>
            <a:r>
              <a:rPr sz="2100" b="1" i="1">
                <a:solidFill>
                  <a:srgbClr val="2876A4"/>
                </a:solidFill>
                <a:latin typeface="Times New Roman" panose="02020603050405020304"/>
                <a:ea typeface="Times New Roman" panose="02020603050405020304"/>
                <a:cs typeface="Times New Roman" panose="02020603050405020304"/>
              </a:rPr>
              <a:t>H</a:t>
            </a:r>
            <a:endParaRPr sz="2100" b="1" i="1">
              <a:solidFill>
                <a:srgbClr val="2876A4"/>
              </a:solidFill>
              <a:latin typeface="Times New Roman" panose="02020603050405020304"/>
              <a:ea typeface="Times New Roman" panose="02020603050405020304"/>
              <a:cs typeface="Times New Roman" panose="02020603050405020304"/>
            </a:endParaRPr>
          </a:p>
        </p:txBody>
      </p:sp>
      <p:sp>
        <p:nvSpPr>
          <p:cNvPr id="169" name="unused-vocab-link"/>
          <p:cNvSpPr>
            <a:spLocks noGrp="1"/>
          </p:cNvSpPr>
          <p:nvPr/>
        </p:nvSpPr>
        <p:spPr>
          <a:xfrm>
            <a:off x="14087475" y="2590800"/>
            <a:ext cx="257175" cy="0"/>
          </a:xfrm>
          <a:prstGeom prst="line">
            <a:avLst/>
          </a:prstGeom>
          <a:noFill/>
          <a:ln w="13335">
            <a:solidFill>
              <a:srgbClr val="A5ABB0"/>
            </a:solidFill>
            <a:prstDash val="dash"/>
          </a:ln>
        </p:spPr>
      </p:sp>
      <p:sp>
        <p:nvSpPr>
          <p:cNvPr id="170" name="omitted-vocab"/>
          <p:cNvSpPr>
            <a:spLocks noGrp="1"/>
          </p:cNvSpPr>
          <p:nvPr/>
        </p:nvSpPr>
        <p:spPr>
          <a:xfrm>
            <a:off x="14382750" y="2419350"/>
            <a:ext cx="1952625" cy="333375"/>
          </a:xfrm>
          <a:prstGeom prst="roundRect">
            <a:avLst>
              <a:gd name="adj" fmla="val 8571"/>
            </a:avLst>
          </a:prstGeom>
          <a:solidFill>
            <a:srgbClr val="FAFAFA"/>
          </a:solidFill>
          <a:ln w="13335">
            <a:solidFill>
              <a:srgbClr val="A5ABB0"/>
            </a:solidFill>
            <a:prstDash val="dash"/>
          </a:ln>
        </p:spPr>
      </p:sp>
      <p:sp>
        <p:nvSpPr>
          <p:cNvPr id="171" name="omitted-vocab-label"/>
          <p:cNvSpPr>
            <a:spLocks noGrp="1"/>
          </p:cNvSpPr>
          <p:nvPr/>
        </p:nvSpPr>
        <p:spPr>
          <a:xfrm>
            <a:off x="14430375" y="2447925"/>
            <a:ext cx="1857375" cy="266700"/>
          </a:xfrm>
          <a:prstGeom prst="rect">
            <a:avLst/>
          </a:prstGeom>
          <a:noFill/>
          <a:ln w="0">
            <a:noFill/>
            <a:prstDash val="solid"/>
          </a:ln>
        </p:spPr>
        <p:txBody>
          <a:bodyPr wrap="none" lIns="0" tIns="0" rIns="0" bIns="0" anchor="ctr">
            <a:noAutofit/>
          </a:bodyPr>
          <a:lstStyle/>
          <a:p>
            <a:pPr algn="ctr">
              <a:defRPr sz="1725" b="0" i="0">
                <a:solidFill>
                  <a:srgbClr val="62696E"/>
                </a:solidFill>
                <a:latin typeface="Times New Roman" panose="02020603050405020304"/>
                <a:ea typeface="Times New Roman" panose="02020603050405020304"/>
                <a:cs typeface="Times New Roman" panose="02020603050405020304"/>
              </a:defRPr>
            </a:pPr>
            <a:r>
              <a:rPr sz="1725" b="0" i="0">
                <a:solidFill>
                  <a:srgbClr val="62696E"/>
                </a:solidFill>
                <a:latin typeface="Times New Roman" panose="02020603050405020304"/>
                <a:ea typeface="Times New Roman" panose="02020603050405020304"/>
                <a:cs typeface="Times New Roman" panose="02020603050405020304"/>
              </a:rPr>
              <a:t>Vocab. projection</a:t>
            </a:r>
            <a:endParaRPr sz="1725" b="0" i="0">
              <a:solidFill>
                <a:srgbClr val="62696E"/>
              </a:solidFill>
              <a:latin typeface="Times New Roman" panose="02020603050405020304"/>
              <a:ea typeface="Times New Roman" panose="02020603050405020304"/>
              <a:cs typeface="Times New Roman" panose="02020603050405020304"/>
            </a:endParaRPr>
          </a:p>
        </p:txBody>
      </p:sp>
      <p:sp>
        <p:nvSpPr>
          <p:cNvPr id="172" name="vocab-bypass"/>
          <p:cNvSpPr>
            <a:spLocks noGrp="1"/>
          </p:cNvSpPr>
          <p:nvPr/>
        </p:nvSpPr>
        <p:spPr>
          <a:xfrm>
            <a:off x="13763625" y="2771775"/>
            <a:ext cx="2647950" cy="219075"/>
          </a:xfrm>
          <a:prstGeom prst="rect">
            <a:avLst/>
          </a:prstGeom>
          <a:noFill/>
          <a:ln w="0">
            <a:noFill/>
            <a:prstDash val="solid"/>
          </a:ln>
        </p:spPr>
        <p:txBody>
          <a:bodyPr wrap="none" lIns="0" tIns="0" rIns="0" bIns="0" anchor="ctr">
            <a:noAutofit/>
          </a:bodyPr>
          <a:lstStyle/>
          <a:p>
            <a:pPr algn="r">
              <a:defRPr sz="1500" b="0" i="1">
                <a:solidFill>
                  <a:srgbClr val="008D85"/>
                </a:solidFill>
                <a:latin typeface="Times New Roman" panose="02020603050405020304"/>
                <a:ea typeface="Times New Roman" panose="02020603050405020304"/>
                <a:cs typeface="Times New Roman" panose="02020603050405020304"/>
              </a:defRPr>
            </a:pPr>
            <a:r>
              <a:rPr sz="1500" b="0" i="1">
                <a:solidFill>
                  <a:srgbClr val="008D85"/>
                </a:solidFill>
                <a:latin typeface="Times New Roman" panose="02020603050405020304"/>
                <a:ea typeface="Times New Roman" panose="02020603050405020304"/>
                <a:cs typeface="Times New Roman" panose="02020603050405020304"/>
              </a:rPr>
              <a:t>VocabBypass: no text logits</a:t>
            </a:r>
            <a:endParaRPr sz="1500" b="0" i="1">
              <a:solidFill>
                <a:srgbClr val="008D85"/>
              </a:solidFill>
              <a:latin typeface="Times New Roman" panose="02020603050405020304"/>
              <a:ea typeface="Times New Roman" panose="02020603050405020304"/>
              <a:cs typeface="Times New Roman" panose="02020603050405020304"/>
            </a:endParaRPr>
          </a:p>
        </p:txBody>
      </p:sp>
      <p:sp>
        <p:nvSpPr>
          <p:cNvPr id="173" name="guard-fallback"/>
          <p:cNvSpPr>
            <a:spLocks noGrp="1"/>
          </p:cNvSpPr>
          <p:nvPr/>
        </p:nvSpPr>
        <p:spPr>
          <a:xfrm>
            <a:off x="11239500" y="3038475"/>
            <a:ext cx="5095875" cy="228600"/>
          </a:xfrm>
          <a:prstGeom prst="rect">
            <a:avLst/>
          </a:prstGeom>
          <a:noFill/>
          <a:ln w="0">
            <a:noFill/>
            <a:prstDash val="solid"/>
          </a:ln>
        </p:spPr>
        <p:txBody>
          <a:bodyPr wrap="none" lIns="0" tIns="0" rIns="0" bIns="0" anchor="ctr">
            <a:noAutofit/>
          </a:bodyPr>
          <a:lstStyle/>
          <a:p>
            <a:pPr algn="ctr">
              <a:defRPr sz="1650" b="0" i="1">
                <a:solidFill>
                  <a:srgbClr val="62696E"/>
                </a:solidFill>
                <a:latin typeface="Times New Roman" panose="02020603050405020304"/>
                <a:ea typeface="Times New Roman" panose="02020603050405020304"/>
                <a:cs typeface="Times New Roman" panose="02020603050405020304"/>
              </a:defRPr>
            </a:pPr>
            <a:r>
              <a:rPr sz="1650" b="0" i="1">
                <a:solidFill>
                  <a:srgbClr val="62696E"/>
                </a:solidFill>
                <a:latin typeface="Times New Roman" panose="02020603050405020304"/>
                <a:ea typeface="Times New Roman" panose="02020603050405020304"/>
                <a:cs typeface="Times New Roman" panose="02020603050405020304"/>
              </a:rPr>
              <a:t>Guard fails: retain the selected policy's full path</a:t>
            </a:r>
            <a:endParaRPr sz="1650" b="0" i="1">
              <a:solidFill>
                <a:srgbClr val="62696E"/>
              </a:solidFill>
              <a:latin typeface="Times New Roman" panose="02020603050405020304"/>
              <a:ea typeface="Times New Roman" panose="02020603050405020304"/>
              <a:cs typeface="Times New Roman" panose="02020603050405020304"/>
            </a:endParaRPr>
          </a:p>
        </p:txBody>
      </p:sp>
      <p:sp>
        <p:nvSpPr>
          <p:cNvPr id="174" name="policy-divider"/>
          <p:cNvSpPr>
            <a:spLocks noGrp="1"/>
          </p:cNvSpPr>
          <p:nvPr/>
        </p:nvSpPr>
        <p:spPr>
          <a:xfrm>
            <a:off x="11172825" y="3333750"/>
            <a:ext cx="5143500" cy="0"/>
          </a:xfrm>
          <a:prstGeom prst="line">
            <a:avLst/>
          </a:prstGeom>
          <a:noFill/>
          <a:ln w="9525">
            <a:solidFill>
              <a:srgbClr val="C7CCD0"/>
            </a:solidFill>
            <a:prstDash val="solid"/>
          </a:ln>
        </p:spPr>
      </p:sp>
      <p:sp>
        <p:nvSpPr>
          <p:cNvPr id="175" name="understanding-principle"/>
          <p:cNvSpPr>
            <a:spLocks noGrp="1"/>
          </p:cNvSpPr>
          <p:nvPr/>
        </p:nvSpPr>
        <p:spPr>
          <a:xfrm>
            <a:off x="11191875" y="3319145"/>
            <a:ext cx="5219700" cy="295275"/>
          </a:xfrm>
          <a:prstGeom prst="rect">
            <a:avLst/>
          </a:prstGeom>
          <a:noFill/>
          <a:ln w="0">
            <a:noFill/>
            <a:prstDash val="solid"/>
          </a:ln>
        </p:spPr>
        <p:txBody>
          <a:bodyPr wrap="none" lIns="0" tIns="0" rIns="0" bIns="0" anchor="ctr">
            <a:noAutofit/>
          </a:bodyPr>
          <a:lstStyle/>
          <a:p>
            <a:pPr algn="l">
              <a:defRPr sz="1950" b="1" i="0">
                <a:solidFill>
                  <a:srgbClr val="2876A4"/>
                </a:solidFill>
                <a:latin typeface="Times New Roman" panose="02020603050405020304"/>
                <a:ea typeface="Times New Roman" panose="02020603050405020304"/>
                <a:cs typeface="Times New Roman" panose="02020603050405020304"/>
              </a:defRPr>
            </a:pPr>
            <a:r>
              <a:rPr sz="1950" b="1" i="0">
                <a:solidFill>
                  <a:srgbClr val="2876A4"/>
                </a:solidFill>
                <a:latin typeface="Times New Roman" panose="02020603050405020304"/>
                <a:ea typeface="Times New Roman" panose="02020603050405020304"/>
                <a:cs typeface="Times New Roman" panose="02020603050405020304"/>
              </a:rPr>
              <a:t>Understanding: KV under selected pruning</a:t>
            </a:r>
            <a:endParaRPr sz="1950" b="1" i="0">
              <a:solidFill>
                <a:srgbClr val="2876A4"/>
              </a:solidFill>
              <a:latin typeface="Times New Roman" panose="02020603050405020304"/>
              <a:ea typeface="Times New Roman" panose="02020603050405020304"/>
              <a:cs typeface="Times New Roman" panose="02020603050405020304"/>
            </a:endParaRPr>
          </a:p>
        </p:txBody>
      </p:sp>
      <p:sp>
        <p:nvSpPr>
          <p:cNvPr id="176" name="exact-policy"/>
          <p:cNvSpPr>
            <a:spLocks noGrp="1"/>
          </p:cNvSpPr>
          <p:nvPr/>
        </p:nvSpPr>
        <p:spPr>
          <a:xfrm>
            <a:off x="11229975" y="3781425"/>
            <a:ext cx="2066925" cy="276225"/>
          </a:xfrm>
          <a:prstGeom prst="rect">
            <a:avLst/>
          </a:prstGeom>
          <a:noFill/>
          <a:ln w="0">
            <a:noFill/>
            <a:prstDash val="solid"/>
          </a:ln>
        </p:spPr>
        <p:txBody>
          <a:bodyPr wrap="none" lIns="0" tIns="0" rIns="0" bIns="0" anchor="ctr">
            <a:noAutofit/>
          </a:bodyPr>
          <a:lstStyle/>
          <a:p>
            <a:pPr algn="l">
              <a:defRPr sz="1875" b="0" i="0">
                <a:solidFill>
                  <a:srgbClr val="202428"/>
                </a:solidFill>
                <a:latin typeface="Times New Roman" panose="02020603050405020304"/>
                <a:ea typeface="Times New Roman" panose="02020603050405020304"/>
                <a:cs typeface="Times New Roman" panose="02020603050405020304"/>
              </a:defRPr>
            </a:pPr>
            <a:r>
              <a:rPr sz="1875" b="0" i="0">
                <a:solidFill>
                  <a:srgbClr val="202428"/>
                </a:solidFill>
                <a:latin typeface="Times New Roman" panose="02020603050405020304"/>
                <a:ea typeface="Times New Roman" panose="02020603050405020304"/>
                <a:cs typeface="Times New Roman" panose="02020603050405020304"/>
              </a:rPr>
              <a:t>Exact-DLS KV</a:t>
            </a:r>
            <a:endParaRPr sz="1875" b="0" i="0">
              <a:solidFill>
                <a:srgbClr val="202428"/>
              </a:solidFill>
              <a:latin typeface="Times New Roman" panose="02020603050405020304"/>
              <a:ea typeface="Times New Roman" panose="02020603050405020304"/>
              <a:cs typeface="Times New Roman" panose="02020603050405020304"/>
            </a:endParaRPr>
          </a:p>
        </p:txBody>
      </p:sp>
      <p:sp>
        <p:nvSpPr>
          <p:cNvPr id="177" name="exact-property"/>
          <p:cNvSpPr>
            <a:spLocks noGrp="1"/>
          </p:cNvSpPr>
          <p:nvPr/>
        </p:nvSpPr>
        <p:spPr>
          <a:xfrm>
            <a:off x="11229975" y="4067175"/>
            <a:ext cx="2057400" cy="219075"/>
          </a:xfrm>
          <a:prstGeom prst="rect">
            <a:avLst/>
          </a:prstGeom>
          <a:noFill/>
          <a:ln w="0">
            <a:noFill/>
            <a:prstDash val="solid"/>
          </a:ln>
        </p:spPr>
        <p:txBody>
          <a:bodyPr wrap="none" lIns="0" tIns="0" rIns="0" bIns="0" anchor="ctr">
            <a:noAutofit/>
          </a:bodyPr>
          <a:lstStyle/>
          <a:p>
            <a:pPr algn="l">
              <a:defRPr sz="1575" b="0" i="1">
                <a:solidFill>
                  <a:srgbClr val="62696E"/>
                </a:solidFill>
                <a:latin typeface="Times New Roman" panose="02020603050405020304"/>
                <a:ea typeface="Times New Roman" panose="02020603050405020304"/>
                <a:cs typeface="Times New Roman" panose="02020603050405020304"/>
              </a:defRPr>
            </a:pPr>
            <a:r>
              <a:rPr sz="1575" b="0" i="1">
                <a:solidFill>
                  <a:srgbClr val="62696E"/>
                </a:solidFill>
                <a:latin typeface="Times New Roman" panose="02020603050405020304"/>
                <a:ea typeface="Times New Roman" panose="02020603050405020304"/>
                <a:cs typeface="Times New Roman" panose="02020603050405020304"/>
              </a:rPr>
              <a:t>selected DLS retained</a:t>
            </a:r>
            <a:endParaRPr sz="1575" b="0" i="1">
              <a:solidFill>
                <a:srgbClr val="62696E"/>
              </a:solidFill>
              <a:latin typeface="Times New Roman" panose="02020603050405020304"/>
              <a:ea typeface="Times New Roman" panose="02020603050405020304"/>
              <a:cs typeface="Times New Roman" panose="02020603050405020304"/>
            </a:endParaRPr>
          </a:p>
        </p:txBody>
      </p:sp>
      <p:sp>
        <p:nvSpPr>
          <p:cNvPr id="178" name="exact-schedule-box0"/>
          <p:cNvSpPr>
            <a:spLocks noGrp="1"/>
          </p:cNvSpPr>
          <p:nvPr/>
        </p:nvSpPr>
        <p:spPr>
          <a:xfrm>
            <a:off x="13392150" y="3810000"/>
            <a:ext cx="361950" cy="266700"/>
          </a:xfrm>
          <a:prstGeom prst="roundRect">
            <a:avLst>
              <a:gd name="adj" fmla="val 3571"/>
            </a:avLst>
          </a:prstGeom>
          <a:solidFill>
            <a:srgbClr val="E2CEA0"/>
          </a:solidFill>
          <a:ln w="9525">
            <a:solidFill>
              <a:srgbClr val="B88B34"/>
            </a:solidFill>
            <a:prstDash val="solid"/>
          </a:ln>
        </p:spPr>
      </p:sp>
      <p:sp>
        <p:nvSpPr>
          <p:cNvPr id="179" name="exact-schedule-text0"/>
          <p:cNvSpPr>
            <a:spLocks noGrp="1"/>
          </p:cNvSpPr>
          <p:nvPr/>
        </p:nvSpPr>
        <p:spPr>
          <a:xfrm>
            <a:off x="13392150" y="3810000"/>
            <a:ext cx="361950" cy="266700"/>
          </a:xfrm>
          <a:prstGeom prst="rect">
            <a:avLst/>
          </a:prstGeom>
          <a:noFill/>
          <a:ln w="0">
            <a:noFill/>
            <a:prstDash val="solid"/>
          </a:ln>
        </p:spPr>
        <p:txBody>
          <a:bodyPr wrap="none" lIns="0" tIns="0" rIns="0" bIns="0" anchor="ctr">
            <a:noAutofit/>
          </a:bodyPr>
          <a:lstStyle/>
          <a:p>
            <a:pPr algn="ctr">
              <a:defRPr sz="1725" b="0" i="0">
                <a:solidFill>
                  <a:srgbClr val="202428"/>
                </a:solidFill>
                <a:latin typeface="Times New Roman" panose="02020603050405020304"/>
                <a:ea typeface="Times New Roman" panose="02020603050405020304"/>
                <a:cs typeface="Times New Roman" panose="02020603050405020304"/>
              </a:defRPr>
            </a:pPr>
            <a:r>
              <a:rPr sz="1725" b="0" i="0">
                <a:solidFill>
                  <a:srgbClr val="202428"/>
                </a:solidFill>
                <a:latin typeface="Times New Roman" panose="02020603050405020304"/>
                <a:ea typeface="Times New Roman" panose="02020603050405020304"/>
                <a:cs typeface="Times New Roman" panose="02020603050405020304"/>
              </a:rPr>
              <a:t>F</a:t>
            </a:r>
            <a:endParaRPr sz="1725" b="0" i="0">
              <a:solidFill>
                <a:srgbClr val="202428"/>
              </a:solidFill>
              <a:latin typeface="Times New Roman" panose="02020603050405020304"/>
              <a:ea typeface="Times New Roman" panose="02020603050405020304"/>
              <a:cs typeface="Times New Roman" panose="02020603050405020304"/>
            </a:endParaRPr>
          </a:p>
        </p:txBody>
      </p:sp>
      <p:sp>
        <p:nvSpPr>
          <p:cNvPr id="180" name="exact-schedule-box1"/>
          <p:cNvSpPr>
            <a:spLocks noGrp="1"/>
          </p:cNvSpPr>
          <p:nvPr/>
        </p:nvSpPr>
        <p:spPr>
          <a:xfrm>
            <a:off x="13849350" y="3810000"/>
            <a:ext cx="361950" cy="266700"/>
          </a:xfrm>
          <a:prstGeom prst="roundRect">
            <a:avLst>
              <a:gd name="adj" fmla="val 3571"/>
            </a:avLst>
          </a:prstGeom>
          <a:solidFill>
            <a:srgbClr val="E2CEA0"/>
          </a:solidFill>
          <a:ln w="9525">
            <a:solidFill>
              <a:srgbClr val="B88B34"/>
            </a:solidFill>
            <a:prstDash val="solid"/>
          </a:ln>
        </p:spPr>
      </p:sp>
      <p:sp>
        <p:nvSpPr>
          <p:cNvPr id="181" name="exact-schedule-text1"/>
          <p:cNvSpPr>
            <a:spLocks noGrp="1"/>
          </p:cNvSpPr>
          <p:nvPr/>
        </p:nvSpPr>
        <p:spPr>
          <a:xfrm>
            <a:off x="13849350" y="3810000"/>
            <a:ext cx="361950" cy="266700"/>
          </a:xfrm>
          <a:prstGeom prst="rect">
            <a:avLst/>
          </a:prstGeom>
          <a:noFill/>
          <a:ln w="0">
            <a:noFill/>
            <a:prstDash val="solid"/>
          </a:ln>
        </p:spPr>
        <p:txBody>
          <a:bodyPr wrap="none" lIns="0" tIns="0" rIns="0" bIns="0" anchor="ctr">
            <a:noAutofit/>
          </a:bodyPr>
          <a:lstStyle/>
          <a:p>
            <a:pPr algn="ctr">
              <a:defRPr sz="1725" b="0" i="0">
                <a:solidFill>
                  <a:srgbClr val="202428"/>
                </a:solidFill>
                <a:latin typeface="Times New Roman" panose="02020603050405020304"/>
                <a:ea typeface="Times New Roman" panose="02020603050405020304"/>
                <a:cs typeface="Times New Roman" panose="02020603050405020304"/>
              </a:defRPr>
            </a:pPr>
            <a:r>
              <a:rPr sz="1725" b="0" i="0">
                <a:solidFill>
                  <a:srgbClr val="202428"/>
                </a:solidFill>
                <a:latin typeface="Times New Roman" panose="02020603050405020304"/>
                <a:ea typeface="Times New Roman" panose="02020603050405020304"/>
                <a:cs typeface="Times New Roman" panose="02020603050405020304"/>
              </a:rPr>
              <a:t>F</a:t>
            </a:r>
            <a:endParaRPr sz="1725" b="0" i="0">
              <a:solidFill>
                <a:srgbClr val="202428"/>
              </a:solidFill>
              <a:latin typeface="Times New Roman" panose="02020603050405020304"/>
              <a:ea typeface="Times New Roman" panose="02020603050405020304"/>
              <a:cs typeface="Times New Roman" panose="02020603050405020304"/>
            </a:endParaRPr>
          </a:p>
        </p:txBody>
      </p:sp>
      <p:sp>
        <p:nvSpPr>
          <p:cNvPr id="182" name="exact-schedule-edge1-a"/>
          <p:cNvSpPr>
            <a:spLocks noGrp="1"/>
          </p:cNvSpPr>
          <p:nvPr/>
        </p:nvSpPr>
        <p:spPr>
          <a:xfrm>
            <a:off x="13763625" y="3943350"/>
            <a:ext cx="953" cy="953"/>
          </a:xfrm>
          <a:prstGeom prst="rect">
            <a:avLst/>
          </a:prstGeom>
          <a:noFill/>
          <a:ln w="0">
            <a:noFill/>
            <a:prstDash val="solid"/>
          </a:ln>
        </p:spPr>
      </p:sp>
      <p:sp>
        <p:nvSpPr>
          <p:cNvPr id="183" name="exact-schedule-edge1-b"/>
          <p:cNvSpPr>
            <a:spLocks noGrp="1"/>
          </p:cNvSpPr>
          <p:nvPr/>
        </p:nvSpPr>
        <p:spPr>
          <a:xfrm>
            <a:off x="13820775" y="3943350"/>
            <a:ext cx="953" cy="953"/>
          </a:xfrm>
          <a:prstGeom prst="rect">
            <a:avLst/>
          </a:prstGeom>
          <a:noFill/>
          <a:ln w="0">
            <a:noFill/>
            <a:prstDash val="solid"/>
          </a:ln>
        </p:spPr>
      </p:sp>
      <p:cxnSp>
        <p:nvCxnSpPr>
          <p:cNvPr id="421" name="exact-schedule-edge1"/>
          <p:cNvCxnSpPr>
            <a:stCxn id="182" idx="3"/>
            <a:endCxn id="183" idx="1"/>
          </p:cNvCxnSpPr>
          <p:nvPr/>
        </p:nvCxnSpPr>
        <p:spPr>
          <a:xfrm>
            <a:off x="13764578" y="3943827"/>
            <a:ext cx="56197" cy="0"/>
          </a:xfrm>
          <a:prstGeom prst="straightConnector1">
            <a:avLst/>
          </a:prstGeom>
          <a:ln w="12383">
            <a:solidFill>
              <a:srgbClr val="62696E"/>
            </a:solidFill>
            <a:prstDash val="solid"/>
            <a:tailEnd type="triangle" w="sm" len="sm"/>
          </a:ln>
        </p:spPr>
      </p:cxnSp>
      <p:sp>
        <p:nvSpPr>
          <p:cNvPr id="185" name="exact-schedule-box2"/>
          <p:cNvSpPr>
            <a:spLocks noGrp="1"/>
          </p:cNvSpPr>
          <p:nvPr/>
        </p:nvSpPr>
        <p:spPr>
          <a:xfrm>
            <a:off x="14306550" y="3810000"/>
            <a:ext cx="361950" cy="266700"/>
          </a:xfrm>
          <a:prstGeom prst="roundRect">
            <a:avLst>
              <a:gd name="adj" fmla="val 3571"/>
            </a:avLst>
          </a:prstGeom>
          <a:solidFill>
            <a:srgbClr val="91B9D3"/>
          </a:solidFill>
          <a:ln w="9525">
            <a:solidFill>
              <a:srgbClr val="2876A4"/>
            </a:solidFill>
            <a:prstDash val="solid"/>
          </a:ln>
        </p:spPr>
      </p:sp>
      <p:sp>
        <p:nvSpPr>
          <p:cNvPr id="186" name="exact-schedule-text2"/>
          <p:cNvSpPr>
            <a:spLocks noGrp="1"/>
          </p:cNvSpPr>
          <p:nvPr/>
        </p:nvSpPr>
        <p:spPr>
          <a:xfrm>
            <a:off x="14306550" y="3810000"/>
            <a:ext cx="361950" cy="266700"/>
          </a:xfrm>
          <a:prstGeom prst="rect">
            <a:avLst/>
          </a:prstGeom>
          <a:noFill/>
          <a:ln w="0">
            <a:noFill/>
            <a:prstDash val="solid"/>
          </a:ln>
        </p:spPr>
        <p:txBody>
          <a:bodyPr wrap="none" lIns="0" tIns="0" rIns="0" bIns="0" anchor="ctr">
            <a:noAutofit/>
          </a:bodyPr>
          <a:lstStyle/>
          <a:p>
            <a:pPr algn="ctr">
              <a:defRPr sz="1725" b="0" i="0">
                <a:solidFill>
                  <a:srgbClr val="202428"/>
                </a:solidFill>
                <a:latin typeface="Times New Roman" panose="02020603050405020304"/>
                <a:ea typeface="Times New Roman" panose="02020603050405020304"/>
                <a:cs typeface="Times New Roman" panose="02020603050405020304"/>
              </a:defRPr>
            </a:pPr>
            <a:r>
              <a:rPr sz="1725" b="0" i="0">
                <a:solidFill>
                  <a:srgbClr val="202428"/>
                </a:solidFill>
                <a:latin typeface="Times New Roman" panose="02020603050405020304"/>
                <a:ea typeface="Times New Roman" panose="02020603050405020304"/>
                <a:cs typeface="Times New Roman" panose="02020603050405020304"/>
              </a:rPr>
              <a:t>R</a:t>
            </a:r>
            <a:endParaRPr sz="1725" b="0" i="0">
              <a:solidFill>
                <a:srgbClr val="202428"/>
              </a:solidFill>
              <a:latin typeface="Times New Roman" panose="02020603050405020304"/>
              <a:ea typeface="Times New Roman" panose="02020603050405020304"/>
              <a:cs typeface="Times New Roman" panose="02020603050405020304"/>
            </a:endParaRPr>
          </a:p>
        </p:txBody>
      </p:sp>
      <p:sp>
        <p:nvSpPr>
          <p:cNvPr id="187" name="exact-schedule-edge2-a"/>
          <p:cNvSpPr>
            <a:spLocks noGrp="1"/>
          </p:cNvSpPr>
          <p:nvPr/>
        </p:nvSpPr>
        <p:spPr>
          <a:xfrm>
            <a:off x="14220825" y="3943350"/>
            <a:ext cx="953" cy="953"/>
          </a:xfrm>
          <a:prstGeom prst="rect">
            <a:avLst/>
          </a:prstGeom>
          <a:noFill/>
          <a:ln w="0">
            <a:noFill/>
            <a:prstDash val="solid"/>
          </a:ln>
        </p:spPr>
      </p:sp>
      <p:sp>
        <p:nvSpPr>
          <p:cNvPr id="188" name="exact-schedule-edge2-b"/>
          <p:cNvSpPr>
            <a:spLocks noGrp="1"/>
          </p:cNvSpPr>
          <p:nvPr/>
        </p:nvSpPr>
        <p:spPr>
          <a:xfrm>
            <a:off x="14277975" y="3943350"/>
            <a:ext cx="953" cy="953"/>
          </a:xfrm>
          <a:prstGeom prst="rect">
            <a:avLst/>
          </a:prstGeom>
          <a:noFill/>
          <a:ln w="0">
            <a:noFill/>
            <a:prstDash val="solid"/>
          </a:ln>
        </p:spPr>
      </p:sp>
      <p:cxnSp>
        <p:nvCxnSpPr>
          <p:cNvPr id="426" name="exact-schedule-edge2"/>
          <p:cNvCxnSpPr>
            <a:stCxn id="187" idx="3"/>
            <a:endCxn id="188" idx="1"/>
          </p:cNvCxnSpPr>
          <p:nvPr/>
        </p:nvCxnSpPr>
        <p:spPr>
          <a:xfrm>
            <a:off x="14221778" y="3943827"/>
            <a:ext cx="56197" cy="0"/>
          </a:xfrm>
          <a:prstGeom prst="straightConnector1">
            <a:avLst/>
          </a:prstGeom>
          <a:ln w="12383">
            <a:solidFill>
              <a:srgbClr val="62696E"/>
            </a:solidFill>
            <a:prstDash val="solid"/>
            <a:tailEnd type="triangle" w="sm" len="sm"/>
          </a:ln>
        </p:spPr>
      </p:cxnSp>
      <p:sp>
        <p:nvSpPr>
          <p:cNvPr id="190" name="exact-schedule-box3"/>
          <p:cNvSpPr>
            <a:spLocks noGrp="1"/>
          </p:cNvSpPr>
          <p:nvPr/>
        </p:nvSpPr>
        <p:spPr>
          <a:xfrm>
            <a:off x="15392400" y="3810000"/>
            <a:ext cx="361950" cy="266700"/>
          </a:xfrm>
          <a:prstGeom prst="roundRect">
            <a:avLst>
              <a:gd name="adj" fmla="val 3571"/>
            </a:avLst>
          </a:prstGeom>
          <a:solidFill>
            <a:srgbClr val="E2CEA0"/>
          </a:solidFill>
          <a:ln w="9525">
            <a:solidFill>
              <a:srgbClr val="B88B34"/>
            </a:solidFill>
            <a:prstDash val="solid"/>
          </a:ln>
        </p:spPr>
      </p:sp>
      <p:sp>
        <p:nvSpPr>
          <p:cNvPr id="191" name="exact-schedule-text3"/>
          <p:cNvSpPr>
            <a:spLocks noGrp="1"/>
          </p:cNvSpPr>
          <p:nvPr/>
        </p:nvSpPr>
        <p:spPr>
          <a:xfrm>
            <a:off x="15392400" y="3810000"/>
            <a:ext cx="361950" cy="266700"/>
          </a:xfrm>
          <a:prstGeom prst="rect">
            <a:avLst/>
          </a:prstGeom>
          <a:noFill/>
          <a:ln w="0">
            <a:noFill/>
            <a:prstDash val="solid"/>
          </a:ln>
        </p:spPr>
        <p:txBody>
          <a:bodyPr wrap="none" lIns="0" tIns="0" rIns="0" bIns="0" anchor="ctr">
            <a:noAutofit/>
          </a:bodyPr>
          <a:lstStyle/>
          <a:p>
            <a:pPr algn="ctr">
              <a:defRPr sz="1725" b="0" i="0">
                <a:solidFill>
                  <a:srgbClr val="202428"/>
                </a:solidFill>
                <a:latin typeface="Times New Roman" panose="02020603050405020304"/>
                <a:ea typeface="Times New Roman" panose="02020603050405020304"/>
                <a:cs typeface="Times New Roman" panose="02020603050405020304"/>
              </a:defRPr>
            </a:pPr>
            <a:r>
              <a:rPr sz="1725" b="0" i="0">
                <a:solidFill>
                  <a:srgbClr val="202428"/>
                </a:solidFill>
                <a:latin typeface="Times New Roman" panose="02020603050405020304"/>
                <a:ea typeface="Times New Roman" panose="02020603050405020304"/>
                <a:cs typeface="Times New Roman" panose="02020603050405020304"/>
              </a:rPr>
              <a:t>F</a:t>
            </a:r>
            <a:endParaRPr sz="1725" b="0" i="0">
              <a:solidFill>
                <a:srgbClr val="202428"/>
              </a:solidFill>
              <a:latin typeface="Times New Roman" panose="02020603050405020304"/>
              <a:ea typeface="Times New Roman" panose="02020603050405020304"/>
              <a:cs typeface="Times New Roman" panose="02020603050405020304"/>
            </a:endParaRPr>
          </a:p>
        </p:txBody>
      </p:sp>
      <p:sp>
        <p:nvSpPr>
          <p:cNvPr id="192" name="exact-schedule-box4"/>
          <p:cNvSpPr>
            <a:spLocks noGrp="1"/>
          </p:cNvSpPr>
          <p:nvPr/>
        </p:nvSpPr>
        <p:spPr>
          <a:xfrm>
            <a:off x="15849600" y="3810000"/>
            <a:ext cx="361950" cy="266700"/>
          </a:xfrm>
          <a:prstGeom prst="roundRect">
            <a:avLst>
              <a:gd name="adj" fmla="val 3571"/>
            </a:avLst>
          </a:prstGeom>
          <a:solidFill>
            <a:srgbClr val="E2CEA0"/>
          </a:solidFill>
          <a:ln w="9525">
            <a:solidFill>
              <a:srgbClr val="B88B34"/>
            </a:solidFill>
            <a:prstDash val="solid"/>
          </a:ln>
        </p:spPr>
      </p:sp>
      <p:sp>
        <p:nvSpPr>
          <p:cNvPr id="193" name="exact-schedule-text4"/>
          <p:cNvSpPr>
            <a:spLocks noGrp="1"/>
          </p:cNvSpPr>
          <p:nvPr/>
        </p:nvSpPr>
        <p:spPr>
          <a:xfrm>
            <a:off x="15849600" y="3810000"/>
            <a:ext cx="361950" cy="266700"/>
          </a:xfrm>
          <a:prstGeom prst="rect">
            <a:avLst/>
          </a:prstGeom>
          <a:noFill/>
          <a:ln w="0">
            <a:noFill/>
            <a:prstDash val="solid"/>
          </a:ln>
        </p:spPr>
        <p:txBody>
          <a:bodyPr wrap="none" lIns="0" tIns="0" rIns="0" bIns="0" anchor="ctr">
            <a:noAutofit/>
          </a:bodyPr>
          <a:lstStyle/>
          <a:p>
            <a:pPr algn="ctr">
              <a:defRPr sz="1725" b="0" i="0">
                <a:solidFill>
                  <a:srgbClr val="202428"/>
                </a:solidFill>
                <a:latin typeface="Times New Roman" panose="02020603050405020304"/>
                <a:ea typeface="Times New Roman" panose="02020603050405020304"/>
                <a:cs typeface="Times New Roman" panose="02020603050405020304"/>
              </a:defRPr>
            </a:pPr>
            <a:r>
              <a:rPr sz="1725" b="0" i="0">
                <a:solidFill>
                  <a:srgbClr val="202428"/>
                </a:solidFill>
                <a:latin typeface="Times New Roman" panose="02020603050405020304"/>
                <a:ea typeface="Times New Roman" panose="02020603050405020304"/>
                <a:cs typeface="Times New Roman" panose="02020603050405020304"/>
              </a:rPr>
              <a:t>F</a:t>
            </a:r>
            <a:endParaRPr sz="1725" b="0" i="0">
              <a:solidFill>
                <a:srgbClr val="202428"/>
              </a:solidFill>
              <a:latin typeface="Times New Roman" panose="02020603050405020304"/>
              <a:ea typeface="Times New Roman" panose="02020603050405020304"/>
              <a:cs typeface="Times New Roman" panose="02020603050405020304"/>
            </a:endParaRPr>
          </a:p>
        </p:txBody>
      </p:sp>
      <p:sp>
        <p:nvSpPr>
          <p:cNvPr id="194" name="exact-schedule-edge4-a"/>
          <p:cNvSpPr>
            <a:spLocks noGrp="1"/>
          </p:cNvSpPr>
          <p:nvPr/>
        </p:nvSpPr>
        <p:spPr>
          <a:xfrm>
            <a:off x="15763875" y="3943350"/>
            <a:ext cx="953" cy="953"/>
          </a:xfrm>
          <a:prstGeom prst="rect">
            <a:avLst/>
          </a:prstGeom>
          <a:noFill/>
          <a:ln w="0">
            <a:noFill/>
            <a:prstDash val="solid"/>
          </a:ln>
        </p:spPr>
      </p:sp>
      <p:sp>
        <p:nvSpPr>
          <p:cNvPr id="195" name="exact-schedule-edge4-b"/>
          <p:cNvSpPr>
            <a:spLocks noGrp="1"/>
          </p:cNvSpPr>
          <p:nvPr/>
        </p:nvSpPr>
        <p:spPr>
          <a:xfrm>
            <a:off x="15821025" y="3943350"/>
            <a:ext cx="953" cy="953"/>
          </a:xfrm>
          <a:prstGeom prst="rect">
            <a:avLst/>
          </a:prstGeom>
          <a:noFill/>
          <a:ln w="0">
            <a:noFill/>
            <a:prstDash val="solid"/>
          </a:ln>
        </p:spPr>
      </p:sp>
      <p:cxnSp>
        <p:nvCxnSpPr>
          <p:cNvPr id="433" name="exact-schedule-edge4"/>
          <p:cNvCxnSpPr>
            <a:stCxn id="194" idx="3"/>
            <a:endCxn id="195" idx="1"/>
          </p:cNvCxnSpPr>
          <p:nvPr/>
        </p:nvCxnSpPr>
        <p:spPr>
          <a:xfrm>
            <a:off x="15764828" y="3943827"/>
            <a:ext cx="56197" cy="0"/>
          </a:xfrm>
          <a:prstGeom prst="straightConnector1">
            <a:avLst/>
          </a:prstGeom>
          <a:ln w="12383">
            <a:solidFill>
              <a:srgbClr val="62696E"/>
            </a:solidFill>
            <a:prstDash val="solid"/>
            <a:tailEnd type="triangle" w="sm" len="sm"/>
          </a:ln>
        </p:spPr>
      </p:cxnSp>
      <p:sp>
        <p:nvSpPr>
          <p:cNvPr id="197" name="exact-schedule-ellipsis-in-a"/>
          <p:cNvSpPr>
            <a:spLocks noGrp="1"/>
          </p:cNvSpPr>
          <p:nvPr/>
        </p:nvSpPr>
        <p:spPr>
          <a:xfrm>
            <a:off x="14687550" y="3943350"/>
            <a:ext cx="953" cy="953"/>
          </a:xfrm>
          <a:prstGeom prst="rect">
            <a:avLst/>
          </a:prstGeom>
          <a:noFill/>
          <a:ln w="0">
            <a:noFill/>
            <a:prstDash val="solid"/>
          </a:ln>
        </p:spPr>
      </p:sp>
      <p:sp>
        <p:nvSpPr>
          <p:cNvPr id="198" name="exact-schedule-ellipsis-in-b"/>
          <p:cNvSpPr>
            <a:spLocks noGrp="1"/>
          </p:cNvSpPr>
          <p:nvPr/>
        </p:nvSpPr>
        <p:spPr>
          <a:xfrm>
            <a:off x="14878050" y="3943350"/>
            <a:ext cx="953" cy="953"/>
          </a:xfrm>
          <a:prstGeom prst="rect">
            <a:avLst/>
          </a:prstGeom>
          <a:noFill/>
          <a:ln w="0">
            <a:noFill/>
            <a:prstDash val="solid"/>
          </a:ln>
        </p:spPr>
      </p:sp>
      <p:cxnSp>
        <p:nvCxnSpPr>
          <p:cNvPr id="436" name="exact-schedule-ellipsis-in"/>
          <p:cNvCxnSpPr>
            <a:stCxn id="197" idx="3"/>
            <a:endCxn id="198" idx="1"/>
          </p:cNvCxnSpPr>
          <p:nvPr/>
        </p:nvCxnSpPr>
        <p:spPr>
          <a:xfrm>
            <a:off x="14688503" y="3943827"/>
            <a:ext cx="189547" cy="0"/>
          </a:xfrm>
          <a:prstGeom prst="straightConnector1">
            <a:avLst/>
          </a:prstGeom>
          <a:ln w="12383">
            <a:solidFill>
              <a:srgbClr val="62696E"/>
            </a:solidFill>
            <a:prstDash val="solid"/>
            <a:tailEnd type="triangle" w="sm" len="sm"/>
          </a:ln>
        </p:spPr>
      </p:cxnSp>
      <p:sp>
        <p:nvSpPr>
          <p:cNvPr id="200" name="exact-schedule-ellipsis"/>
          <p:cNvSpPr>
            <a:spLocks noGrp="1"/>
          </p:cNvSpPr>
          <p:nvPr/>
        </p:nvSpPr>
        <p:spPr>
          <a:xfrm>
            <a:off x="14916150" y="3800475"/>
            <a:ext cx="285750" cy="266700"/>
          </a:xfrm>
          <a:prstGeom prst="rect">
            <a:avLst/>
          </a:prstGeom>
          <a:noFill/>
          <a:ln w="0">
            <a:noFill/>
            <a:prstDash val="solid"/>
          </a:ln>
        </p:spPr>
        <p:txBody>
          <a:bodyPr wrap="none" lIns="0" tIns="0" rIns="0" bIns="0" anchor="ctr">
            <a:noAutofit/>
          </a:bodyPr>
          <a:lstStyle/>
          <a:p>
            <a:pPr algn="ctr">
              <a:defRPr sz="1725" b="0" i="0">
                <a:solidFill>
                  <a:srgbClr val="62696E"/>
                </a:solidFill>
                <a:latin typeface="Times New Roman" panose="02020603050405020304"/>
                <a:ea typeface="Times New Roman" panose="02020603050405020304"/>
                <a:cs typeface="Times New Roman" panose="02020603050405020304"/>
              </a:defRPr>
            </a:pPr>
            <a:r>
              <a:rPr sz="1725" b="0" i="0">
                <a:solidFill>
                  <a:srgbClr val="62696E"/>
                </a:solidFill>
                <a:latin typeface="Times New Roman" panose="02020603050405020304"/>
                <a:ea typeface="Times New Roman" panose="02020603050405020304"/>
                <a:cs typeface="Times New Roman" panose="02020603050405020304"/>
              </a:rPr>
              <a:t>…</a:t>
            </a:r>
            <a:endParaRPr sz="1725" b="0" i="0">
              <a:solidFill>
                <a:srgbClr val="62696E"/>
              </a:solidFill>
              <a:latin typeface="Times New Roman" panose="02020603050405020304"/>
              <a:ea typeface="Times New Roman" panose="02020603050405020304"/>
              <a:cs typeface="Times New Roman" panose="02020603050405020304"/>
            </a:endParaRPr>
          </a:p>
        </p:txBody>
      </p:sp>
      <p:sp>
        <p:nvSpPr>
          <p:cNvPr id="201" name="exact-schedule-ellipsis-out-a"/>
          <p:cNvSpPr>
            <a:spLocks noGrp="1"/>
          </p:cNvSpPr>
          <p:nvPr/>
        </p:nvSpPr>
        <p:spPr>
          <a:xfrm>
            <a:off x="15211425" y="3943350"/>
            <a:ext cx="953" cy="953"/>
          </a:xfrm>
          <a:prstGeom prst="rect">
            <a:avLst/>
          </a:prstGeom>
          <a:noFill/>
          <a:ln w="0">
            <a:noFill/>
            <a:prstDash val="solid"/>
          </a:ln>
        </p:spPr>
      </p:sp>
      <p:sp>
        <p:nvSpPr>
          <p:cNvPr id="202" name="exact-schedule-ellipsis-out-b"/>
          <p:cNvSpPr>
            <a:spLocks noGrp="1"/>
          </p:cNvSpPr>
          <p:nvPr/>
        </p:nvSpPr>
        <p:spPr>
          <a:xfrm>
            <a:off x="15363825" y="3943350"/>
            <a:ext cx="953" cy="953"/>
          </a:xfrm>
          <a:prstGeom prst="rect">
            <a:avLst/>
          </a:prstGeom>
          <a:noFill/>
          <a:ln w="0">
            <a:noFill/>
            <a:prstDash val="solid"/>
          </a:ln>
        </p:spPr>
      </p:sp>
      <p:cxnSp>
        <p:nvCxnSpPr>
          <p:cNvPr id="440" name="exact-schedule-ellipsis-out"/>
          <p:cNvCxnSpPr>
            <a:stCxn id="201" idx="3"/>
            <a:endCxn id="202" idx="1"/>
          </p:cNvCxnSpPr>
          <p:nvPr/>
        </p:nvCxnSpPr>
        <p:spPr>
          <a:xfrm>
            <a:off x="15212378" y="3943827"/>
            <a:ext cx="151447" cy="0"/>
          </a:xfrm>
          <a:prstGeom prst="straightConnector1">
            <a:avLst/>
          </a:prstGeom>
          <a:ln w="12383">
            <a:solidFill>
              <a:srgbClr val="62696E"/>
            </a:solidFill>
            <a:prstDash val="solid"/>
            <a:tailEnd type="triangle" w="sm" len="sm"/>
          </a:ln>
        </p:spPr>
      </p:cxnSp>
      <p:sp>
        <p:nvSpPr>
          <p:cNvPr id="204" name="exact-cycle"/>
          <p:cNvSpPr>
            <a:spLocks noGrp="1"/>
          </p:cNvSpPr>
          <p:nvPr/>
        </p:nvSpPr>
        <p:spPr>
          <a:xfrm>
            <a:off x="15268575" y="3609975"/>
            <a:ext cx="1171575" cy="190500"/>
          </a:xfrm>
          <a:prstGeom prst="rect">
            <a:avLst/>
          </a:prstGeom>
          <a:noFill/>
          <a:ln w="0">
            <a:noFill/>
            <a:prstDash val="solid"/>
          </a:ln>
        </p:spPr>
        <p:txBody>
          <a:bodyPr wrap="none" lIns="0" tIns="0" rIns="0" bIns="0" anchor="ctr">
            <a:noAutofit/>
          </a:bodyPr>
          <a:lstStyle/>
          <a:p>
            <a:pPr algn="ctr">
              <a:defRPr sz="1350" b="0" i="1">
                <a:solidFill>
                  <a:srgbClr val="B88B34"/>
                </a:solidFill>
                <a:latin typeface="Times New Roman" panose="02020603050405020304"/>
                <a:ea typeface="Times New Roman" panose="02020603050405020304"/>
                <a:cs typeface="Times New Roman" panose="02020603050405020304"/>
              </a:defRPr>
            </a:pPr>
            <a:r>
              <a:rPr sz="1200" b="0" i="1">
                <a:solidFill>
                  <a:srgbClr val="B88B34"/>
                </a:solidFill>
                <a:latin typeface="Times New Roman" panose="02020603050405020304"/>
                <a:ea typeface="Times New Roman" panose="02020603050405020304"/>
                <a:cs typeface="Times New Roman" panose="02020603050405020304"/>
              </a:rPr>
              <a:t>next DLS cycle</a:t>
            </a:r>
            <a:endParaRPr sz="1200" b="0" i="1">
              <a:solidFill>
                <a:srgbClr val="B88B34"/>
              </a:solidFill>
              <a:latin typeface="Times New Roman" panose="02020603050405020304"/>
              <a:ea typeface="Times New Roman" panose="02020603050405020304"/>
              <a:cs typeface="Times New Roman" panose="02020603050405020304"/>
            </a:endParaRPr>
          </a:p>
        </p:txBody>
      </p:sp>
      <p:sp>
        <p:nvSpPr>
          <p:cNvPr id="205" name="stable-policy"/>
          <p:cNvSpPr>
            <a:spLocks noGrp="1"/>
          </p:cNvSpPr>
          <p:nvPr/>
        </p:nvSpPr>
        <p:spPr>
          <a:xfrm>
            <a:off x="11229975" y="4371975"/>
            <a:ext cx="2124075" cy="276225"/>
          </a:xfrm>
          <a:prstGeom prst="rect">
            <a:avLst/>
          </a:prstGeom>
          <a:noFill/>
          <a:ln w="0">
            <a:noFill/>
            <a:prstDash val="solid"/>
          </a:ln>
        </p:spPr>
        <p:txBody>
          <a:bodyPr wrap="none" lIns="0" tIns="0" rIns="0" bIns="0" anchor="ctr">
            <a:noAutofit/>
          </a:bodyPr>
          <a:lstStyle/>
          <a:p>
            <a:pPr algn="l">
              <a:defRPr sz="1875" b="0" i="0">
                <a:solidFill>
                  <a:srgbClr val="202428"/>
                </a:solidFill>
                <a:latin typeface="Times New Roman" panose="02020603050405020304"/>
                <a:ea typeface="Times New Roman" panose="02020603050405020304"/>
                <a:cs typeface="Times New Roman" panose="02020603050405020304"/>
              </a:defRPr>
            </a:pPr>
            <a:r>
              <a:rPr sz="1875" b="0" i="0">
                <a:solidFill>
                  <a:srgbClr val="202428"/>
                </a:solidFill>
                <a:latin typeface="Times New Roman" panose="02020603050405020304"/>
                <a:ea typeface="Times New Roman" panose="02020603050405020304"/>
                <a:cs typeface="Times New Roman" panose="02020603050405020304"/>
              </a:rPr>
              <a:t>Stable-Graph KV</a:t>
            </a:r>
            <a:endParaRPr sz="1875" b="0" i="0">
              <a:solidFill>
                <a:srgbClr val="202428"/>
              </a:solidFill>
              <a:latin typeface="Times New Roman" panose="02020603050405020304"/>
              <a:ea typeface="Times New Roman" panose="02020603050405020304"/>
              <a:cs typeface="Times New Roman" panose="02020603050405020304"/>
            </a:endParaRPr>
          </a:p>
        </p:txBody>
      </p:sp>
      <p:sp>
        <p:nvSpPr>
          <p:cNvPr id="206" name="stable-property"/>
          <p:cNvSpPr>
            <a:spLocks noGrp="1"/>
          </p:cNvSpPr>
          <p:nvPr/>
        </p:nvSpPr>
        <p:spPr>
          <a:xfrm>
            <a:off x="11229975" y="4777105"/>
            <a:ext cx="5114925" cy="219075"/>
          </a:xfrm>
          <a:prstGeom prst="rect">
            <a:avLst/>
          </a:prstGeom>
          <a:noFill/>
          <a:ln w="0">
            <a:noFill/>
            <a:prstDash val="solid"/>
          </a:ln>
        </p:spPr>
        <p:txBody>
          <a:bodyPr wrap="none" lIns="0" tIns="0" rIns="0" bIns="0" anchor="ctr">
            <a:noAutofit/>
          </a:bodyPr>
          <a:lstStyle/>
          <a:p>
            <a:pPr algn="l">
              <a:defRPr sz="1575" b="0" i="1">
                <a:solidFill>
                  <a:srgbClr val="62696E"/>
                </a:solidFill>
                <a:latin typeface="Times New Roman" panose="02020603050405020304"/>
                <a:ea typeface="Times New Roman" panose="02020603050405020304"/>
                <a:cs typeface="Times New Roman" panose="02020603050405020304"/>
              </a:defRPr>
            </a:pPr>
            <a:r>
              <a:rPr sz="1575" b="0" i="1">
                <a:solidFill>
                  <a:srgbClr val="62696E"/>
                </a:solidFill>
                <a:latin typeface="Times New Roman" panose="02020603050405020304"/>
                <a:ea typeface="Times New Roman" panose="02020603050405020304"/>
                <a:cs typeface="Times New Roman" panose="02020603050405020304"/>
              </a:rPr>
              <a:t>DLS off, fixed pruning retained, outputs may differ</a:t>
            </a:r>
            <a:endParaRPr sz="1575" b="0" i="1">
              <a:solidFill>
                <a:srgbClr val="62696E"/>
              </a:solidFill>
              <a:latin typeface="Times New Roman" panose="02020603050405020304"/>
              <a:ea typeface="Times New Roman" panose="02020603050405020304"/>
              <a:cs typeface="Times New Roman" panose="02020603050405020304"/>
            </a:endParaRPr>
          </a:p>
        </p:txBody>
      </p:sp>
      <p:sp>
        <p:nvSpPr>
          <p:cNvPr id="207" name="stable-schedule-box0"/>
          <p:cNvSpPr>
            <a:spLocks noGrp="1"/>
          </p:cNvSpPr>
          <p:nvPr/>
        </p:nvSpPr>
        <p:spPr>
          <a:xfrm>
            <a:off x="13392150" y="4400550"/>
            <a:ext cx="361950" cy="266700"/>
          </a:xfrm>
          <a:prstGeom prst="roundRect">
            <a:avLst>
              <a:gd name="adj" fmla="val 3571"/>
            </a:avLst>
          </a:prstGeom>
          <a:solidFill>
            <a:srgbClr val="E2CEA0"/>
          </a:solidFill>
          <a:ln w="9525">
            <a:solidFill>
              <a:srgbClr val="B88B34"/>
            </a:solidFill>
            <a:prstDash val="solid"/>
          </a:ln>
        </p:spPr>
      </p:sp>
      <p:sp>
        <p:nvSpPr>
          <p:cNvPr id="208" name="stable-schedule-text0"/>
          <p:cNvSpPr>
            <a:spLocks noGrp="1"/>
          </p:cNvSpPr>
          <p:nvPr/>
        </p:nvSpPr>
        <p:spPr>
          <a:xfrm>
            <a:off x="13392150" y="4400550"/>
            <a:ext cx="361950" cy="266700"/>
          </a:xfrm>
          <a:prstGeom prst="rect">
            <a:avLst/>
          </a:prstGeom>
          <a:noFill/>
          <a:ln w="0">
            <a:noFill/>
            <a:prstDash val="solid"/>
          </a:ln>
        </p:spPr>
        <p:txBody>
          <a:bodyPr wrap="none" lIns="0" tIns="0" rIns="0" bIns="0" anchor="ctr">
            <a:noAutofit/>
          </a:bodyPr>
          <a:lstStyle/>
          <a:p>
            <a:pPr algn="ctr">
              <a:defRPr sz="1725" b="0" i="0">
                <a:solidFill>
                  <a:srgbClr val="202428"/>
                </a:solidFill>
                <a:latin typeface="Times New Roman" panose="02020603050405020304"/>
                <a:ea typeface="Times New Roman" panose="02020603050405020304"/>
                <a:cs typeface="Times New Roman" panose="02020603050405020304"/>
              </a:defRPr>
            </a:pPr>
            <a:r>
              <a:rPr sz="1725" b="0" i="0">
                <a:solidFill>
                  <a:srgbClr val="202428"/>
                </a:solidFill>
                <a:latin typeface="Times New Roman" panose="02020603050405020304"/>
                <a:ea typeface="Times New Roman" panose="02020603050405020304"/>
                <a:cs typeface="Times New Roman" panose="02020603050405020304"/>
              </a:rPr>
              <a:t>F</a:t>
            </a:r>
            <a:endParaRPr sz="1725" b="0" i="0">
              <a:solidFill>
                <a:srgbClr val="202428"/>
              </a:solidFill>
              <a:latin typeface="Times New Roman" panose="02020603050405020304"/>
              <a:ea typeface="Times New Roman" panose="02020603050405020304"/>
              <a:cs typeface="Times New Roman" panose="02020603050405020304"/>
            </a:endParaRPr>
          </a:p>
        </p:txBody>
      </p:sp>
      <p:sp>
        <p:nvSpPr>
          <p:cNvPr id="209" name="stable-schedule-box1"/>
          <p:cNvSpPr>
            <a:spLocks noGrp="1"/>
          </p:cNvSpPr>
          <p:nvPr/>
        </p:nvSpPr>
        <p:spPr>
          <a:xfrm>
            <a:off x="13849350" y="4400550"/>
            <a:ext cx="361950" cy="266700"/>
          </a:xfrm>
          <a:prstGeom prst="roundRect">
            <a:avLst>
              <a:gd name="adj" fmla="val 3571"/>
            </a:avLst>
          </a:prstGeom>
          <a:solidFill>
            <a:srgbClr val="91B9D3"/>
          </a:solidFill>
          <a:ln w="9525">
            <a:solidFill>
              <a:srgbClr val="2876A4"/>
            </a:solidFill>
            <a:prstDash val="solid"/>
          </a:ln>
        </p:spPr>
      </p:sp>
      <p:sp>
        <p:nvSpPr>
          <p:cNvPr id="210" name="stable-schedule-text1"/>
          <p:cNvSpPr>
            <a:spLocks noGrp="1"/>
          </p:cNvSpPr>
          <p:nvPr/>
        </p:nvSpPr>
        <p:spPr>
          <a:xfrm>
            <a:off x="13849350" y="4400550"/>
            <a:ext cx="361950" cy="266700"/>
          </a:xfrm>
          <a:prstGeom prst="rect">
            <a:avLst/>
          </a:prstGeom>
          <a:noFill/>
          <a:ln w="0">
            <a:noFill/>
            <a:prstDash val="solid"/>
          </a:ln>
        </p:spPr>
        <p:txBody>
          <a:bodyPr wrap="none" lIns="0" tIns="0" rIns="0" bIns="0" anchor="ctr">
            <a:noAutofit/>
          </a:bodyPr>
          <a:lstStyle/>
          <a:p>
            <a:pPr algn="ctr">
              <a:defRPr sz="1725" b="0" i="0">
                <a:solidFill>
                  <a:srgbClr val="202428"/>
                </a:solidFill>
                <a:latin typeface="Times New Roman" panose="02020603050405020304"/>
                <a:ea typeface="Times New Roman" panose="02020603050405020304"/>
                <a:cs typeface="Times New Roman" panose="02020603050405020304"/>
              </a:defRPr>
            </a:pPr>
            <a:r>
              <a:rPr sz="1725" b="0" i="0">
                <a:solidFill>
                  <a:srgbClr val="202428"/>
                </a:solidFill>
                <a:latin typeface="Times New Roman" panose="02020603050405020304"/>
                <a:ea typeface="Times New Roman" panose="02020603050405020304"/>
                <a:cs typeface="Times New Roman" panose="02020603050405020304"/>
              </a:rPr>
              <a:t>R</a:t>
            </a:r>
            <a:endParaRPr sz="1725" b="0" i="0">
              <a:solidFill>
                <a:srgbClr val="202428"/>
              </a:solidFill>
              <a:latin typeface="Times New Roman" panose="02020603050405020304"/>
              <a:ea typeface="Times New Roman" panose="02020603050405020304"/>
              <a:cs typeface="Times New Roman" panose="02020603050405020304"/>
            </a:endParaRPr>
          </a:p>
        </p:txBody>
      </p:sp>
      <p:sp>
        <p:nvSpPr>
          <p:cNvPr id="211" name="stable-schedule-edge1-a"/>
          <p:cNvSpPr>
            <a:spLocks noGrp="1"/>
          </p:cNvSpPr>
          <p:nvPr/>
        </p:nvSpPr>
        <p:spPr>
          <a:xfrm>
            <a:off x="13763625" y="4533900"/>
            <a:ext cx="953" cy="953"/>
          </a:xfrm>
          <a:prstGeom prst="rect">
            <a:avLst/>
          </a:prstGeom>
          <a:noFill/>
          <a:ln w="0">
            <a:noFill/>
            <a:prstDash val="solid"/>
          </a:ln>
        </p:spPr>
      </p:sp>
      <p:sp>
        <p:nvSpPr>
          <p:cNvPr id="212" name="stable-schedule-edge1-b"/>
          <p:cNvSpPr>
            <a:spLocks noGrp="1"/>
          </p:cNvSpPr>
          <p:nvPr/>
        </p:nvSpPr>
        <p:spPr>
          <a:xfrm>
            <a:off x="13820775" y="4533900"/>
            <a:ext cx="953" cy="953"/>
          </a:xfrm>
          <a:prstGeom prst="rect">
            <a:avLst/>
          </a:prstGeom>
          <a:noFill/>
          <a:ln w="0">
            <a:noFill/>
            <a:prstDash val="solid"/>
          </a:ln>
        </p:spPr>
      </p:sp>
      <p:cxnSp>
        <p:nvCxnSpPr>
          <p:cNvPr id="450" name="stable-schedule-edge1"/>
          <p:cNvCxnSpPr>
            <a:stCxn id="211" idx="3"/>
            <a:endCxn id="212" idx="1"/>
          </p:cNvCxnSpPr>
          <p:nvPr/>
        </p:nvCxnSpPr>
        <p:spPr>
          <a:xfrm>
            <a:off x="13764578" y="4534377"/>
            <a:ext cx="56197" cy="0"/>
          </a:xfrm>
          <a:prstGeom prst="straightConnector1">
            <a:avLst/>
          </a:prstGeom>
          <a:ln w="12383">
            <a:solidFill>
              <a:srgbClr val="62696E"/>
            </a:solidFill>
            <a:prstDash val="solid"/>
            <a:tailEnd type="triangle" w="sm" len="sm"/>
          </a:ln>
        </p:spPr>
      </p:cxnSp>
      <p:sp>
        <p:nvSpPr>
          <p:cNvPr id="214" name="stable-schedule-box2"/>
          <p:cNvSpPr>
            <a:spLocks noGrp="1"/>
          </p:cNvSpPr>
          <p:nvPr/>
        </p:nvSpPr>
        <p:spPr>
          <a:xfrm>
            <a:off x="14306550" y="4400550"/>
            <a:ext cx="361950" cy="266700"/>
          </a:xfrm>
          <a:prstGeom prst="roundRect">
            <a:avLst>
              <a:gd name="adj" fmla="val 3571"/>
            </a:avLst>
          </a:prstGeom>
          <a:solidFill>
            <a:srgbClr val="91B9D3"/>
          </a:solidFill>
          <a:ln w="9525">
            <a:solidFill>
              <a:srgbClr val="2876A4"/>
            </a:solidFill>
            <a:prstDash val="solid"/>
          </a:ln>
        </p:spPr>
      </p:sp>
      <p:sp>
        <p:nvSpPr>
          <p:cNvPr id="215" name="stable-schedule-text2"/>
          <p:cNvSpPr>
            <a:spLocks noGrp="1"/>
          </p:cNvSpPr>
          <p:nvPr/>
        </p:nvSpPr>
        <p:spPr>
          <a:xfrm>
            <a:off x="14306550" y="4400550"/>
            <a:ext cx="361950" cy="266700"/>
          </a:xfrm>
          <a:prstGeom prst="rect">
            <a:avLst/>
          </a:prstGeom>
          <a:noFill/>
          <a:ln w="0">
            <a:noFill/>
            <a:prstDash val="solid"/>
          </a:ln>
        </p:spPr>
        <p:txBody>
          <a:bodyPr wrap="none" lIns="0" tIns="0" rIns="0" bIns="0" anchor="ctr">
            <a:noAutofit/>
          </a:bodyPr>
          <a:lstStyle/>
          <a:p>
            <a:pPr algn="ctr">
              <a:defRPr sz="1725" b="0" i="0">
                <a:solidFill>
                  <a:srgbClr val="202428"/>
                </a:solidFill>
                <a:latin typeface="Times New Roman" panose="02020603050405020304"/>
                <a:ea typeface="Times New Roman" panose="02020603050405020304"/>
                <a:cs typeface="Times New Roman" panose="02020603050405020304"/>
              </a:defRPr>
            </a:pPr>
            <a:r>
              <a:rPr sz="1725" b="0" i="0">
                <a:solidFill>
                  <a:srgbClr val="202428"/>
                </a:solidFill>
                <a:latin typeface="Times New Roman" panose="02020603050405020304"/>
                <a:ea typeface="Times New Roman" panose="02020603050405020304"/>
                <a:cs typeface="Times New Roman" panose="02020603050405020304"/>
              </a:rPr>
              <a:t>R</a:t>
            </a:r>
            <a:endParaRPr sz="1725" b="0" i="0">
              <a:solidFill>
                <a:srgbClr val="202428"/>
              </a:solidFill>
              <a:latin typeface="Times New Roman" panose="02020603050405020304"/>
              <a:ea typeface="Times New Roman" panose="02020603050405020304"/>
              <a:cs typeface="Times New Roman" panose="02020603050405020304"/>
            </a:endParaRPr>
          </a:p>
        </p:txBody>
      </p:sp>
      <p:sp>
        <p:nvSpPr>
          <p:cNvPr id="216" name="stable-schedule-edge2-a"/>
          <p:cNvSpPr>
            <a:spLocks noGrp="1"/>
          </p:cNvSpPr>
          <p:nvPr/>
        </p:nvSpPr>
        <p:spPr>
          <a:xfrm>
            <a:off x="14220825" y="4533900"/>
            <a:ext cx="953" cy="953"/>
          </a:xfrm>
          <a:prstGeom prst="rect">
            <a:avLst/>
          </a:prstGeom>
          <a:noFill/>
          <a:ln w="0">
            <a:noFill/>
            <a:prstDash val="solid"/>
          </a:ln>
        </p:spPr>
      </p:sp>
      <p:sp>
        <p:nvSpPr>
          <p:cNvPr id="217" name="stable-schedule-edge2-b"/>
          <p:cNvSpPr>
            <a:spLocks noGrp="1"/>
          </p:cNvSpPr>
          <p:nvPr/>
        </p:nvSpPr>
        <p:spPr>
          <a:xfrm>
            <a:off x="14277975" y="4533900"/>
            <a:ext cx="953" cy="953"/>
          </a:xfrm>
          <a:prstGeom prst="rect">
            <a:avLst/>
          </a:prstGeom>
          <a:noFill/>
          <a:ln w="0">
            <a:noFill/>
            <a:prstDash val="solid"/>
          </a:ln>
        </p:spPr>
      </p:sp>
      <p:cxnSp>
        <p:nvCxnSpPr>
          <p:cNvPr id="455" name="stable-schedule-edge2"/>
          <p:cNvCxnSpPr>
            <a:stCxn id="216" idx="3"/>
            <a:endCxn id="217" idx="1"/>
          </p:cNvCxnSpPr>
          <p:nvPr/>
        </p:nvCxnSpPr>
        <p:spPr>
          <a:xfrm>
            <a:off x="14221778" y="4534377"/>
            <a:ext cx="56197" cy="0"/>
          </a:xfrm>
          <a:prstGeom prst="straightConnector1">
            <a:avLst/>
          </a:prstGeom>
          <a:ln w="12383">
            <a:solidFill>
              <a:srgbClr val="62696E"/>
            </a:solidFill>
            <a:prstDash val="solid"/>
            <a:tailEnd type="triangle" w="sm" len="sm"/>
          </a:ln>
        </p:spPr>
      </p:cxnSp>
      <p:sp>
        <p:nvSpPr>
          <p:cNvPr id="219" name="stable-schedule-box3"/>
          <p:cNvSpPr>
            <a:spLocks noGrp="1"/>
          </p:cNvSpPr>
          <p:nvPr/>
        </p:nvSpPr>
        <p:spPr>
          <a:xfrm>
            <a:off x="15392400" y="4400550"/>
            <a:ext cx="361950" cy="266700"/>
          </a:xfrm>
          <a:prstGeom prst="roundRect">
            <a:avLst>
              <a:gd name="adj" fmla="val 3571"/>
            </a:avLst>
          </a:prstGeom>
          <a:solidFill>
            <a:srgbClr val="91B9D3"/>
          </a:solidFill>
          <a:ln w="9525">
            <a:solidFill>
              <a:srgbClr val="2876A4"/>
            </a:solidFill>
            <a:prstDash val="solid"/>
          </a:ln>
        </p:spPr>
      </p:sp>
      <p:sp>
        <p:nvSpPr>
          <p:cNvPr id="220" name="stable-schedule-text3"/>
          <p:cNvSpPr>
            <a:spLocks noGrp="1"/>
          </p:cNvSpPr>
          <p:nvPr/>
        </p:nvSpPr>
        <p:spPr>
          <a:xfrm>
            <a:off x="15392400" y="4400550"/>
            <a:ext cx="361950" cy="266700"/>
          </a:xfrm>
          <a:prstGeom prst="rect">
            <a:avLst/>
          </a:prstGeom>
          <a:noFill/>
          <a:ln w="0">
            <a:noFill/>
            <a:prstDash val="solid"/>
          </a:ln>
        </p:spPr>
        <p:txBody>
          <a:bodyPr wrap="none" lIns="0" tIns="0" rIns="0" bIns="0" anchor="ctr">
            <a:noAutofit/>
          </a:bodyPr>
          <a:lstStyle/>
          <a:p>
            <a:pPr algn="ctr">
              <a:defRPr sz="1725" b="0" i="0">
                <a:solidFill>
                  <a:srgbClr val="202428"/>
                </a:solidFill>
                <a:latin typeface="Times New Roman" panose="02020603050405020304"/>
                <a:ea typeface="Times New Roman" panose="02020603050405020304"/>
                <a:cs typeface="Times New Roman" panose="02020603050405020304"/>
              </a:defRPr>
            </a:pPr>
            <a:r>
              <a:rPr sz="1725" b="0" i="0">
                <a:solidFill>
                  <a:srgbClr val="202428"/>
                </a:solidFill>
                <a:latin typeface="Times New Roman" panose="02020603050405020304"/>
                <a:ea typeface="Times New Roman" panose="02020603050405020304"/>
                <a:cs typeface="Times New Roman" panose="02020603050405020304"/>
              </a:rPr>
              <a:t>R</a:t>
            </a:r>
            <a:endParaRPr sz="1725" b="0" i="0">
              <a:solidFill>
                <a:srgbClr val="202428"/>
              </a:solidFill>
              <a:latin typeface="Times New Roman" panose="02020603050405020304"/>
              <a:ea typeface="Times New Roman" panose="02020603050405020304"/>
              <a:cs typeface="Times New Roman" panose="02020603050405020304"/>
            </a:endParaRPr>
          </a:p>
        </p:txBody>
      </p:sp>
      <p:sp>
        <p:nvSpPr>
          <p:cNvPr id="221" name="stable-schedule-box4"/>
          <p:cNvSpPr>
            <a:spLocks noGrp="1"/>
          </p:cNvSpPr>
          <p:nvPr/>
        </p:nvSpPr>
        <p:spPr>
          <a:xfrm>
            <a:off x="15849600" y="4400550"/>
            <a:ext cx="361950" cy="266700"/>
          </a:xfrm>
          <a:prstGeom prst="roundRect">
            <a:avLst>
              <a:gd name="adj" fmla="val 3571"/>
            </a:avLst>
          </a:prstGeom>
          <a:solidFill>
            <a:srgbClr val="91B9D3"/>
          </a:solidFill>
          <a:ln w="9525">
            <a:solidFill>
              <a:srgbClr val="2876A4"/>
            </a:solidFill>
            <a:prstDash val="solid"/>
          </a:ln>
        </p:spPr>
      </p:sp>
      <p:sp>
        <p:nvSpPr>
          <p:cNvPr id="222" name="stable-schedule-text4"/>
          <p:cNvSpPr>
            <a:spLocks noGrp="1"/>
          </p:cNvSpPr>
          <p:nvPr/>
        </p:nvSpPr>
        <p:spPr>
          <a:xfrm>
            <a:off x="15849600" y="4400550"/>
            <a:ext cx="361950" cy="266700"/>
          </a:xfrm>
          <a:prstGeom prst="rect">
            <a:avLst/>
          </a:prstGeom>
          <a:noFill/>
          <a:ln w="0">
            <a:noFill/>
            <a:prstDash val="solid"/>
          </a:ln>
        </p:spPr>
        <p:txBody>
          <a:bodyPr wrap="none" lIns="0" tIns="0" rIns="0" bIns="0" anchor="ctr">
            <a:noAutofit/>
          </a:bodyPr>
          <a:lstStyle/>
          <a:p>
            <a:pPr algn="ctr">
              <a:defRPr sz="1725" b="0" i="0">
                <a:solidFill>
                  <a:srgbClr val="202428"/>
                </a:solidFill>
                <a:latin typeface="Times New Roman" panose="02020603050405020304"/>
                <a:ea typeface="Times New Roman" panose="02020603050405020304"/>
                <a:cs typeface="Times New Roman" panose="02020603050405020304"/>
              </a:defRPr>
            </a:pPr>
            <a:r>
              <a:rPr sz="1725" b="0" i="0">
                <a:solidFill>
                  <a:srgbClr val="202428"/>
                </a:solidFill>
                <a:latin typeface="Times New Roman" panose="02020603050405020304"/>
                <a:ea typeface="Times New Roman" panose="02020603050405020304"/>
                <a:cs typeface="Times New Roman" panose="02020603050405020304"/>
              </a:rPr>
              <a:t>R</a:t>
            </a:r>
            <a:endParaRPr sz="1725" b="0" i="0">
              <a:solidFill>
                <a:srgbClr val="202428"/>
              </a:solidFill>
              <a:latin typeface="Times New Roman" panose="02020603050405020304"/>
              <a:ea typeface="Times New Roman" panose="02020603050405020304"/>
              <a:cs typeface="Times New Roman" panose="02020603050405020304"/>
            </a:endParaRPr>
          </a:p>
        </p:txBody>
      </p:sp>
      <p:sp>
        <p:nvSpPr>
          <p:cNvPr id="223" name="stable-schedule-edge4-a"/>
          <p:cNvSpPr>
            <a:spLocks noGrp="1"/>
          </p:cNvSpPr>
          <p:nvPr/>
        </p:nvSpPr>
        <p:spPr>
          <a:xfrm>
            <a:off x="15763875" y="4533900"/>
            <a:ext cx="953" cy="953"/>
          </a:xfrm>
          <a:prstGeom prst="rect">
            <a:avLst/>
          </a:prstGeom>
          <a:noFill/>
          <a:ln w="0">
            <a:noFill/>
            <a:prstDash val="solid"/>
          </a:ln>
        </p:spPr>
      </p:sp>
      <p:sp>
        <p:nvSpPr>
          <p:cNvPr id="224" name="stable-schedule-edge4-b"/>
          <p:cNvSpPr>
            <a:spLocks noGrp="1"/>
          </p:cNvSpPr>
          <p:nvPr/>
        </p:nvSpPr>
        <p:spPr>
          <a:xfrm>
            <a:off x="15821025" y="4533900"/>
            <a:ext cx="953" cy="953"/>
          </a:xfrm>
          <a:prstGeom prst="rect">
            <a:avLst/>
          </a:prstGeom>
          <a:noFill/>
          <a:ln w="0">
            <a:noFill/>
            <a:prstDash val="solid"/>
          </a:ln>
        </p:spPr>
      </p:sp>
      <p:cxnSp>
        <p:nvCxnSpPr>
          <p:cNvPr id="462" name="stable-schedule-edge4"/>
          <p:cNvCxnSpPr>
            <a:stCxn id="223" idx="3"/>
            <a:endCxn id="224" idx="1"/>
          </p:cNvCxnSpPr>
          <p:nvPr/>
        </p:nvCxnSpPr>
        <p:spPr>
          <a:xfrm>
            <a:off x="15764828" y="4534377"/>
            <a:ext cx="56197" cy="0"/>
          </a:xfrm>
          <a:prstGeom prst="straightConnector1">
            <a:avLst/>
          </a:prstGeom>
          <a:ln w="12383">
            <a:solidFill>
              <a:srgbClr val="62696E"/>
            </a:solidFill>
            <a:prstDash val="solid"/>
            <a:tailEnd type="triangle" w="sm" len="sm"/>
          </a:ln>
        </p:spPr>
      </p:cxnSp>
      <p:sp>
        <p:nvSpPr>
          <p:cNvPr id="226" name="stable-schedule-ellipsis-in-a"/>
          <p:cNvSpPr>
            <a:spLocks noGrp="1"/>
          </p:cNvSpPr>
          <p:nvPr/>
        </p:nvSpPr>
        <p:spPr>
          <a:xfrm>
            <a:off x="14687550" y="4533900"/>
            <a:ext cx="953" cy="953"/>
          </a:xfrm>
          <a:prstGeom prst="rect">
            <a:avLst/>
          </a:prstGeom>
          <a:noFill/>
          <a:ln w="0">
            <a:noFill/>
            <a:prstDash val="solid"/>
          </a:ln>
        </p:spPr>
      </p:sp>
      <p:sp>
        <p:nvSpPr>
          <p:cNvPr id="227" name="stable-schedule-ellipsis-in-b"/>
          <p:cNvSpPr>
            <a:spLocks noGrp="1"/>
          </p:cNvSpPr>
          <p:nvPr/>
        </p:nvSpPr>
        <p:spPr>
          <a:xfrm>
            <a:off x="14878050" y="4533900"/>
            <a:ext cx="953" cy="953"/>
          </a:xfrm>
          <a:prstGeom prst="rect">
            <a:avLst/>
          </a:prstGeom>
          <a:noFill/>
          <a:ln w="0">
            <a:noFill/>
            <a:prstDash val="solid"/>
          </a:ln>
        </p:spPr>
      </p:sp>
      <p:cxnSp>
        <p:nvCxnSpPr>
          <p:cNvPr id="465" name="stable-schedule-ellipsis-in"/>
          <p:cNvCxnSpPr>
            <a:stCxn id="226" idx="3"/>
            <a:endCxn id="227" idx="1"/>
          </p:cNvCxnSpPr>
          <p:nvPr/>
        </p:nvCxnSpPr>
        <p:spPr>
          <a:xfrm>
            <a:off x="14688503" y="4534377"/>
            <a:ext cx="189547" cy="0"/>
          </a:xfrm>
          <a:prstGeom prst="straightConnector1">
            <a:avLst/>
          </a:prstGeom>
          <a:ln w="12383">
            <a:solidFill>
              <a:srgbClr val="62696E"/>
            </a:solidFill>
            <a:prstDash val="solid"/>
            <a:tailEnd type="triangle" w="sm" len="sm"/>
          </a:ln>
        </p:spPr>
      </p:cxnSp>
      <p:sp>
        <p:nvSpPr>
          <p:cNvPr id="229" name="stable-schedule-ellipsis"/>
          <p:cNvSpPr>
            <a:spLocks noGrp="1"/>
          </p:cNvSpPr>
          <p:nvPr/>
        </p:nvSpPr>
        <p:spPr>
          <a:xfrm>
            <a:off x="14916150" y="4391025"/>
            <a:ext cx="285750" cy="266700"/>
          </a:xfrm>
          <a:prstGeom prst="rect">
            <a:avLst/>
          </a:prstGeom>
          <a:noFill/>
          <a:ln w="0">
            <a:noFill/>
            <a:prstDash val="solid"/>
          </a:ln>
        </p:spPr>
        <p:txBody>
          <a:bodyPr wrap="none" lIns="0" tIns="0" rIns="0" bIns="0" anchor="ctr">
            <a:noAutofit/>
          </a:bodyPr>
          <a:lstStyle/>
          <a:p>
            <a:pPr algn="ctr">
              <a:defRPr sz="1725" b="0" i="0">
                <a:solidFill>
                  <a:srgbClr val="62696E"/>
                </a:solidFill>
                <a:latin typeface="Times New Roman" panose="02020603050405020304"/>
                <a:ea typeface="Times New Roman" panose="02020603050405020304"/>
                <a:cs typeface="Times New Roman" panose="02020603050405020304"/>
              </a:defRPr>
            </a:pPr>
            <a:r>
              <a:rPr sz="1725" b="0" i="0">
                <a:solidFill>
                  <a:srgbClr val="62696E"/>
                </a:solidFill>
                <a:latin typeface="Times New Roman" panose="02020603050405020304"/>
                <a:ea typeface="Times New Roman" panose="02020603050405020304"/>
                <a:cs typeface="Times New Roman" panose="02020603050405020304"/>
              </a:rPr>
              <a:t>…</a:t>
            </a:r>
            <a:endParaRPr sz="1725" b="0" i="0">
              <a:solidFill>
                <a:srgbClr val="62696E"/>
              </a:solidFill>
              <a:latin typeface="Times New Roman" panose="02020603050405020304"/>
              <a:ea typeface="Times New Roman" panose="02020603050405020304"/>
              <a:cs typeface="Times New Roman" panose="02020603050405020304"/>
            </a:endParaRPr>
          </a:p>
        </p:txBody>
      </p:sp>
      <p:sp>
        <p:nvSpPr>
          <p:cNvPr id="230" name="stable-schedule-ellipsis-out-a"/>
          <p:cNvSpPr>
            <a:spLocks noGrp="1"/>
          </p:cNvSpPr>
          <p:nvPr/>
        </p:nvSpPr>
        <p:spPr>
          <a:xfrm>
            <a:off x="15211425" y="4533900"/>
            <a:ext cx="953" cy="953"/>
          </a:xfrm>
          <a:prstGeom prst="rect">
            <a:avLst/>
          </a:prstGeom>
          <a:noFill/>
          <a:ln w="0">
            <a:noFill/>
            <a:prstDash val="solid"/>
          </a:ln>
        </p:spPr>
      </p:sp>
      <p:sp>
        <p:nvSpPr>
          <p:cNvPr id="231" name="stable-schedule-ellipsis-out-b"/>
          <p:cNvSpPr>
            <a:spLocks noGrp="1"/>
          </p:cNvSpPr>
          <p:nvPr/>
        </p:nvSpPr>
        <p:spPr>
          <a:xfrm>
            <a:off x="15363825" y="4533900"/>
            <a:ext cx="953" cy="953"/>
          </a:xfrm>
          <a:prstGeom prst="rect">
            <a:avLst/>
          </a:prstGeom>
          <a:noFill/>
          <a:ln w="0">
            <a:noFill/>
            <a:prstDash val="solid"/>
          </a:ln>
        </p:spPr>
      </p:sp>
      <p:cxnSp>
        <p:nvCxnSpPr>
          <p:cNvPr id="469" name="stable-schedule-ellipsis-out"/>
          <p:cNvCxnSpPr>
            <a:stCxn id="230" idx="3"/>
            <a:endCxn id="231" idx="1"/>
          </p:cNvCxnSpPr>
          <p:nvPr/>
        </p:nvCxnSpPr>
        <p:spPr>
          <a:xfrm>
            <a:off x="15212378" y="4534377"/>
            <a:ext cx="151447" cy="0"/>
          </a:xfrm>
          <a:prstGeom prst="straightConnector1">
            <a:avLst/>
          </a:prstGeom>
          <a:ln w="12383">
            <a:solidFill>
              <a:srgbClr val="62696E"/>
            </a:solidFill>
            <a:prstDash val="solid"/>
            <a:tailEnd type="triangle" w="sm" len="sm"/>
          </a:ln>
        </p:spPr>
      </p:cxnSp>
      <p:sp>
        <p:nvSpPr>
          <p:cNvPr id="233" name="F-swatch"/>
          <p:cNvSpPr>
            <a:spLocks noGrp="1"/>
          </p:cNvSpPr>
          <p:nvPr/>
        </p:nvSpPr>
        <p:spPr>
          <a:xfrm>
            <a:off x="11239500" y="5248275"/>
            <a:ext cx="219075" cy="171450"/>
          </a:xfrm>
          <a:prstGeom prst="roundRect">
            <a:avLst>
              <a:gd name="adj" fmla="val 5556"/>
            </a:avLst>
          </a:prstGeom>
          <a:solidFill>
            <a:srgbClr val="E2CEA0"/>
          </a:solidFill>
          <a:ln w="9525">
            <a:solidFill>
              <a:srgbClr val="B88B34"/>
            </a:solidFill>
            <a:prstDash val="solid"/>
          </a:ln>
        </p:spPr>
      </p:sp>
      <p:sp>
        <p:nvSpPr>
          <p:cNvPr id="234" name="F-key"/>
          <p:cNvSpPr>
            <a:spLocks noGrp="1"/>
          </p:cNvSpPr>
          <p:nvPr/>
        </p:nvSpPr>
        <p:spPr>
          <a:xfrm>
            <a:off x="11572875" y="5181600"/>
            <a:ext cx="2085975" cy="276225"/>
          </a:xfrm>
          <a:prstGeom prst="rect">
            <a:avLst/>
          </a:prstGeom>
          <a:noFill/>
          <a:ln w="0">
            <a:noFill/>
            <a:prstDash val="solid"/>
          </a:ln>
        </p:spPr>
        <p:txBody>
          <a:bodyPr wrap="none" lIns="0" tIns="0" rIns="0" bIns="0" anchor="ctr">
            <a:noAutofit/>
          </a:bodyPr>
          <a:lstStyle/>
          <a:p>
            <a:pPr algn="l">
              <a:defRPr sz="1800" b="0" i="0">
                <a:solidFill>
                  <a:srgbClr val="202428"/>
                </a:solidFill>
                <a:latin typeface="Times New Roman" panose="02020603050405020304"/>
                <a:ea typeface="Times New Roman" panose="02020603050405020304"/>
                <a:cs typeface="Times New Roman" panose="02020603050405020304"/>
              </a:defRPr>
            </a:pPr>
            <a:r>
              <a:rPr sz="1800" b="0" i="0">
                <a:solidFill>
                  <a:srgbClr val="202428"/>
                </a:solidFill>
                <a:latin typeface="Times New Roman" panose="02020603050405020304"/>
                <a:ea typeface="Times New Roman" panose="02020603050405020304"/>
                <a:cs typeface="Times New Roman" panose="02020603050405020304"/>
              </a:rPr>
              <a:t>F: full-prefix call</a:t>
            </a:r>
            <a:endParaRPr sz="1800" b="0" i="0">
              <a:solidFill>
                <a:srgbClr val="202428"/>
              </a:solidFill>
              <a:latin typeface="Times New Roman" panose="02020603050405020304"/>
              <a:ea typeface="Times New Roman" panose="02020603050405020304"/>
              <a:cs typeface="Times New Roman" panose="02020603050405020304"/>
            </a:endParaRPr>
          </a:p>
        </p:txBody>
      </p:sp>
      <p:sp>
        <p:nvSpPr>
          <p:cNvPr id="235" name="R-swatch"/>
          <p:cNvSpPr>
            <a:spLocks noGrp="1"/>
          </p:cNvSpPr>
          <p:nvPr/>
        </p:nvSpPr>
        <p:spPr>
          <a:xfrm>
            <a:off x="13649325" y="5248275"/>
            <a:ext cx="219075" cy="171450"/>
          </a:xfrm>
          <a:prstGeom prst="roundRect">
            <a:avLst>
              <a:gd name="adj" fmla="val 5556"/>
            </a:avLst>
          </a:prstGeom>
          <a:solidFill>
            <a:srgbClr val="91B9D3"/>
          </a:solidFill>
          <a:ln w="9525">
            <a:solidFill>
              <a:srgbClr val="2876A4"/>
            </a:solidFill>
            <a:prstDash val="solid"/>
          </a:ln>
        </p:spPr>
      </p:sp>
      <p:sp>
        <p:nvSpPr>
          <p:cNvPr id="236" name="R-key"/>
          <p:cNvSpPr>
            <a:spLocks noGrp="1"/>
          </p:cNvSpPr>
          <p:nvPr/>
        </p:nvSpPr>
        <p:spPr>
          <a:xfrm>
            <a:off x="13992225" y="5181600"/>
            <a:ext cx="2495550" cy="276225"/>
          </a:xfrm>
          <a:prstGeom prst="rect">
            <a:avLst/>
          </a:prstGeom>
          <a:noFill/>
          <a:ln w="0">
            <a:noFill/>
            <a:prstDash val="solid"/>
          </a:ln>
        </p:spPr>
        <p:txBody>
          <a:bodyPr wrap="none" lIns="0" tIns="0" rIns="0" bIns="0" anchor="ctr">
            <a:noAutofit/>
          </a:bodyPr>
          <a:lstStyle/>
          <a:p>
            <a:pPr algn="l">
              <a:defRPr sz="1800" b="0" i="0">
                <a:solidFill>
                  <a:srgbClr val="202428"/>
                </a:solidFill>
                <a:latin typeface="Times New Roman" panose="02020603050405020304"/>
                <a:ea typeface="Times New Roman" panose="02020603050405020304"/>
                <a:cs typeface="Times New Roman" panose="02020603050405020304"/>
              </a:defRPr>
            </a:pPr>
            <a:r>
              <a:rPr sz="1800" b="0" i="0">
                <a:solidFill>
                  <a:srgbClr val="202428"/>
                </a:solidFill>
                <a:latin typeface="Times New Roman" panose="02020603050405020304"/>
                <a:ea typeface="Times New Roman" panose="02020603050405020304"/>
                <a:cs typeface="Times New Roman" panose="02020603050405020304"/>
              </a:rPr>
              <a:t>R: incremental reuse</a:t>
            </a:r>
            <a:endParaRPr sz="1800" b="0" i="0">
              <a:solidFill>
                <a:srgbClr val="202428"/>
              </a:solidFill>
              <a:latin typeface="Times New Roman" panose="02020603050405020304"/>
              <a:ea typeface="Times New Roman" panose="02020603050405020304"/>
              <a:cs typeface="Times New Roman" panose="02020603050405020304"/>
            </a:endParaRPr>
          </a:p>
        </p:txBody>
      </p:sp>
      <p:sp>
        <p:nvSpPr>
          <p:cNvPr id="237" name="method-summary"/>
          <p:cNvSpPr>
            <a:spLocks noGrp="1"/>
          </p:cNvSpPr>
          <p:nvPr/>
        </p:nvSpPr>
        <p:spPr>
          <a:xfrm>
            <a:off x="209550" y="5476875"/>
            <a:ext cx="16344900" cy="219075"/>
          </a:xfrm>
          <a:prstGeom prst="rect">
            <a:avLst/>
          </a:prstGeom>
          <a:noFill/>
          <a:ln w="0">
            <a:noFill/>
            <a:prstDash val="solid"/>
          </a:ln>
        </p:spPr>
        <p:txBody>
          <a:bodyPr wrap="none" lIns="0" tIns="0" rIns="0" bIns="0" anchor="ctr">
            <a:noAutofit/>
          </a:bodyPr>
          <a:lstStyle/>
          <a:p>
            <a:pPr algn="ctr">
              <a:defRPr sz="1650" b="0" i="0">
                <a:solidFill>
                  <a:srgbClr val="202428"/>
                </a:solidFill>
                <a:latin typeface="Times New Roman" panose="02020603050405020304"/>
                <a:ea typeface="Times New Roman" panose="02020603050405020304"/>
                <a:cs typeface="Times New Roman" panose="02020603050405020304"/>
              </a:defRPr>
            </a:pPr>
            <a:r>
              <a:rPr sz="1650"/>
              <a:t>DepGraph-U on Show-o2: </a:t>
            </a:r>
            <a:r>
              <a:rPr sz="1650" b="1">
                <a:solidFill>
                  <a:srgbClr val="008D85"/>
                </a:solidFill>
              </a:rPr>
              <a:t>guarded generation dispatch</a:t>
            </a:r>
            <a:r>
              <a:rPr sz="1650"/>
              <a:t> and output pruning; </a:t>
            </a:r>
            <a:r>
              <a:rPr sz="1650" b="1">
                <a:solidFill>
                  <a:srgbClr val="2876A4"/>
                </a:solidFill>
              </a:rPr>
              <a:t>policy-compatible KV reuse</a:t>
            </a:r>
            <a:r>
              <a:rPr sz="1650"/>
              <a:t> for understanding.</a:t>
            </a:r>
            <a:endParaRPr sz="1650"/>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1122</Words>
  <Application>WPS Spreadsheets</Application>
  <PresentationFormat>Converted Presentation</PresentationFormat>
  <Paragraphs>150</Paragraphs>
  <Slides>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vt:i4>
      </vt:variant>
    </vt:vector>
  </HeadingPairs>
  <TitlesOfParts>
    <vt:vector size="14" baseType="lpstr">
      <vt:lpstr>Arial</vt:lpstr>
      <vt:lpstr>宋体</vt:lpstr>
      <vt:lpstr>Wingdings</vt:lpstr>
      <vt:lpstr>Times New Roman</vt:lpstr>
      <vt:lpstr>微软雅黑</vt:lpstr>
      <vt:lpstr>汉仪旗黑</vt:lpstr>
      <vt:lpstr>宋体</vt:lpstr>
      <vt:lpstr>Arial Unicode MS</vt:lpstr>
      <vt:lpstr>Calibri</vt:lpstr>
      <vt:lpstr>Helvetica Neue</vt:lpstr>
      <vt:lpstr>汉仪书宋二KW</vt:lpstr>
      <vt:lpstr>Times New Roman</vt:lpstr>
      <vt:lpstr>ChatGPT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anthony</cp:lastModifiedBy>
  <cp:revision>1</cp:revision>
  <dcterms:created xsi:type="dcterms:W3CDTF">2026-09-22T19:52:48Z</dcterms:created>
  <dcterms:modified xsi:type="dcterms:W3CDTF">2026-09-22T19:52:48Z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C20769E3B34CC26490DCB26A70CB5620_42</vt:lpwstr>
  </property>
  <property fmtid="{D5CDD505-2E9C-101B-9397-08002B2CF9AE}" pid="3" name="KSOProductBuildVer">
    <vt:lpwstr>1033-6.14.0.8924</vt:lpwstr>
  </property>
</Properties>
</file>